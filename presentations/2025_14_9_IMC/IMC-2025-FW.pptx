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Arial Narrow" panose="020B0606020202030204" pitchFamily="34" charset="0"/>
      <p:regular r:id="rId22"/>
      <p:bold r:id="rId23"/>
      <p:italic r:id="rId24"/>
      <p:boldItalic r:id="rId25"/>
    </p:embeddedFont>
    <p:embeddedFont>
      <p:font typeface="Roboto"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F28E196-1AC7-4DC3-9589-6836F74E87FC}">
  <a:tblStyle styleId="{3F28E196-1AC7-4DC3-9589-6836F74E87F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F2"/>
          </a:solidFill>
        </a:fill>
      </a:tcStyle>
    </a:wholeTbl>
    <a:band1H>
      <a:tcTxStyle/>
      <a:tcStyle>
        <a:tcBdr/>
        <a:fill>
          <a:solidFill>
            <a:srgbClr val="CBD1E3"/>
          </a:solidFill>
        </a:fill>
      </a:tcStyle>
    </a:band1H>
    <a:band2H>
      <a:tcTxStyle/>
      <a:tcStyle>
        <a:tcBdr/>
      </a:tcStyle>
    </a:band2H>
    <a:band1V>
      <a:tcTxStyle/>
      <a:tcStyle>
        <a:tcBdr/>
        <a:fill>
          <a:solidFill>
            <a:srgbClr val="CBD1E3"/>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CH"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Good afternoon. I am Franziska Walther, PhD student ETH, Zurich. Today I would like to present to you my study approach and preliminary results, still ongoing, </a:t>
            </a:r>
            <a:endParaRPr/>
          </a:p>
          <a:p>
            <a:pPr marL="0" lvl="0" indent="0" algn="l" rtl="0">
              <a:spcBef>
                <a:spcPts val="0"/>
              </a:spcBef>
              <a:spcAft>
                <a:spcPts val="0"/>
              </a:spcAft>
              <a:buNone/>
            </a:pPr>
            <a:r>
              <a:rPr lang="de-CH"/>
              <a:t>-&gt; TITLE </a:t>
            </a:r>
            <a:endParaRPr/>
          </a:p>
        </p:txBody>
      </p:sp>
      <p:sp>
        <p:nvSpPr>
          <p:cNvPr id="71" name="Google Shape;7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rgbClr val="003361"/>
              </a:buClr>
              <a:buSzPts val="1200"/>
              <a:buFont typeface="Arial"/>
              <a:buChar char="•"/>
            </a:pPr>
            <a:r>
              <a:rPr lang="de-CH" sz="1200" b="0" i="0">
                <a:solidFill>
                  <a:srgbClr val="003361"/>
                </a:solidFill>
                <a:latin typeface="Roboto"/>
                <a:ea typeface="Roboto"/>
                <a:cs typeface="Roboto"/>
                <a:sym typeface="Roboto"/>
              </a:rPr>
              <a:t>Global efforts to mitigate climate change rely on a transition towards renewable energy systems. Mountain regions, with their high potential for solar energy production especially </a:t>
            </a:r>
            <a:r>
              <a:rPr lang="de-CH" sz="1200" b="1" i="0">
                <a:solidFill>
                  <a:srgbClr val="003361"/>
                </a:solidFill>
                <a:latin typeface="Roboto"/>
                <a:ea typeface="Roboto"/>
                <a:cs typeface="Roboto"/>
                <a:sym typeface="Roboto"/>
              </a:rPr>
              <a:t>in winter</a:t>
            </a:r>
            <a:r>
              <a:rPr lang="de-CH" sz="1200" b="0" i="0">
                <a:solidFill>
                  <a:srgbClr val="003361"/>
                </a:solidFill>
                <a:latin typeface="Roboto"/>
                <a:ea typeface="Roboto"/>
                <a:cs typeface="Roboto"/>
                <a:sym typeface="Roboto"/>
              </a:rPr>
              <a:t>, are increasingly being targeted for the installation of solar energy systems, such as ground-mounted photovoltaics. </a:t>
            </a:r>
            <a:endParaRPr/>
          </a:p>
          <a:p>
            <a:pPr marL="0" lvl="0" indent="0" algn="l" rtl="0">
              <a:spcBef>
                <a:spcPts val="0"/>
              </a:spcBef>
              <a:spcAft>
                <a:spcPts val="0"/>
              </a:spcAft>
              <a:buNone/>
            </a:pPr>
            <a:endParaRPr sz="1200" b="0" i="0">
              <a:solidFill>
                <a:srgbClr val="003361"/>
              </a:solidFill>
              <a:latin typeface="Roboto"/>
              <a:ea typeface="Roboto"/>
              <a:cs typeface="Roboto"/>
              <a:sym typeface="Roboto"/>
            </a:endParaRPr>
          </a:p>
          <a:p>
            <a:pPr marL="171450" lvl="0" indent="-171450" algn="l" rtl="0">
              <a:spcBef>
                <a:spcPts val="0"/>
              </a:spcBef>
              <a:spcAft>
                <a:spcPts val="0"/>
              </a:spcAft>
              <a:buClr>
                <a:srgbClr val="003361"/>
              </a:buClr>
              <a:buSzPts val="1200"/>
              <a:buFont typeface="Arial"/>
              <a:buChar char="•"/>
            </a:pPr>
            <a:r>
              <a:rPr lang="de-CH" sz="1200" b="0" i="0">
                <a:solidFill>
                  <a:srgbClr val="003361"/>
                </a:solidFill>
                <a:latin typeface="Roboto"/>
                <a:ea typeface="Roboto"/>
                <a:cs typeface="Roboto"/>
                <a:sym typeface="Roboto"/>
              </a:rPr>
              <a:t>In case of Switzerland …</a:t>
            </a:r>
            <a:endParaRPr/>
          </a:p>
        </p:txBody>
      </p:sp>
      <p:sp>
        <p:nvSpPr>
          <p:cNvPr id="82" name="Google Shape;8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de-CH" sz="1200">
                <a:latin typeface="Calibri"/>
                <a:ea typeface="Calibri"/>
                <a:cs typeface="Calibri"/>
                <a:sym typeface="Calibri"/>
              </a:rPr>
              <a:t>The installation of ground-mounted PV systems </a:t>
            </a:r>
            <a:r>
              <a:rPr lang="de-CH" sz="1200" b="1">
                <a:latin typeface="Calibri"/>
                <a:ea typeface="Calibri"/>
                <a:cs typeface="Calibri"/>
                <a:sym typeface="Calibri"/>
              </a:rPr>
              <a:t>demands space</a:t>
            </a:r>
            <a:r>
              <a:rPr lang="de-CH" sz="1200">
                <a:latin typeface="Calibri"/>
                <a:ea typeface="Calibri"/>
                <a:cs typeface="Calibri"/>
                <a:sym typeface="Calibri"/>
              </a:rPr>
              <a:t>. At the same time the mountain areas provide a multitude </a:t>
            </a:r>
            <a:r>
              <a:rPr lang="de-CH" sz="1200" b="1">
                <a:latin typeface="Calibri"/>
                <a:ea typeface="Calibri"/>
                <a:cs typeface="Calibri"/>
                <a:sym typeface="Calibri"/>
              </a:rPr>
              <a:t>of ecosystem services</a:t>
            </a:r>
            <a:endParaRPr/>
          </a:p>
          <a:p>
            <a:pPr marL="0" lvl="0" indent="0" algn="l" rtl="0">
              <a:spcBef>
                <a:spcPts val="0"/>
              </a:spcBef>
              <a:spcAft>
                <a:spcPts val="0"/>
              </a:spcAft>
              <a:buClr>
                <a:schemeClr val="dk1"/>
              </a:buClr>
              <a:buSzPts val="1200"/>
              <a:buFont typeface="Arial"/>
              <a:buNone/>
            </a:pPr>
            <a:endParaRPr sz="1200" b="1">
              <a:latin typeface="Calibri"/>
              <a:ea typeface="Calibri"/>
              <a:cs typeface="Calibri"/>
              <a:sym typeface="Calibri"/>
            </a:endParaRPr>
          </a:p>
          <a:p>
            <a:pPr marL="171450" lvl="0" indent="-171450" algn="l" rtl="0">
              <a:spcBef>
                <a:spcPts val="0"/>
              </a:spcBef>
              <a:spcAft>
                <a:spcPts val="0"/>
              </a:spcAft>
              <a:buClr>
                <a:schemeClr val="dk1"/>
              </a:buClr>
              <a:buSzPts val="1200"/>
              <a:buFont typeface="Arial"/>
              <a:buChar char="•"/>
            </a:pPr>
            <a:r>
              <a:rPr lang="de-CH" b="0"/>
              <a:t>To make sure that climate change mitigation goes hand in hand with the sustainable management and conservation of ecosystems and their services … we need to assess the PV impact on ecosystem services.</a:t>
            </a:r>
            <a:endParaRPr/>
          </a:p>
          <a:p>
            <a:pPr marL="0" lvl="0" indent="0" algn="l" rtl="0">
              <a:spcBef>
                <a:spcPts val="0"/>
              </a:spcBef>
              <a:spcAft>
                <a:spcPts val="0"/>
              </a:spcAft>
              <a:buClr>
                <a:schemeClr val="dk1"/>
              </a:buClr>
              <a:buSzPts val="1200"/>
              <a:buFont typeface="Arial"/>
              <a:buNone/>
            </a:pPr>
            <a:endParaRPr b="0"/>
          </a:p>
          <a:p>
            <a:pPr marL="171450" lvl="0" indent="-171450" algn="l" rtl="0">
              <a:spcBef>
                <a:spcPts val="0"/>
              </a:spcBef>
              <a:spcAft>
                <a:spcPts val="0"/>
              </a:spcAft>
              <a:buClr>
                <a:schemeClr val="dk1"/>
              </a:buClr>
              <a:buSzPts val="1200"/>
              <a:buFont typeface="Arial"/>
              <a:buChar char="•"/>
            </a:pPr>
            <a:r>
              <a:rPr lang="de-CH" b="0"/>
              <a:t>However, there are many unknowns. For example, as the implementation of this technology in high alpine areas is very new we lack studies on how PV imapcts ES.</a:t>
            </a:r>
            <a:endParaRPr/>
          </a:p>
          <a:p>
            <a:pPr marL="171450" lvl="0" indent="-171450" algn="l" rtl="0">
              <a:spcBef>
                <a:spcPts val="0"/>
              </a:spcBef>
              <a:spcAft>
                <a:spcPts val="0"/>
              </a:spcAft>
              <a:buClr>
                <a:schemeClr val="dk1"/>
              </a:buClr>
              <a:buSzPts val="1200"/>
              <a:buFont typeface="Arial"/>
              <a:buChar char="•"/>
            </a:pPr>
            <a:r>
              <a:rPr lang="de-CH" b="0"/>
              <a:t>Further, especially mountain areas are highly vulnerable to global changes, resulting in land use land cover changes. Consequently, the supply of ES that are courrently there are changing over time and space. </a:t>
            </a:r>
            <a:endParaRPr/>
          </a:p>
        </p:txBody>
      </p:sp>
      <p:sp>
        <p:nvSpPr>
          <p:cNvPr id="102" name="Google Shape;10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The conceptual figure (left) shows the concept of how Ecosystem Services are assessed, and how there are different sources of uncertainty inherent. </a:t>
            </a:r>
            <a:endParaRPr/>
          </a:p>
          <a:p>
            <a:pPr marL="0" lvl="0" indent="0" algn="l" rtl="0">
              <a:spcBef>
                <a:spcPts val="0"/>
              </a:spcBef>
              <a:spcAft>
                <a:spcPts val="0"/>
              </a:spcAft>
              <a:buNone/>
            </a:pPr>
            <a:endParaRPr/>
          </a:p>
          <a:p>
            <a:pPr marL="0" lvl="0" indent="0" algn="l" rtl="0">
              <a:spcBef>
                <a:spcPts val="0"/>
              </a:spcBef>
              <a:spcAft>
                <a:spcPts val="0"/>
              </a:spcAft>
              <a:buNone/>
            </a:pPr>
            <a:r>
              <a:rPr lang="de-CH"/>
              <a:t>We recently reviewed 900 ES studies, and found out that including the explicit assessment of uncertainties can actually improve the uptake, i.e. the potential use of research findings in practice. </a:t>
            </a:r>
            <a:endParaRPr/>
          </a:p>
          <a:p>
            <a:pPr marL="0" lvl="0" indent="0" algn="l" rtl="0">
              <a:spcBef>
                <a:spcPts val="600"/>
              </a:spcBef>
              <a:spcAft>
                <a:spcPts val="0"/>
              </a:spcAft>
              <a:buClr>
                <a:schemeClr val="dk1"/>
              </a:buClr>
              <a:buSzPts val="1200"/>
              <a:buFont typeface="Arial"/>
              <a:buNone/>
            </a:pPr>
            <a:r>
              <a:rPr lang="de-CH"/>
              <a:t>🡪 Highlights the need to assess uncertainties also in our case of PV systems. </a:t>
            </a:r>
            <a:br>
              <a:rPr lang="de-CH"/>
            </a:br>
            <a:endParaRPr/>
          </a:p>
        </p:txBody>
      </p:sp>
      <p:sp>
        <p:nvSpPr>
          <p:cNvPr id="115" name="Google Shape;11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b="0">
                <a:highlight>
                  <a:srgbClr val="FFFF00"/>
                </a:highlight>
                <a:latin typeface="Calibri"/>
                <a:ea typeface="Calibri"/>
                <a:cs typeface="Calibri"/>
                <a:sym typeface="Calibri"/>
              </a:rPr>
              <a:t>Therefore, I have chosen a Bayesian network that allows for the integration of uncertainties. Its a </a:t>
            </a:r>
            <a:r>
              <a:rPr lang="de-CH" b="1">
                <a:highlight>
                  <a:srgbClr val="FFFF00"/>
                </a:highlight>
              </a:rPr>
              <a:t>probabilistic graphical model </a:t>
            </a:r>
            <a:r>
              <a:rPr lang="de-CH" b="0">
                <a:highlight>
                  <a:srgbClr val="FFFF00"/>
                </a:highlight>
              </a:rPr>
              <a:t>(simplified version - left)</a:t>
            </a:r>
            <a:endParaRPr/>
          </a:p>
          <a:p>
            <a:pPr marL="0" marR="0" lvl="0" indent="0" algn="l" rtl="0">
              <a:lnSpc>
                <a:spcPct val="100000"/>
              </a:lnSpc>
              <a:spcBef>
                <a:spcPts val="0"/>
              </a:spcBef>
              <a:spcAft>
                <a:spcPts val="0"/>
              </a:spcAft>
              <a:buClr>
                <a:schemeClr val="dk1"/>
              </a:buClr>
              <a:buSzPts val="1200"/>
              <a:buFont typeface="Arial"/>
              <a:buNone/>
            </a:pPr>
            <a:r>
              <a:rPr lang="de-CH">
                <a:highlight>
                  <a:srgbClr val="FFFF00"/>
                </a:highlight>
              </a:rPr>
              <a:t>A BN consists of </a:t>
            </a:r>
            <a:r>
              <a:rPr lang="de-CH" b="1">
                <a:highlight>
                  <a:srgbClr val="FFFF00"/>
                </a:highlight>
              </a:rPr>
              <a:t>nodes</a:t>
            </a:r>
            <a:r>
              <a:rPr lang="de-CH">
                <a:highlight>
                  <a:srgbClr val="FFFF00"/>
                </a:highlight>
              </a:rPr>
              <a:t> and </a:t>
            </a:r>
            <a:r>
              <a:rPr lang="de-CH" b="1">
                <a:highlight>
                  <a:srgbClr val="FFFF00"/>
                </a:highlight>
              </a:rPr>
              <a:t>edges</a:t>
            </a:r>
            <a:r>
              <a:rPr lang="de-CH">
                <a:highlight>
                  <a:srgbClr val="FFFF00"/>
                </a:highlight>
              </a:rPr>
              <a:t>; </a:t>
            </a:r>
            <a:r>
              <a:rPr lang="de-CH" b="1">
                <a:highlight>
                  <a:srgbClr val="FFFF00"/>
                </a:highlight>
              </a:rPr>
              <a:t>each node has a CPT defining its probabilities given its parents.</a:t>
            </a:r>
            <a:endParaRPr/>
          </a:p>
          <a:p>
            <a:pPr marL="0" lvl="0" indent="0" algn="l" rtl="0">
              <a:spcBef>
                <a:spcPts val="0"/>
              </a:spcBef>
              <a:spcAft>
                <a:spcPts val="0"/>
              </a:spcAft>
              <a:buNone/>
            </a:pPr>
            <a:endParaRPr b="0">
              <a:highlight>
                <a:srgbClr val="FFFF00"/>
              </a:highlight>
            </a:endParaRPr>
          </a:p>
          <a:p>
            <a:pPr marL="0" marR="0" lvl="0" indent="0" algn="l" rtl="0">
              <a:lnSpc>
                <a:spcPct val="100000"/>
              </a:lnSpc>
              <a:spcBef>
                <a:spcPts val="0"/>
              </a:spcBef>
              <a:spcAft>
                <a:spcPts val="0"/>
              </a:spcAft>
              <a:buClr>
                <a:schemeClr val="dk1"/>
              </a:buClr>
              <a:buSzPts val="1200"/>
              <a:buFont typeface="Arial"/>
              <a:buNone/>
            </a:pPr>
            <a:r>
              <a:rPr lang="de-CH" b="0">
                <a:highlight>
                  <a:srgbClr val="FFFF00"/>
                </a:highlight>
              </a:rPr>
              <a:t>The Bayesian network is created to identify how suitable a location is for PV under consideration of the changes in ES. </a:t>
            </a:r>
            <a:endParaRPr/>
          </a:p>
          <a:p>
            <a:pPr marL="0" marR="0" lvl="0" indent="0" algn="l" rtl="0">
              <a:lnSpc>
                <a:spcPct val="100000"/>
              </a:lnSpc>
              <a:spcBef>
                <a:spcPts val="0"/>
              </a:spcBef>
              <a:spcAft>
                <a:spcPts val="0"/>
              </a:spcAft>
              <a:buClr>
                <a:schemeClr val="dk1"/>
              </a:buClr>
              <a:buSzPts val="1200"/>
              <a:buFont typeface="Arial"/>
              <a:buNone/>
            </a:pPr>
            <a:r>
              <a:rPr lang="de-CH" b="0">
                <a:highlight>
                  <a:srgbClr val="FFFF00"/>
                </a:highlight>
              </a:rPr>
              <a:t>Suitability here means … </a:t>
            </a:r>
            <a:endParaRPr/>
          </a:p>
          <a:p>
            <a:pPr marL="0" lvl="0" indent="0" algn="l" rtl="0">
              <a:spcBef>
                <a:spcPts val="0"/>
              </a:spcBef>
              <a:spcAft>
                <a:spcPts val="0"/>
              </a:spcAft>
              <a:buNone/>
            </a:pPr>
            <a:endParaRPr b="1">
              <a:highlight>
                <a:srgbClr val="FFFF00"/>
              </a:highlight>
            </a:endParaRPr>
          </a:p>
        </p:txBody>
      </p:sp>
      <p:sp>
        <p:nvSpPr>
          <p:cNvPr id="130" name="Google Shape;13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b="0">
                <a:highlight>
                  <a:srgbClr val="FFFF00"/>
                </a:highlight>
              </a:rPr>
              <a:t>Spatially explicit Bayesian network (using gBay) 🡪 Here I am inserting information on LULC and ES value from Maps.</a:t>
            </a:r>
            <a:endParaRPr/>
          </a:p>
          <a:p>
            <a:pPr marL="0" marR="0" lvl="0" indent="0" algn="l" rtl="0">
              <a:lnSpc>
                <a:spcPct val="100000"/>
              </a:lnSpc>
              <a:spcBef>
                <a:spcPts val="0"/>
              </a:spcBef>
              <a:spcAft>
                <a:spcPts val="0"/>
              </a:spcAft>
              <a:buClr>
                <a:schemeClr val="dk1"/>
              </a:buClr>
              <a:buSzPts val="1200"/>
              <a:buFont typeface="Arial"/>
              <a:buNone/>
            </a:pPr>
            <a:r>
              <a:rPr lang="de-CH" b="0">
                <a:highlight>
                  <a:srgbClr val="FFFF00"/>
                </a:highlight>
              </a:rPr>
              <a:t>Then the idea is to get a spatial output, here the suitability, which is for each pixel a probability. </a:t>
            </a:r>
            <a:endParaRPr b="1"/>
          </a:p>
          <a:p>
            <a:pPr marL="0" lvl="0" indent="0" algn="l" rtl="0">
              <a:spcBef>
                <a:spcPts val="0"/>
              </a:spcBef>
              <a:spcAft>
                <a:spcPts val="0"/>
              </a:spcAft>
              <a:buNone/>
            </a:pPr>
            <a:endParaRPr b="1">
              <a:highlight>
                <a:srgbClr val="FFFF00"/>
              </a:highlight>
            </a:endParaRPr>
          </a:p>
          <a:p>
            <a:pPr marL="0" marR="0" lvl="0" indent="0" algn="l" rtl="0">
              <a:lnSpc>
                <a:spcPct val="100000"/>
              </a:lnSpc>
              <a:spcBef>
                <a:spcPts val="0"/>
              </a:spcBef>
              <a:spcAft>
                <a:spcPts val="0"/>
              </a:spcAft>
              <a:buClr>
                <a:schemeClr val="dk1"/>
              </a:buClr>
              <a:buSzPts val="1200"/>
              <a:buFont typeface="Arial"/>
              <a:buNone/>
            </a:pPr>
            <a:r>
              <a:rPr lang="de-CH" b="0">
                <a:highlight>
                  <a:srgbClr val="FFFF00"/>
                </a:highlight>
              </a:rPr>
              <a:t>The changes in ES are related to the general PV impact on ES, being shifted by the ES value (low – high). Thereby I distinguish between different LULC classes.</a:t>
            </a:r>
            <a:endParaRPr/>
          </a:p>
          <a:p>
            <a:pPr marL="0" lvl="0" indent="0" algn="l" rtl="0">
              <a:spcBef>
                <a:spcPts val="0"/>
              </a:spcBef>
              <a:spcAft>
                <a:spcPts val="0"/>
              </a:spcAft>
              <a:buNone/>
            </a:pPr>
            <a:endParaRPr b="1">
              <a:highlight>
                <a:srgbClr val="FFFF00"/>
              </a:highlight>
            </a:endParaRPr>
          </a:p>
        </p:txBody>
      </p:sp>
      <p:sp>
        <p:nvSpPr>
          <p:cNvPr id="164" name="Google Shape;16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b="0">
                <a:highlight>
                  <a:srgbClr val="FFFF00"/>
                </a:highlight>
              </a:rPr>
              <a:t>As the PV impact on ES is so uncertain and data is scarce. I integrate expert knowledge from a survey 🡪 where experts can answer how PV impaxct ES – conditioned on LULC. </a:t>
            </a:r>
            <a:endParaRPr/>
          </a:p>
          <a:p>
            <a:pPr marL="0" lvl="0" indent="0" algn="l" rtl="0">
              <a:spcBef>
                <a:spcPts val="0"/>
              </a:spcBef>
              <a:spcAft>
                <a:spcPts val="0"/>
              </a:spcAft>
              <a:buNone/>
            </a:pPr>
            <a:br>
              <a:rPr lang="de-CH" b="0">
                <a:highlight>
                  <a:srgbClr val="FFFF00"/>
                </a:highlight>
              </a:rPr>
            </a:br>
            <a:r>
              <a:rPr lang="de-CH" b="0">
                <a:highlight>
                  <a:srgbClr val="FFFF00"/>
                </a:highlight>
              </a:rPr>
              <a:t>Example of preliminary results: </a:t>
            </a:r>
            <a:endParaRPr b="1"/>
          </a:p>
        </p:txBody>
      </p:sp>
      <p:sp>
        <p:nvSpPr>
          <p:cNvPr id="212" name="Google Shape;21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sz="1200" b="0" i="0">
                <a:solidFill>
                  <a:srgbClr val="003361"/>
                </a:solidFill>
                <a:latin typeface="Roboto"/>
                <a:ea typeface="Roboto"/>
                <a:cs typeface="Roboto"/>
                <a:sym typeface="Roboto"/>
              </a:rPr>
              <a:t>Global efforts to mitigate climate change rely on a transition towards renewable energy systems. Mountain regions, with their high potential for solar energy production, are increasingly being targeted for the installation of solar energy systems, such as ground-mounted photovoltaics. </a:t>
            </a:r>
            <a:endParaRPr/>
          </a:p>
        </p:txBody>
      </p:sp>
      <p:sp>
        <p:nvSpPr>
          <p:cNvPr id="355" name="Google Shape;35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r>
              <a:rPr lang="de-CH" sz="1800" b="1">
                <a:latin typeface="Calibri"/>
                <a:ea typeface="Calibri"/>
                <a:cs typeface="Calibri"/>
                <a:sym typeface="Calibri"/>
              </a:rPr>
              <a:t>I would like to introduce this concept of uncertainty, which categorizes uncertainty into three main sources: scenario, model and decision uncertainty.</a:t>
            </a:r>
            <a:endParaRPr/>
          </a:p>
          <a:p>
            <a:pPr marL="0" marR="0" lvl="0" indent="0" algn="l" rtl="0">
              <a:lnSpc>
                <a:spcPct val="100000"/>
              </a:lnSpc>
              <a:spcBef>
                <a:spcPts val="0"/>
              </a:spcBef>
              <a:spcAft>
                <a:spcPts val="0"/>
              </a:spcAft>
              <a:buClr>
                <a:schemeClr val="dk1"/>
              </a:buClr>
              <a:buSzPts val="1800"/>
              <a:buFont typeface="Calibri"/>
              <a:buNone/>
            </a:pPr>
            <a:r>
              <a:rPr lang="de-CH" sz="1800" b="1">
                <a:latin typeface="Calibri"/>
                <a:ea typeface="Calibri"/>
                <a:cs typeface="Calibri"/>
                <a:sym typeface="Calibri"/>
              </a:rPr>
              <a:t>Scenario uncertainty </a:t>
            </a:r>
            <a:r>
              <a:rPr lang="de-CH" sz="1800">
                <a:latin typeface="Calibri"/>
                <a:ea typeface="Calibri"/>
                <a:cs typeface="Calibri"/>
                <a:sym typeface="Calibri"/>
              </a:rPr>
              <a:t>is involved in the qualitative and quantitative description of global change through (future) alternatives, such as representative concentration pathways (RCPs) and shared socioeconomic pathways (SSPs).  </a:t>
            </a:r>
            <a:endParaRPr/>
          </a:p>
          <a:p>
            <a:pPr marL="0" marR="0" lvl="0" indent="0" algn="l" rtl="0">
              <a:lnSpc>
                <a:spcPct val="100000"/>
              </a:lnSpc>
              <a:spcBef>
                <a:spcPts val="0"/>
              </a:spcBef>
              <a:spcAft>
                <a:spcPts val="0"/>
              </a:spcAft>
              <a:buClr>
                <a:schemeClr val="dk1"/>
              </a:buClr>
              <a:buSzPts val="1800"/>
              <a:buFont typeface="Calibri"/>
              <a:buNone/>
            </a:pPr>
            <a:r>
              <a:rPr lang="de-CH" sz="1800">
                <a:latin typeface="Calibri"/>
                <a:ea typeface="Calibri"/>
                <a:cs typeface="Calibri"/>
                <a:sym typeface="Calibri"/>
              </a:rPr>
              <a:t>Further, </a:t>
            </a:r>
            <a:r>
              <a:rPr lang="de-CH" sz="1800" b="1">
                <a:latin typeface="Calibri"/>
                <a:ea typeface="Calibri"/>
                <a:cs typeface="Calibri"/>
                <a:sym typeface="Calibri"/>
              </a:rPr>
              <a:t>model uncertainty </a:t>
            </a:r>
            <a:r>
              <a:rPr lang="de-CH" sz="1800">
                <a:latin typeface="Calibri"/>
                <a:ea typeface="Calibri"/>
                <a:cs typeface="Calibri"/>
                <a:sym typeface="Calibri"/>
              </a:rPr>
              <a:t>exists due to the incomplete and inaccurate data and models to describe a real world phenomenon. </a:t>
            </a:r>
            <a:endParaRPr/>
          </a:p>
          <a:p>
            <a:pPr marL="0" marR="0" lvl="0" indent="0" algn="l" rtl="0">
              <a:lnSpc>
                <a:spcPct val="100000"/>
              </a:lnSpc>
              <a:spcBef>
                <a:spcPts val="0"/>
              </a:spcBef>
              <a:spcAft>
                <a:spcPts val="0"/>
              </a:spcAft>
              <a:buClr>
                <a:schemeClr val="dk1"/>
              </a:buClr>
              <a:buSzPts val="1800"/>
              <a:buFont typeface="Calibri"/>
              <a:buNone/>
            </a:pPr>
            <a:r>
              <a:rPr lang="de-CH" sz="1800" b="1">
                <a:latin typeface="Calibri"/>
                <a:ea typeface="Calibri"/>
                <a:cs typeface="Calibri"/>
                <a:sym typeface="Calibri"/>
              </a:rPr>
              <a:t>Decision uncertainty </a:t>
            </a:r>
            <a:r>
              <a:rPr lang="de-CH" sz="1800">
                <a:latin typeface="Calibri"/>
                <a:ea typeface="Calibri"/>
                <a:cs typeface="Calibri"/>
                <a:sym typeface="Calibri"/>
              </a:rPr>
              <a:t>is intricately linked to the interpretation and application of research findings by policymakers, as well as the alignment of scientific spatiotemporal scales with those relevant to societal issues. </a:t>
            </a:r>
            <a:endParaRPr/>
          </a:p>
          <a:p>
            <a:pPr marL="0" marR="0" lvl="0" indent="0" algn="l" rtl="0">
              <a:lnSpc>
                <a:spcPct val="100000"/>
              </a:lnSpc>
              <a:spcBef>
                <a:spcPts val="0"/>
              </a:spcBef>
              <a:spcAft>
                <a:spcPts val="0"/>
              </a:spcAft>
              <a:buClr>
                <a:schemeClr val="dk1"/>
              </a:buClr>
              <a:buSzPts val="1200"/>
              <a:buFont typeface="Arial"/>
              <a:buNone/>
            </a:pPr>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Narrow"/>
              <a:ea typeface="Arial Narrow"/>
              <a:cs typeface="Arial Narrow"/>
              <a:sym typeface="Arial Narrow"/>
            </a:endParaRPr>
          </a:p>
        </p:txBody>
      </p:sp>
      <p:sp>
        <p:nvSpPr>
          <p:cNvPr id="373" name="Google Shape;37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https://www.uvek-gis.admin.ch/BFE/storymaps/EE_AlpineSolaranlagen/</a:t>
            </a:r>
            <a:endParaRPr/>
          </a:p>
          <a:p>
            <a:pPr marL="0" lvl="0" indent="0" algn="l" rtl="0">
              <a:spcBef>
                <a:spcPts val="0"/>
              </a:spcBef>
              <a:spcAft>
                <a:spcPts val="0"/>
              </a:spcAft>
              <a:buNone/>
            </a:pPr>
            <a:endParaRPr/>
          </a:p>
        </p:txBody>
      </p:sp>
      <p:sp>
        <p:nvSpPr>
          <p:cNvPr id="422" name="Google Shape;42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CH"/>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01">
  <p:cSld name="Titelfolie 01">
    <p:spTree>
      <p:nvGrpSpPr>
        <p:cNvPr id="1" name="Shape 12"/>
        <p:cNvGrpSpPr/>
        <p:nvPr/>
      </p:nvGrpSpPr>
      <p:grpSpPr>
        <a:xfrm>
          <a:off x="0" y="0"/>
          <a:ext cx="0" cy="0"/>
          <a:chOff x="0" y="0"/>
          <a:chExt cx="0" cy="0"/>
        </a:xfrm>
      </p:grpSpPr>
      <p:pic>
        <p:nvPicPr>
          <p:cNvPr id="13" name="Google Shape;13;p2" descr="Ein Bild, das Gras, draußen, Wolke, Himmel enthält.&#10;&#10;Automatisch generierte Beschreibung"/>
          <p:cNvPicPr preferRelativeResize="0"/>
          <p:nvPr/>
        </p:nvPicPr>
        <p:blipFill rotWithShape="1">
          <a:blip r:embed="rId2">
            <a:alphaModFix/>
          </a:blip>
          <a:srcRect t="17336" b="17337"/>
          <a:stretch/>
        </p:blipFill>
        <p:spPr>
          <a:xfrm>
            <a:off x="731837" y="1098074"/>
            <a:ext cx="10728325" cy="5256000"/>
          </a:xfrm>
          <a:prstGeom prst="rect">
            <a:avLst/>
          </a:prstGeom>
          <a:noFill/>
          <a:ln>
            <a:noFill/>
          </a:ln>
        </p:spPr>
      </p:pic>
      <p:sp>
        <p:nvSpPr>
          <p:cNvPr id="14" name="Google Shape;14;p2"/>
          <p:cNvSpPr txBox="1">
            <a:spLocks noGrp="1"/>
          </p:cNvSpPr>
          <p:nvPr>
            <p:ph type="ctrTitle"/>
          </p:nvPr>
        </p:nvSpPr>
        <p:spPr>
          <a:xfrm>
            <a:off x="0" y="2340074"/>
            <a:ext cx="5904000" cy="2772000"/>
          </a:xfrm>
          <a:prstGeom prst="rect">
            <a:avLst/>
          </a:prstGeom>
          <a:solidFill>
            <a:srgbClr val="007893"/>
          </a:solidFill>
          <a:ln>
            <a:noFill/>
          </a:ln>
        </p:spPr>
        <p:txBody>
          <a:bodyPr spcFirstLastPara="1" wrap="square" lIns="1080000" tIns="252000" rIns="0" bIns="0" anchor="t"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5" name="Google Shape;15;p2"/>
          <p:cNvPicPr preferRelativeResize="0"/>
          <p:nvPr/>
        </p:nvPicPr>
        <p:blipFill rotWithShape="1">
          <a:blip r:embed="rId3">
            <a:alphaModFix/>
          </a:blip>
          <a:srcRect/>
          <a:stretch/>
        </p:blipFill>
        <p:spPr>
          <a:xfrm>
            <a:off x="731838" y="360538"/>
            <a:ext cx="1765565" cy="288000"/>
          </a:xfrm>
          <a:prstGeom prst="rect">
            <a:avLst/>
          </a:prstGeom>
          <a:noFill/>
          <a:ln>
            <a:noFill/>
          </a:ln>
        </p:spPr>
      </p:pic>
      <p:sp>
        <p:nvSpPr>
          <p:cNvPr id="16" name="Google Shape;16;p2"/>
          <p:cNvSpPr txBox="1">
            <a:spLocks noGrp="1"/>
          </p:cNvSpPr>
          <p:nvPr>
            <p:ph type="body" idx="1"/>
          </p:nvPr>
        </p:nvSpPr>
        <p:spPr>
          <a:xfrm>
            <a:off x="1078516" y="3967031"/>
            <a:ext cx="4680000" cy="100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2000"/>
              <a:buNone/>
              <a:defRPr>
                <a:solidFill>
                  <a:schemeClr val="lt1"/>
                </a:solidFill>
              </a:defRPr>
            </a:lvl1pPr>
            <a:lvl2pPr marL="914400" lvl="1" indent="-228600" algn="l">
              <a:lnSpc>
                <a:spcPct val="100000"/>
              </a:lnSpc>
              <a:spcBef>
                <a:spcPts val="0"/>
              </a:spcBef>
              <a:spcAft>
                <a:spcPts val="0"/>
              </a:spcAft>
              <a:buClr>
                <a:schemeClr val="lt1"/>
              </a:buClr>
              <a:buSzPts val="2000"/>
              <a:buNone/>
              <a:defRPr>
                <a:solidFill>
                  <a:schemeClr val="lt1"/>
                </a:solidFill>
              </a:defRPr>
            </a:lvl2pPr>
            <a:lvl3pPr marL="1371600" lvl="2" indent="-228600" algn="l">
              <a:lnSpc>
                <a:spcPct val="100000"/>
              </a:lnSpc>
              <a:spcBef>
                <a:spcPts val="0"/>
              </a:spcBef>
              <a:spcAft>
                <a:spcPts val="0"/>
              </a:spcAft>
              <a:buClr>
                <a:schemeClr val="lt1"/>
              </a:buClr>
              <a:buSzPts val="2000"/>
              <a:buNone/>
              <a:defRPr>
                <a:solidFill>
                  <a:schemeClr val="lt1"/>
                </a:solidFill>
              </a:defRPr>
            </a:lvl3pPr>
            <a:lvl4pPr marL="1828800" lvl="3" indent="-228600" algn="l">
              <a:lnSpc>
                <a:spcPct val="100000"/>
              </a:lnSpc>
              <a:spcBef>
                <a:spcPts val="0"/>
              </a:spcBef>
              <a:spcAft>
                <a:spcPts val="0"/>
              </a:spcAft>
              <a:buClr>
                <a:schemeClr val="lt1"/>
              </a:buClr>
              <a:buSzPts val="2000"/>
              <a:buNone/>
              <a:defRPr>
                <a:solidFill>
                  <a:schemeClr val="lt1"/>
                </a:solidFill>
              </a:defRPr>
            </a:lvl4pPr>
            <a:lvl5pPr marL="2286000" lvl="4" indent="-228600" algn="l">
              <a:lnSpc>
                <a:spcPct val="100000"/>
              </a:lnSpc>
              <a:spcBef>
                <a:spcPts val="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7" name="Google Shape;17;p2" descr="Ein Bild, das Screenshot, Grafiken, Grafikdesign, Schrift enthält.&#10;&#10;Automatisch generierte Beschreibung"/>
          <p:cNvPicPr preferRelativeResize="0"/>
          <p:nvPr/>
        </p:nvPicPr>
        <p:blipFill rotWithShape="1">
          <a:blip r:embed="rId4">
            <a:alphaModFix/>
          </a:blip>
          <a:srcRect t="-160" b="2995"/>
          <a:stretch/>
        </p:blipFill>
        <p:spPr>
          <a:xfrm>
            <a:off x="10507865" y="188670"/>
            <a:ext cx="987023" cy="563988"/>
          </a:xfrm>
          <a:prstGeom prst="rect">
            <a:avLst/>
          </a:prstGeom>
          <a:noFill/>
          <a:ln>
            <a:noFill/>
          </a:ln>
        </p:spPr>
      </p:pic>
      <p:sp>
        <p:nvSpPr>
          <p:cNvPr id="18" name="Google Shape;18;p2"/>
          <p:cNvSpPr txBox="1"/>
          <p:nvPr/>
        </p:nvSpPr>
        <p:spPr>
          <a:xfrm>
            <a:off x="4292354" y="360538"/>
            <a:ext cx="609895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de-CH" sz="1200" b="0" i="0" u="none" strike="noStrike" cap="none">
                <a:solidFill>
                  <a:schemeClr val="dk1"/>
                </a:solidFill>
                <a:latin typeface="Arial"/>
                <a:ea typeface="Arial"/>
                <a:cs typeface="Arial"/>
                <a:sym typeface="Arial"/>
              </a:rPr>
              <a:t>Planning of Landscape and Urban Systems</a:t>
            </a:r>
            <a:endParaRPr sz="1200" b="0" i="0" u="none" strike="noStrike" cap="none">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3840">
          <p15:clr>
            <a:srgbClr val="FBAE40"/>
          </p15:clr>
        </p15:guide>
        <p15:guide id="2" orient="horz" pos="640">
          <p15:clr>
            <a:srgbClr val="FBAE40"/>
          </p15:clr>
        </p15:guide>
        <p15:guide id="3" orient="horz" pos="3952">
          <p15:clr>
            <a:srgbClr val="FBAE40"/>
          </p15:clr>
        </p15:guide>
        <p15:guide id="4" pos="61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ld full page">
  <p:cSld name="Bild full page">
    <p:spTree>
      <p:nvGrpSpPr>
        <p:cNvPr id="1" name="Shape 19"/>
        <p:cNvGrpSpPr/>
        <p:nvPr/>
      </p:nvGrpSpPr>
      <p:grpSpPr>
        <a:xfrm>
          <a:off x="0" y="0"/>
          <a:ext cx="0" cy="0"/>
          <a:chOff x="0" y="0"/>
          <a:chExt cx="0" cy="0"/>
        </a:xfrm>
      </p:grpSpPr>
      <p:sp>
        <p:nvSpPr>
          <p:cNvPr id="20" name="Google Shape;20;p3"/>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rgbClr val="7F7F7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pic>
        <p:nvPicPr>
          <p:cNvPr id="21" name="Google Shape;21;p3"/>
          <p:cNvPicPr preferRelativeResize="0"/>
          <p:nvPr/>
        </p:nvPicPr>
        <p:blipFill rotWithShape="1">
          <a:blip r:embed="rId2">
            <a:alphaModFix/>
          </a:blip>
          <a:srcRect/>
          <a:stretch/>
        </p:blipFill>
        <p:spPr>
          <a:xfrm>
            <a:off x="731837" y="6507088"/>
            <a:ext cx="984462" cy="162000"/>
          </a:xfrm>
          <a:prstGeom prst="rect">
            <a:avLst/>
          </a:prstGeom>
          <a:noFill/>
          <a:ln>
            <a:noFill/>
          </a:ln>
        </p:spPr>
      </p:pic>
      <p:sp>
        <p:nvSpPr>
          <p:cNvPr id="22" name="Google Shape;22;p3"/>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00" b="0" i="0" u="none" strike="noStrike" cap="none">
                <a:solidFill>
                  <a:srgbClr val="7F7F7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rgbClr val="7F7F7F"/>
                </a:solidFill>
                <a:latin typeface="Arial"/>
                <a:ea typeface="Arial"/>
                <a:cs typeface="Arial"/>
                <a:sym typeface="Arial"/>
              </a:defRPr>
            </a:lvl1pPr>
            <a:lvl2pPr marL="0" marR="0" lvl="1" indent="0" algn="r" rtl="0">
              <a:spcBef>
                <a:spcPts val="0"/>
              </a:spcBef>
              <a:buNone/>
              <a:defRPr sz="1000" b="0" i="0" u="none" strike="noStrike" cap="none">
                <a:solidFill>
                  <a:srgbClr val="7F7F7F"/>
                </a:solidFill>
                <a:latin typeface="Arial"/>
                <a:ea typeface="Arial"/>
                <a:cs typeface="Arial"/>
                <a:sym typeface="Arial"/>
              </a:defRPr>
            </a:lvl2pPr>
            <a:lvl3pPr marL="0" marR="0" lvl="2" indent="0" algn="r" rtl="0">
              <a:spcBef>
                <a:spcPts val="0"/>
              </a:spcBef>
              <a:buNone/>
              <a:defRPr sz="1000" b="0" i="0" u="none" strike="noStrike" cap="none">
                <a:solidFill>
                  <a:srgbClr val="7F7F7F"/>
                </a:solidFill>
                <a:latin typeface="Arial"/>
                <a:ea typeface="Arial"/>
                <a:cs typeface="Arial"/>
                <a:sym typeface="Arial"/>
              </a:defRPr>
            </a:lvl3pPr>
            <a:lvl4pPr marL="0" marR="0" lvl="3" indent="0" algn="r" rtl="0">
              <a:spcBef>
                <a:spcPts val="0"/>
              </a:spcBef>
              <a:buNone/>
              <a:defRPr sz="1000" b="0" i="0" u="none" strike="noStrike" cap="none">
                <a:solidFill>
                  <a:srgbClr val="7F7F7F"/>
                </a:solidFill>
                <a:latin typeface="Arial"/>
                <a:ea typeface="Arial"/>
                <a:cs typeface="Arial"/>
                <a:sym typeface="Arial"/>
              </a:defRPr>
            </a:lvl4pPr>
            <a:lvl5pPr marL="0" marR="0" lvl="4" indent="0" algn="r" rtl="0">
              <a:spcBef>
                <a:spcPts val="0"/>
              </a:spcBef>
              <a:buNone/>
              <a:defRPr sz="1000" b="0" i="0" u="none" strike="noStrike" cap="none">
                <a:solidFill>
                  <a:srgbClr val="7F7F7F"/>
                </a:solidFill>
                <a:latin typeface="Arial"/>
                <a:ea typeface="Arial"/>
                <a:cs typeface="Arial"/>
                <a:sym typeface="Arial"/>
              </a:defRPr>
            </a:lvl5pPr>
            <a:lvl6pPr marL="0" marR="0" lvl="5" indent="0" algn="r" rtl="0">
              <a:spcBef>
                <a:spcPts val="0"/>
              </a:spcBef>
              <a:buNone/>
              <a:defRPr sz="1000" b="0" i="0" u="none" strike="noStrike" cap="none">
                <a:solidFill>
                  <a:srgbClr val="7F7F7F"/>
                </a:solidFill>
                <a:latin typeface="Arial"/>
                <a:ea typeface="Arial"/>
                <a:cs typeface="Arial"/>
                <a:sym typeface="Arial"/>
              </a:defRPr>
            </a:lvl6pPr>
            <a:lvl7pPr marL="0" marR="0" lvl="6" indent="0" algn="r" rtl="0">
              <a:spcBef>
                <a:spcPts val="0"/>
              </a:spcBef>
              <a:buNone/>
              <a:defRPr sz="1000" b="0" i="0" u="none" strike="noStrike" cap="none">
                <a:solidFill>
                  <a:srgbClr val="7F7F7F"/>
                </a:solidFill>
                <a:latin typeface="Arial"/>
                <a:ea typeface="Arial"/>
                <a:cs typeface="Arial"/>
                <a:sym typeface="Arial"/>
              </a:defRPr>
            </a:lvl7pPr>
            <a:lvl8pPr marL="0" marR="0" lvl="7" indent="0" algn="r" rtl="0">
              <a:spcBef>
                <a:spcPts val="0"/>
              </a:spcBef>
              <a:buNone/>
              <a:defRPr sz="1000" b="0" i="0" u="none" strike="noStrike" cap="none">
                <a:solidFill>
                  <a:srgbClr val="7F7F7F"/>
                </a:solidFill>
                <a:latin typeface="Arial"/>
                <a:ea typeface="Arial"/>
                <a:cs typeface="Arial"/>
                <a:sym typeface="Arial"/>
              </a:defRPr>
            </a:lvl8pPr>
            <a:lvl9pPr marL="0" marR="0" lvl="8" indent="0" algn="r" rtl="0">
              <a:spcBef>
                <a:spcPts val="0"/>
              </a:spcBef>
              <a:buNone/>
              <a:defRPr sz="1000" b="0" i="0" u="none" strike="noStrike" cap="none">
                <a:solidFill>
                  <a:srgbClr val="7F7F7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halt" type="obj">
  <p:cSld name="OBJECT">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731837" y="260351"/>
            <a:ext cx="10728325" cy="9000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731837" y="1412875"/>
            <a:ext cx="10728325" cy="4680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4"/>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00">
                <a:solidFill>
                  <a:srgbClr val="7F7F7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4"/>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a:solidFill>
                  <a:srgbClr val="7F7F7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a:solidFill>
                  <a:srgbClr val="7F7F7F"/>
                </a:solidFill>
                <a:latin typeface="Arial"/>
                <a:ea typeface="Arial"/>
                <a:cs typeface="Arial"/>
                <a:sym typeface="Arial"/>
              </a:defRPr>
            </a:lvl1pPr>
            <a:lvl2pPr marL="0" marR="0" lvl="1" indent="0" algn="r" rtl="0">
              <a:spcBef>
                <a:spcPts val="0"/>
              </a:spcBef>
              <a:buNone/>
              <a:defRPr sz="1000">
                <a:solidFill>
                  <a:srgbClr val="7F7F7F"/>
                </a:solidFill>
                <a:latin typeface="Arial"/>
                <a:ea typeface="Arial"/>
                <a:cs typeface="Arial"/>
                <a:sym typeface="Arial"/>
              </a:defRPr>
            </a:lvl2pPr>
            <a:lvl3pPr marL="0" marR="0" lvl="2" indent="0" algn="r" rtl="0">
              <a:spcBef>
                <a:spcPts val="0"/>
              </a:spcBef>
              <a:buNone/>
              <a:defRPr sz="1000">
                <a:solidFill>
                  <a:srgbClr val="7F7F7F"/>
                </a:solidFill>
                <a:latin typeface="Arial"/>
                <a:ea typeface="Arial"/>
                <a:cs typeface="Arial"/>
                <a:sym typeface="Arial"/>
              </a:defRPr>
            </a:lvl3pPr>
            <a:lvl4pPr marL="0" marR="0" lvl="3" indent="0" algn="r" rtl="0">
              <a:spcBef>
                <a:spcPts val="0"/>
              </a:spcBef>
              <a:buNone/>
              <a:defRPr sz="1000">
                <a:solidFill>
                  <a:srgbClr val="7F7F7F"/>
                </a:solidFill>
                <a:latin typeface="Arial"/>
                <a:ea typeface="Arial"/>
                <a:cs typeface="Arial"/>
                <a:sym typeface="Arial"/>
              </a:defRPr>
            </a:lvl4pPr>
            <a:lvl5pPr marL="0" marR="0" lvl="4" indent="0" algn="r" rtl="0">
              <a:spcBef>
                <a:spcPts val="0"/>
              </a:spcBef>
              <a:buNone/>
              <a:defRPr sz="1000">
                <a:solidFill>
                  <a:srgbClr val="7F7F7F"/>
                </a:solidFill>
                <a:latin typeface="Arial"/>
                <a:ea typeface="Arial"/>
                <a:cs typeface="Arial"/>
                <a:sym typeface="Arial"/>
              </a:defRPr>
            </a:lvl5pPr>
            <a:lvl6pPr marL="0" marR="0" lvl="5" indent="0" algn="r" rtl="0">
              <a:spcBef>
                <a:spcPts val="0"/>
              </a:spcBef>
              <a:buNone/>
              <a:defRPr sz="1000">
                <a:solidFill>
                  <a:srgbClr val="7F7F7F"/>
                </a:solidFill>
                <a:latin typeface="Arial"/>
                <a:ea typeface="Arial"/>
                <a:cs typeface="Arial"/>
                <a:sym typeface="Arial"/>
              </a:defRPr>
            </a:lvl6pPr>
            <a:lvl7pPr marL="0" marR="0" lvl="6" indent="0" algn="r" rtl="0">
              <a:spcBef>
                <a:spcPts val="0"/>
              </a:spcBef>
              <a:buNone/>
              <a:defRPr sz="1000">
                <a:solidFill>
                  <a:srgbClr val="7F7F7F"/>
                </a:solidFill>
                <a:latin typeface="Arial"/>
                <a:ea typeface="Arial"/>
                <a:cs typeface="Arial"/>
                <a:sym typeface="Arial"/>
              </a:defRPr>
            </a:lvl7pPr>
            <a:lvl8pPr marL="0" marR="0" lvl="7" indent="0" algn="r" rtl="0">
              <a:spcBef>
                <a:spcPts val="0"/>
              </a:spcBef>
              <a:buNone/>
              <a:defRPr sz="1000">
                <a:solidFill>
                  <a:srgbClr val="7F7F7F"/>
                </a:solidFill>
                <a:latin typeface="Arial"/>
                <a:ea typeface="Arial"/>
                <a:cs typeface="Arial"/>
                <a:sym typeface="Arial"/>
              </a:defRPr>
            </a:lvl8pPr>
            <a:lvl9pPr marL="0" marR="0" lvl="8" indent="0" algn="r" rtl="0">
              <a:spcBef>
                <a:spcPts val="0"/>
              </a:spcBef>
              <a:buNone/>
              <a:defRPr sz="1000">
                <a:solidFill>
                  <a:srgbClr val="7F7F7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CH"/>
              <a:t>‹#›</a:t>
            </a:fld>
            <a:endParaRPr/>
          </a:p>
        </p:txBody>
      </p:sp>
      <p:pic>
        <p:nvPicPr>
          <p:cNvPr id="30" name="Google Shape;30;p4"/>
          <p:cNvPicPr preferRelativeResize="0"/>
          <p:nvPr/>
        </p:nvPicPr>
        <p:blipFill rotWithShape="1">
          <a:blip r:embed="rId2">
            <a:alphaModFix/>
          </a:blip>
          <a:srcRect/>
          <a:stretch/>
        </p:blipFill>
        <p:spPr>
          <a:xfrm>
            <a:off x="731837" y="6507088"/>
            <a:ext cx="984462" cy="162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elfolie 02">
  <p:cSld name="Titelfolie 02">
    <p:spTree>
      <p:nvGrpSpPr>
        <p:cNvPr id="1" name="Shape 31"/>
        <p:cNvGrpSpPr/>
        <p:nvPr/>
      </p:nvGrpSpPr>
      <p:grpSpPr>
        <a:xfrm>
          <a:off x="0" y="0"/>
          <a:ext cx="0" cy="0"/>
          <a:chOff x="0" y="0"/>
          <a:chExt cx="0" cy="0"/>
        </a:xfrm>
      </p:grpSpPr>
      <p:pic>
        <p:nvPicPr>
          <p:cNvPr id="32" name="Google Shape;32;p5" descr="Ein Bild, das draußen, Natur, Schnee, Wasser enthält.&#10;&#10;Automatisch generierte Beschreibung"/>
          <p:cNvPicPr preferRelativeResize="0"/>
          <p:nvPr/>
        </p:nvPicPr>
        <p:blipFill rotWithShape="1">
          <a:blip r:embed="rId2">
            <a:alphaModFix/>
          </a:blip>
          <a:srcRect l="278" r="278"/>
          <a:stretch/>
        </p:blipFill>
        <p:spPr>
          <a:xfrm>
            <a:off x="731838" y="1080318"/>
            <a:ext cx="10728325" cy="5256000"/>
          </a:xfrm>
          <a:prstGeom prst="rect">
            <a:avLst/>
          </a:prstGeom>
          <a:noFill/>
          <a:ln>
            <a:noFill/>
          </a:ln>
        </p:spPr>
      </p:pic>
      <p:sp>
        <p:nvSpPr>
          <p:cNvPr id="33" name="Google Shape;33;p5"/>
          <p:cNvSpPr txBox="1">
            <a:spLocks noGrp="1"/>
          </p:cNvSpPr>
          <p:nvPr>
            <p:ph type="ctrTitle"/>
          </p:nvPr>
        </p:nvSpPr>
        <p:spPr>
          <a:xfrm>
            <a:off x="6504000" y="2574318"/>
            <a:ext cx="5688000" cy="2268000"/>
          </a:xfrm>
          <a:prstGeom prst="rect">
            <a:avLst/>
          </a:prstGeom>
          <a:solidFill>
            <a:srgbClr val="007893"/>
          </a:solidFill>
          <a:ln>
            <a:noFill/>
          </a:ln>
        </p:spPr>
        <p:txBody>
          <a:bodyPr spcFirstLastPara="1" wrap="square" lIns="324000" tIns="252000" rIns="0" bIns="0" anchor="t"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4" name="Google Shape;34;p5"/>
          <p:cNvPicPr preferRelativeResize="0"/>
          <p:nvPr/>
        </p:nvPicPr>
        <p:blipFill rotWithShape="1">
          <a:blip r:embed="rId3">
            <a:alphaModFix/>
          </a:blip>
          <a:srcRect/>
          <a:stretch/>
        </p:blipFill>
        <p:spPr>
          <a:xfrm>
            <a:off x="731838" y="360538"/>
            <a:ext cx="1765565" cy="288000"/>
          </a:xfrm>
          <a:prstGeom prst="rect">
            <a:avLst/>
          </a:prstGeom>
          <a:noFill/>
          <a:ln>
            <a:noFill/>
          </a:ln>
        </p:spPr>
      </p:pic>
      <p:sp>
        <p:nvSpPr>
          <p:cNvPr id="35" name="Google Shape;35;p5"/>
          <p:cNvSpPr txBox="1">
            <a:spLocks noGrp="1"/>
          </p:cNvSpPr>
          <p:nvPr>
            <p:ph type="body" idx="1"/>
          </p:nvPr>
        </p:nvSpPr>
        <p:spPr>
          <a:xfrm>
            <a:off x="6845210" y="4195786"/>
            <a:ext cx="4320000" cy="46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2000"/>
              <a:buNone/>
              <a:defRPr>
                <a:solidFill>
                  <a:schemeClr val="lt1"/>
                </a:solidFill>
              </a:defRPr>
            </a:lvl1pPr>
            <a:lvl2pPr marL="914400" lvl="1" indent="-228600" algn="l">
              <a:lnSpc>
                <a:spcPct val="100000"/>
              </a:lnSpc>
              <a:spcBef>
                <a:spcPts val="0"/>
              </a:spcBef>
              <a:spcAft>
                <a:spcPts val="0"/>
              </a:spcAft>
              <a:buClr>
                <a:schemeClr val="lt1"/>
              </a:buClr>
              <a:buSzPts val="2000"/>
              <a:buNone/>
              <a:defRPr>
                <a:solidFill>
                  <a:schemeClr val="lt1"/>
                </a:solidFill>
              </a:defRPr>
            </a:lvl2pPr>
            <a:lvl3pPr marL="1371600" lvl="2" indent="-228600" algn="l">
              <a:lnSpc>
                <a:spcPct val="100000"/>
              </a:lnSpc>
              <a:spcBef>
                <a:spcPts val="0"/>
              </a:spcBef>
              <a:spcAft>
                <a:spcPts val="0"/>
              </a:spcAft>
              <a:buClr>
                <a:schemeClr val="lt1"/>
              </a:buClr>
              <a:buSzPts val="2000"/>
              <a:buNone/>
              <a:defRPr>
                <a:solidFill>
                  <a:schemeClr val="lt1"/>
                </a:solidFill>
              </a:defRPr>
            </a:lvl3pPr>
            <a:lvl4pPr marL="1828800" lvl="3" indent="-228600" algn="l">
              <a:lnSpc>
                <a:spcPct val="100000"/>
              </a:lnSpc>
              <a:spcBef>
                <a:spcPts val="0"/>
              </a:spcBef>
              <a:spcAft>
                <a:spcPts val="0"/>
              </a:spcAft>
              <a:buClr>
                <a:schemeClr val="lt1"/>
              </a:buClr>
              <a:buSzPts val="2000"/>
              <a:buNone/>
              <a:defRPr>
                <a:solidFill>
                  <a:schemeClr val="lt1"/>
                </a:solidFill>
              </a:defRPr>
            </a:lvl4pPr>
            <a:lvl5pPr marL="2286000" lvl="4" indent="-228600" algn="l">
              <a:lnSpc>
                <a:spcPct val="100000"/>
              </a:lnSpc>
              <a:spcBef>
                <a:spcPts val="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6" name="Google Shape;36;p5" descr="Ein Bild, das Screenshot, Grafiken, Grafikdesign, Schrift enthält.&#10;&#10;Automatisch generierte Beschreibung"/>
          <p:cNvPicPr preferRelativeResize="0"/>
          <p:nvPr/>
        </p:nvPicPr>
        <p:blipFill rotWithShape="1">
          <a:blip r:embed="rId4">
            <a:alphaModFix/>
          </a:blip>
          <a:srcRect t="-160" b="2995"/>
          <a:stretch/>
        </p:blipFill>
        <p:spPr>
          <a:xfrm>
            <a:off x="10507865" y="188670"/>
            <a:ext cx="987023" cy="563988"/>
          </a:xfrm>
          <a:prstGeom prst="rect">
            <a:avLst/>
          </a:prstGeom>
          <a:noFill/>
          <a:ln>
            <a:noFill/>
          </a:ln>
        </p:spPr>
      </p:pic>
      <p:sp>
        <p:nvSpPr>
          <p:cNvPr id="37" name="Google Shape;37;p5"/>
          <p:cNvSpPr txBox="1"/>
          <p:nvPr/>
        </p:nvSpPr>
        <p:spPr>
          <a:xfrm>
            <a:off x="4292354" y="360538"/>
            <a:ext cx="609895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de-CH" sz="1200">
                <a:solidFill>
                  <a:schemeClr val="dk1"/>
                </a:solidFill>
                <a:latin typeface="Arial"/>
                <a:ea typeface="Arial"/>
                <a:cs typeface="Arial"/>
                <a:sym typeface="Arial"/>
              </a:rPr>
              <a:t>Planning of Landscape and Urban Systems</a:t>
            </a:r>
            <a:endParaRPr sz="1200">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640">
          <p15:clr>
            <a:srgbClr val="FBAE40"/>
          </p15:clr>
        </p15:guide>
        <p15:guide id="2"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elfolie 03">
  <p:cSld name="Titelfolie 03">
    <p:spTree>
      <p:nvGrpSpPr>
        <p:cNvPr id="1" name="Shape 38"/>
        <p:cNvGrpSpPr/>
        <p:nvPr/>
      </p:nvGrpSpPr>
      <p:grpSpPr>
        <a:xfrm>
          <a:off x="0" y="0"/>
          <a:ext cx="0" cy="0"/>
          <a:chOff x="0" y="0"/>
          <a:chExt cx="0" cy="0"/>
        </a:xfrm>
      </p:grpSpPr>
      <p:sp>
        <p:nvSpPr>
          <p:cNvPr id="39" name="Google Shape;39;p6"/>
          <p:cNvSpPr/>
          <p:nvPr/>
        </p:nvSpPr>
        <p:spPr>
          <a:xfrm>
            <a:off x="731838" y="1016000"/>
            <a:ext cx="10728325" cy="5257800"/>
          </a:xfrm>
          <a:prstGeom prst="rect">
            <a:avLst/>
          </a:prstGeom>
          <a:solidFill>
            <a:srgbClr val="D9D9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 name="Google Shape;40;p6"/>
          <p:cNvSpPr txBox="1">
            <a:spLocks noGrp="1"/>
          </p:cNvSpPr>
          <p:nvPr>
            <p:ph type="ctrTitle"/>
          </p:nvPr>
        </p:nvSpPr>
        <p:spPr>
          <a:xfrm>
            <a:off x="-1" y="1940405"/>
            <a:ext cx="10188000" cy="3420000"/>
          </a:xfrm>
          <a:prstGeom prst="rect">
            <a:avLst/>
          </a:prstGeom>
          <a:solidFill>
            <a:srgbClr val="007893"/>
          </a:solidFill>
          <a:ln>
            <a:noFill/>
          </a:ln>
        </p:spPr>
        <p:txBody>
          <a:bodyPr spcFirstLastPara="1" wrap="square" lIns="1080000" tIns="252000" rIns="0" bIns="0" anchor="t"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1" name="Google Shape;41;p6"/>
          <p:cNvPicPr preferRelativeResize="0"/>
          <p:nvPr/>
        </p:nvPicPr>
        <p:blipFill rotWithShape="1">
          <a:blip r:embed="rId2">
            <a:alphaModFix/>
          </a:blip>
          <a:srcRect/>
          <a:stretch/>
        </p:blipFill>
        <p:spPr>
          <a:xfrm>
            <a:off x="731838" y="360538"/>
            <a:ext cx="1765565" cy="288000"/>
          </a:xfrm>
          <a:prstGeom prst="rect">
            <a:avLst/>
          </a:prstGeom>
          <a:noFill/>
          <a:ln>
            <a:noFill/>
          </a:ln>
        </p:spPr>
      </p:pic>
      <p:sp>
        <p:nvSpPr>
          <p:cNvPr id="42" name="Google Shape;42;p6"/>
          <p:cNvSpPr txBox="1">
            <a:spLocks noGrp="1"/>
          </p:cNvSpPr>
          <p:nvPr>
            <p:ph type="body" idx="1"/>
          </p:nvPr>
        </p:nvSpPr>
        <p:spPr>
          <a:xfrm>
            <a:off x="1078516" y="4217884"/>
            <a:ext cx="8640000" cy="100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2000"/>
              <a:buNone/>
              <a:defRPr>
                <a:solidFill>
                  <a:schemeClr val="lt1"/>
                </a:solidFill>
              </a:defRPr>
            </a:lvl1pPr>
            <a:lvl2pPr marL="914400" lvl="1" indent="-228600" algn="l">
              <a:lnSpc>
                <a:spcPct val="100000"/>
              </a:lnSpc>
              <a:spcBef>
                <a:spcPts val="0"/>
              </a:spcBef>
              <a:spcAft>
                <a:spcPts val="0"/>
              </a:spcAft>
              <a:buClr>
                <a:schemeClr val="lt1"/>
              </a:buClr>
              <a:buSzPts val="2000"/>
              <a:buNone/>
              <a:defRPr>
                <a:solidFill>
                  <a:schemeClr val="lt1"/>
                </a:solidFill>
              </a:defRPr>
            </a:lvl2pPr>
            <a:lvl3pPr marL="1371600" lvl="2" indent="-228600" algn="l">
              <a:lnSpc>
                <a:spcPct val="100000"/>
              </a:lnSpc>
              <a:spcBef>
                <a:spcPts val="0"/>
              </a:spcBef>
              <a:spcAft>
                <a:spcPts val="0"/>
              </a:spcAft>
              <a:buClr>
                <a:schemeClr val="lt1"/>
              </a:buClr>
              <a:buSzPts val="2000"/>
              <a:buNone/>
              <a:defRPr>
                <a:solidFill>
                  <a:schemeClr val="lt1"/>
                </a:solidFill>
              </a:defRPr>
            </a:lvl3pPr>
            <a:lvl4pPr marL="1828800" lvl="3" indent="-228600" algn="l">
              <a:lnSpc>
                <a:spcPct val="100000"/>
              </a:lnSpc>
              <a:spcBef>
                <a:spcPts val="0"/>
              </a:spcBef>
              <a:spcAft>
                <a:spcPts val="0"/>
              </a:spcAft>
              <a:buClr>
                <a:schemeClr val="lt1"/>
              </a:buClr>
              <a:buSzPts val="2000"/>
              <a:buNone/>
              <a:defRPr>
                <a:solidFill>
                  <a:schemeClr val="lt1"/>
                </a:solidFill>
              </a:defRPr>
            </a:lvl4pPr>
            <a:lvl5pPr marL="2286000" lvl="4" indent="-228600" algn="l">
              <a:lnSpc>
                <a:spcPct val="100000"/>
              </a:lnSpc>
              <a:spcBef>
                <a:spcPts val="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3" name="Google Shape;43;p6" descr="Ein Bild, das Screenshot, Grafiken, Grafikdesign, Schrift enthält.&#10;&#10;Automatisch generierte Beschreibung"/>
          <p:cNvPicPr preferRelativeResize="0"/>
          <p:nvPr/>
        </p:nvPicPr>
        <p:blipFill rotWithShape="1">
          <a:blip r:embed="rId3">
            <a:alphaModFix/>
          </a:blip>
          <a:srcRect t="-160" b="2995"/>
          <a:stretch/>
        </p:blipFill>
        <p:spPr>
          <a:xfrm>
            <a:off x="10507865" y="188670"/>
            <a:ext cx="987023" cy="563988"/>
          </a:xfrm>
          <a:prstGeom prst="rect">
            <a:avLst/>
          </a:prstGeom>
          <a:noFill/>
          <a:ln>
            <a:noFill/>
          </a:ln>
        </p:spPr>
      </p:pic>
      <p:sp>
        <p:nvSpPr>
          <p:cNvPr id="44" name="Google Shape;44;p6"/>
          <p:cNvSpPr txBox="1"/>
          <p:nvPr/>
        </p:nvSpPr>
        <p:spPr>
          <a:xfrm>
            <a:off x="4292354" y="360538"/>
            <a:ext cx="609895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de-CH" sz="1200">
                <a:solidFill>
                  <a:schemeClr val="dk1"/>
                </a:solidFill>
                <a:latin typeface="Arial"/>
                <a:ea typeface="Arial"/>
                <a:cs typeface="Arial"/>
                <a:sym typeface="Arial"/>
              </a:rPr>
              <a:t>Planning of Landscape and Urban Systems</a:t>
            </a:r>
            <a:endParaRPr sz="1200">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640">
          <p15:clr>
            <a:srgbClr val="FBAE40"/>
          </p15:clr>
        </p15:guide>
        <p15:guide id="2"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elfolie 04">
  <p:cSld name="Titelfolie 04">
    <p:spTree>
      <p:nvGrpSpPr>
        <p:cNvPr id="1" name="Shape 45"/>
        <p:cNvGrpSpPr/>
        <p:nvPr/>
      </p:nvGrpSpPr>
      <p:grpSpPr>
        <a:xfrm>
          <a:off x="0" y="0"/>
          <a:ext cx="0" cy="0"/>
          <a:chOff x="0" y="0"/>
          <a:chExt cx="0" cy="0"/>
        </a:xfrm>
      </p:grpSpPr>
      <p:sp>
        <p:nvSpPr>
          <p:cNvPr id="46" name="Google Shape;46;p7"/>
          <p:cNvSpPr txBox="1">
            <a:spLocks noGrp="1"/>
          </p:cNvSpPr>
          <p:nvPr>
            <p:ph type="ctrTitle"/>
          </p:nvPr>
        </p:nvSpPr>
        <p:spPr>
          <a:xfrm>
            <a:off x="731837" y="1016000"/>
            <a:ext cx="10728326" cy="5256000"/>
          </a:xfrm>
          <a:prstGeom prst="rect">
            <a:avLst/>
          </a:prstGeom>
          <a:solidFill>
            <a:srgbClr val="007893"/>
          </a:solidFill>
          <a:ln>
            <a:noFill/>
          </a:ln>
        </p:spPr>
        <p:txBody>
          <a:bodyPr spcFirstLastPara="1" wrap="square" lIns="324000" tIns="1152000" rIns="0" bIns="0" anchor="t"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7" name="Google Shape;47;p7"/>
          <p:cNvPicPr preferRelativeResize="0"/>
          <p:nvPr/>
        </p:nvPicPr>
        <p:blipFill rotWithShape="1">
          <a:blip r:embed="rId2">
            <a:alphaModFix/>
          </a:blip>
          <a:srcRect/>
          <a:stretch/>
        </p:blipFill>
        <p:spPr>
          <a:xfrm>
            <a:off x="731838" y="360538"/>
            <a:ext cx="1765565" cy="288000"/>
          </a:xfrm>
          <a:prstGeom prst="rect">
            <a:avLst/>
          </a:prstGeom>
          <a:noFill/>
          <a:ln>
            <a:noFill/>
          </a:ln>
        </p:spPr>
      </p:pic>
      <p:sp>
        <p:nvSpPr>
          <p:cNvPr id="48" name="Google Shape;48;p7"/>
          <p:cNvSpPr txBox="1">
            <a:spLocks noGrp="1"/>
          </p:cNvSpPr>
          <p:nvPr>
            <p:ph type="body" idx="1"/>
          </p:nvPr>
        </p:nvSpPr>
        <p:spPr>
          <a:xfrm>
            <a:off x="1078515" y="5122625"/>
            <a:ext cx="10044000" cy="100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2000"/>
              <a:buNone/>
              <a:defRPr>
                <a:solidFill>
                  <a:schemeClr val="lt1"/>
                </a:solidFill>
              </a:defRPr>
            </a:lvl1pPr>
            <a:lvl2pPr marL="914400" lvl="1" indent="-228600" algn="l">
              <a:lnSpc>
                <a:spcPct val="100000"/>
              </a:lnSpc>
              <a:spcBef>
                <a:spcPts val="0"/>
              </a:spcBef>
              <a:spcAft>
                <a:spcPts val="0"/>
              </a:spcAft>
              <a:buClr>
                <a:schemeClr val="lt1"/>
              </a:buClr>
              <a:buSzPts val="2000"/>
              <a:buNone/>
              <a:defRPr>
                <a:solidFill>
                  <a:schemeClr val="lt1"/>
                </a:solidFill>
              </a:defRPr>
            </a:lvl2pPr>
            <a:lvl3pPr marL="1371600" lvl="2" indent="-228600" algn="l">
              <a:lnSpc>
                <a:spcPct val="100000"/>
              </a:lnSpc>
              <a:spcBef>
                <a:spcPts val="0"/>
              </a:spcBef>
              <a:spcAft>
                <a:spcPts val="0"/>
              </a:spcAft>
              <a:buClr>
                <a:schemeClr val="lt1"/>
              </a:buClr>
              <a:buSzPts val="2000"/>
              <a:buNone/>
              <a:defRPr>
                <a:solidFill>
                  <a:schemeClr val="lt1"/>
                </a:solidFill>
              </a:defRPr>
            </a:lvl3pPr>
            <a:lvl4pPr marL="1828800" lvl="3" indent="-228600" algn="l">
              <a:lnSpc>
                <a:spcPct val="100000"/>
              </a:lnSpc>
              <a:spcBef>
                <a:spcPts val="0"/>
              </a:spcBef>
              <a:spcAft>
                <a:spcPts val="0"/>
              </a:spcAft>
              <a:buClr>
                <a:schemeClr val="lt1"/>
              </a:buClr>
              <a:buSzPts val="2000"/>
              <a:buNone/>
              <a:defRPr>
                <a:solidFill>
                  <a:schemeClr val="lt1"/>
                </a:solidFill>
              </a:defRPr>
            </a:lvl4pPr>
            <a:lvl5pPr marL="2286000" lvl="4" indent="-228600" algn="l">
              <a:lnSpc>
                <a:spcPct val="100000"/>
              </a:lnSpc>
              <a:spcBef>
                <a:spcPts val="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9" name="Google Shape;49;p7" descr="Ein Bild, das Screenshot, Grafiken, Grafikdesign, Schrift enthält.&#10;&#10;Automatisch generierte Beschreibung"/>
          <p:cNvPicPr preferRelativeResize="0"/>
          <p:nvPr/>
        </p:nvPicPr>
        <p:blipFill rotWithShape="1">
          <a:blip r:embed="rId3">
            <a:alphaModFix/>
          </a:blip>
          <a:srcRect t="-160" b="2995"/>
          <a:stretch/>
        </p:blipFill>
        <p:spPr>
          <a:xfrm>
            <a:off x="10507865" y="188670"/>
            <a:ext cx="987023" cy="563988"/>
          </a:xfrm>
          <a:prstGeom prst="rect">
            <a:avLst/>
          </a:prstGeom>
          <a:noFill/>
          <a:ln>
            <a:noFill/>
          </a:ln>
        </p:spPr>
      </p:pic>
      <p:sp>
        <p:nvSpPr>
          <p:cNvPr id="50" name="Google Shape;50;p7"/>
          <p:cNvSpPr txBox="1"/>
          <p:nvPr/>
        </p:nvSpPr>
        <p:spPr>
          <a:xfrm>
            <a:off x="4292354" y="360538"/>
            <a:ext cx="609895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de-CH" sz="1200">
                <a:solidFill>
                  <a:schemeClr val="dk1"/>
                </a:solidFill>
                <a:latin typeface="Arial"/>
                <a:ea typeface="Arial"/>
                <a:cs typeface="Arial"/>
                <a:sym typeface="Arial"/>
              </a:rPr>
              <a:t>Planning of Landscape and Urban Systems</a:t>
            </a:r>
            <a:endParaRPr sz="1200">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640">
          <p15:clr>
            <a:srgbClr val="FBAE40"/>
          </p15:clr>
        </p15:guide>
        <p15:guide id="2" orient="horz" pos="3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Zwischenslide">
  <p:cSld name="Zwischenslide">
    <p:bg>
      <p:bgPr>
        <a:solidFill>
          <a:schemeClr val="dk1"/>
        </a:solidFill>
        <a:effectLst/>
      </p:bgPr>
    </p:bg>
    <p:spTree>
      <p:nvGrpSpPr>
        <p:cNvPr id="1" name="Shape 51"/>
        <p:cNvGrpSpPr/>
        <p:nvPr/>
      </p:nvGrpSpPr>
      <p:grpSpPr>
        <a:xfrm>
          <a:off x="0" y="0"/>
          <a:ext cx="0" cy="0"/>
          <a:chOff x="0" y="0"/>
          <a:chExt cx="0" cy="0"/>
        </a:xfrm>
      </p:grpSpPr>
      <p:grpSp>
        <p:nvGrpSpPr>
          <p:cNvPr id="52" name="Google Shape;52;p8"/>
          <p:cNvGrpSpPr/>
          <p:nvPr/>
        </p:nvGrpSpPr>
        <p:grpSpPr>
          <a:xfrm>
            <a:off x="731837" y="6507088"/>
            <a:ext cx="978437" cy="159062"/>
            <a:chOff x="731837" y="6507088"/>
            <a:chExt cx="978437" cy="159062"/>
          </a:xfrm>
        </p:grpSpPr>
        <p:grpSp>
          <p:nvGrpSpPr>
            <p:cNvPr id="53" name="Google Shape;53;p8"/>
            <p:cNvGrpSpPr/>
            <p:nvPr/>
          </p:nvGrpSpPr>
          <p:grpSpPr>
            <a:xfrm>
              <a:off x="1266489" y="6555186"/>
              <a:ext cx="197463" cy="110964"/>
              <a:chOff x="1266489" y="6555186"/>
              <a:chExt cx="197463" cy="110964"/>
            </a:xfrm>
          </p:grpSpPr>
          <p:sp>
            <p:nvSpPr>
              <p:cNvPr id="54" name="Google Shape;54;p8"/>
              <p:cNvSpPr/>
              <p:nvPr/>
            </p:nvSpPr>
            <p:spPr>
              <a:xfrm>
                <a:off x="1266489" y="6556934"/>
                <a:ext cx="95902" cy="109216"/>
              </a:xfrm>
              <a:custGeom>
                <a:avLst/>
                <a:gdLst/>
                <a:ahLst/>
                <a:cxnLst/>
                <a:rect l="l" t="t" r="r" b="b"/>
                <a:pathLst>
                  <a:path w="95902" h="109216" extrusionOk="0">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8"/>
              <p:cNvSpPr/>
              <p:nvPr/>
            </p:nvSpPr>
            <p:spPr>
              <a:xfrm>
                <a:off x="1376472" y="6555186"/>
                <a:ext cx="87480" cy="109664"/>
              </a:xfrm>
              <a:custGeom>
                <a:avLst/>
                <a:gdLst/>
                <a:ahLst/>
                <a:cxnLst/>
                <a:rect l="l" t="t" r="r" b="b"/>
                <a:pathLst>
                  <a:path w="87480" h="109664" extrusionOk="0">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6" name="Google Shape;56;p8"/>
            <p:cNvSpPr/>
            <p:nvPr/>
          </p:nvSpPr>
          <p:spPr>
            <a:xfrm>
              <a:off x="1159517" y="6556560"/>
              <a:ext cx="96452" cy="108166"/>
            </a:xfrm>
            <a:custGeom>
              <a:avLst/>
              <a:gdLst/>
              <a:ahLst/>
              <a:cxnLst/>
              <a:rect l="l" t="t" r="r" b="b"/>
              <a:pathLst>
                <a:path w="96452" h="108166" extrusionOk="0">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 name="Google Shape;57;p8"/>
            <p:cNvSpPr/>
            <p:nvPr/>
          </p:nvSpPr>
          <p:spPr>
            <a:xfrm>
              <a:off x="1466445" y="6556560"/>
              <a:ext cx="37259" cy="108166"/>
            </a:xfrm>
            <a:custGeom>
              <a:avLst/>
              <a:gdLst/>
              <a:ahLst/>
              <a:cxnLst/>
              <a:rect l="l" t="t" r="r" b="b"/>
              <a:pathLst>
                <a:path w="37259" h="108166" extrusionOk="0">
                  <a:moveTo>
                    <a:pt x="21683" y="0"/>
                  </a:moveTo>
                  <a:lnTo>
                    <a:pt x="0" y="107917"/>
                  </a:lnTo>
                  <a:lnTo>
                    <a:pt x="0" y="108166"/>
                  </a:lnTo>
                  <a:lnTo>
                    <a:pt x="15702" y="108166"/>
                  </a:lnTo>
                  <a:lnTo>
                    <a:pt x="37260" y="0"/>
                  </a:lnTo>
                  <a:lnTo>
                    <a:pt x="21683"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8" name="Google Shape;58;p8"/>
            <p:cNvGrpSpPr/>
            <p:nvPr/>
          </p:nvGrpSpPr>
          <p:grpSpPr>
            <a:xfrm>
              <a:off x="1518879" y="6507337"/>
              <a:ext cx="191395" cy="158803"/>
              <a:chOff x="1518879" y="6507337"/>
              <a:chExt cx="191395" cy="158803"/>
            </a:xfrm>
          </p:grpSpPr>
          <p:sp>
            <p:nvSpPr>
              <p:cNvPr id="59" name="Google Shape;59;p8"/>
              <p:cNvSpPr/>
              <p:nvPr/>
            </p:nvSpPr>
            <p:spPr>
              <a:xfrm>
                <a:off x="1614114" y="6507337"/>
                <a:ext cx="96160" cy="157638"/>
              </a:xfrm>
              <a:custGeom>
                <a:avLst/>
                <a:gdLst/>
                <a:ahLst/>
                <a:cxnLst/>
                <a:rect l="l" t="t" r="r" b="b"/>
                <a:pathLst>
                  <a:path w="96160" h="157638" extrusionOk="0">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 name="Google Shape;60;p8"/>
              <p:cNvSpPr/>
              <p:nvPr/>
            </p:nvSpPr>
            <p:spPr>
              <a:xfrm>
                <a:off x="1518879" y="6555189"/>
                <a:ext cx="87882" cy="110951"/>
              </a:xfrm>
              <a:custGeom>
                <a:avLst/>
                <a:gdLst/>
                <a:ahLst/>
                <a:cxnLst/>
                <a:rect l="l" t="t" r="r" b="b"/>
                <a:pathLst>
                  <a:path w="87882" h="110951" extrusionOk="0">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1" name="Google Shape;61;p8"/>
            <p:cNvSpPr/>
            <p:nvPr/>
          </p:nvSpPr>
          <p:spPr>
            <a:xfrm>
              <a:off x="1493985" y="6507088"/>
              <a:ext cx="19689" cy="19689"/>
            </a:xfrm>
            <a:custGeom>
              <a:avLst/>
              <a:gdLst/>
              <a:ahLst/>
              <a:cxnLst/>
              <a:rect l="l" t="t" r="r" b="b"/>
              <a:pathLst>
                <a:path w="19689" h="19689" extrusionOk="0">
                  <a:moveTo>
                    <a:pt x="3988" y="0"/>
                  </a:moveTo>
                  <a:lnTo>
                    <a:pt x="0" y="19689"/>
                  </a:lnTo>
                  <a:lnTo>
                    <a:pt x="15826" y="19689"/>
                  </a:lnTo>
                  <a:lnTo>
                    <a:pt x="19689" y="0"/>
                  </a:lnTo>
                  <a:lnTo>
                    <a:pt x="39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 name="Google Shape;62;p8"/>
            <p:cNvSpPr/>
            <p:nvPr/>
          </p:nvSpPr>
          <p:spPr>
            <a:xfrm>
              <a:off x="1340708" y="6507088"/>
              <a:ext cx="19689" cy="19689"/>
            </a:xfrm>
            <a:custGeom>
              <a:avLst/>
              <a:gdLst/>
              <a:ahLst/>
              <a:cxnLst/>
              <a:rect l="l" t="t" r="r" b="b"/>
              <a:pathLst>
                <a:path w="19689" h="19689" extrusionOk="0">
                  <a:moveTo>
                    <a:pt x="3988" y="0"/>
                  </a:moveTo>
                  <a:lnTo>
                    <a:pt x="0" y="19689"/>
                  </a:lnTo>
                  <a:lnTo>
                    <a:pt x="15826" y="19689"/>
                  </a:lnTo>
                  <a:lnTo>
                    <a:pt x="19689" y="0"/>
                  </a:lnTo>
                  <a:lnTo>
                    <a:pt x="39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8"/>
            <p:cNvSpPr/>
            <p:nvPr/>
          </p:nvSpPr>
          <p:spPr>
            <a:xfrm>
              <a:off x="1298712" y="6507088"/>
              <a:ext cx="19689" cy="19689"/>
            </a:xfrm>
            <a:custGeom>
              <a:avLst/>
              <a:gdLst/>
              <a:ahLst/>
              <a:cxnLst/>
              <a:rect l="l" t="t" r="r" b="b"/>
              <a:pathLst>
                <a:path w="19689" h="19689" extrusionOk="0">
                  <a:moveTo>
                    <a:pt x="3988" y="0"/>
                  </a:moveTo>
                  <a:lnTo>
                    <a:pt x="0" y="19689"/>
                  </a:lnTo>
                  <a:lnTo>
                    <a:pt x="15702" y="19689"/>
                  </a:lnTo>
                  <a:lnTo>
                    <a:pt x="19689" y="0"/>
                  </a:lnTo>
                  <a:lnTo>
                    <a:pt x="39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 name="Google Shape;64;p8"/>
            <p:cNvSpPr/>
            <p:nvPr/>
          </p:nvSpPr>
          <p:spPr>
            <a:xfrm>
              <a:off x="731837" y="6507088"/>
              <a:ext cx="417960" cy="157638"/>
            </a:xfrm>
            <a:custGeom>
              <a:avLst/>
              <a:gdLst/>
              <a:ahLst/>
              <a:cxnLst/>
              <a:rect l="l" t="t" r="r" b="b"/>
              <a:pathLst>
                <a:path w="417960" h="157638" extrusionOk="0">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5" name="Google Shape;65;p8"/>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a:solidFill>
                  <a:srgbClr val="F2F2F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6" name="Google Shape;66;p8"/>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00">
                <a:solidFill>
                  <a:srgbClr val="F2F2F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7" name="Google Shape;67;p8"/>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a:solidFill>
                  <a:srgbClr val="F2F2F2"/>
                </a:solidFill>
                <a:latin typeface="Arial"/>
                <a:ea typeface="Arial"/>
                <a:cs typeface="Arial"/>
                <a:sym typeface="Arial"/>
              </a:defRPr>
            </a:lvl1pPr>
            <a:lvl2pPr marL="0" marR="0" lvl="1" indent="0" algn="r" rtl="0">
              <a:spcBef>
                <a:spcPts val="0"/>
              </a:spcBef>
              <a:buNone/>
              <a:defRPr sz="1000">
                <a:solidFill>
                  <a:srgbClr val="F2F2F2"/>
                </a:solidFill>
                <a:latin typeface="Arial"/>
                <a:ea typeface="Arial"/>
                <a:cs typeface="Arial"/>
                <a:sym typeface="Arial"/>
              </a:defRPr>
            </a:lvl2pPr>
            <a:lvl3pPr marL="0" marR="0" lvl="2" indent="0" algn="r" rtl="0">
              <a:spcBef>
                <a:spcPts val="0"/>
              </a:spcBef>
              <a:buNone/>
              <a:defRPr sz="1000">
                <a:solidFill>
                  <a:srgbClr val="F2F2F2"/>
                </a:solidFill>
                <a:latin typeface="Arial"/>
                <a:ea typeface="Arial"/>
                <a:cs typeface="Arial"/>
                <a:sym typeface="Arial"/>
              </a:defRPr>
            </a:lvl3pPr>
            <a:lvl4pPr marL="0" marR="0" lvl="3" indent="0" algn="r" rtl="0">
              <a:spcBef>
                <a:spcPts val="0"/>
              </a:spcBef>
              <a:buNone/>
              <a:defRPr sz="1000">
                <a:solidFill>
                  <a:srgbClr val="F2F2F2"/>
                </a:solidFill>
                <a:latin typeface="Arial"/>
                <a:ea typeface="Arial"/>
                <a:cs typeface="Arial"/>
                <a:sym typeface="Arial"/>
              </a:defRPr>
            </a:lvl4pPr>
            <a:lvl5pPr marL="0" marR="0" lvl="4" indent="0" algn="r" rtl="0">
              <a:spcBef>
                <a:spcPts val="0"/>
              </a:spcBef>
              <a:buNone/>
              <a:defRPr sz="1000">
                <a:solidFill>
                  <a:srgbClr val="F2F2F2"/>
                </a:solidFill>
                <a:latin typeface="Arial"/>
                <a:ea typeface="Arial"/>
                <a:cs typeface="Arial"/>
                <a:sym typeface="Arial"/>
              </a:defRPr>
            </a:lvl5pPr>
            <a:lvl6pPr marL="0" marR="0" lvl="5" indent="0" algn="r" rtl="0">
              <a:spcBef>
                <a:spcPts val="0"/>
              </a:spcBef>
              <a:buNone/>
              <a:defRPr sz="1000">
                <a:solidFill>
                  <a:srgbClr val="F2F2F2"/>
                </a:solidFill>
                <a:latin typeface="Arial"/>
                <a:ea typeface="Arial"/>
                <a:cs typeface="Arial"/>
                <a:sym typeface="Arial"/>
              </a:defRPr>
            </a:lvl6pPr>
            <a:lvl7pPr marL="0" marR="0" lvl="6" indent="0" algn="r" rtl="0">
              <a:spcBef>
                <a:spcPts val="0"/>
              </a:spcBef>
              <a:buNone/>
              <a:defRPr sz="1000">
                <a:solidFill>
                  <a:srgbClr val="F2F2F2"/>
                </a:solidFill>
                <a:latin typeface="Arial"/>
                <a:ea typeface="Arial"/>
                <a:cs typeface="Arial"/>
                <a:sym typeface="Arial"/>
              </a:defRPr>
            </a:lvl7pPr>
            <a:lvl8pPr marL="0" marR="0" lvl="7" indent="0" algn="r" rtl="0">
              <a:spcBef>
                <a:spcPts val="0"/>
              </a:spcBef>
              <a:buNone/>
              <a:defRPr sz="1000">
                <a:solidFill>
                  <a:srgbClr val="F2F2F2"/>
                </a:solidFill>
                <a:latin typeface="Arial"/>
                <a:ea typeface="Arial"/>
                <a:cs typeface="Arial"/>
                <a:sym typeface="Arial"/>
              </a:defRPr>
            </a:lvl8pPr>
            <a:lvl9pPr marL="0" marR="0" lvl="8" indent="0" algn="r" rtl="0">
              <a:spcBef>
                <a:spcPts val="0"/>
              </a:spcBef>
              <a:buNone/>
              <a:defRPr sz="1000">
                <a:solidFill>
                  <a:srgbClr val="F2F2F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CH"/>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31837" y="260351"/>
            <a:ext cx="10728325" cy="9000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2600"/>
              <a:buFont typeface="Arial"/>
              <a:buNone/>
              <a:defRPr sz="26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731837" y="1412875"/>
            <a:ext cx="10728325" cy="4680000"/>
          </a:xfrm>
          <a:prstGeom prst="rect">
            <a:avLst/>
          </a:prstGeom>
          <a:noFill/>
          <a:ln>
            <a:noFill/>
          </a:ln>
        </p:spPr>
        <p:txBody>
          <a:bodyPr spcFirstLastPara="1" wrap="square" lIns="0" tIns="0" rIns="0" bIns="0" anchor="t" anchorCtr="0">
            <a:noAutofit/>
          </a:bodyPr>
          <a:lstStyle>
            <a:lvl1pPr marL="457200" marR="0" lvl="0"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500"/>
              </a:spcBef>
              <a:spcAft>
                <a:spcPts val="0"/>
              </a:spcAft>
              <a:buClr>
                <a:schemeClr val="dk1"/>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55600" algn="l" rtl="0">
              <a:lnSpc>
                <a:spcPct val="100000"/>
              </a:lnSpc>
              <a:spcBef>
                <a:spcPts val="500"/>
              </a:spcBef>
              <a:spcAft>
                <a:spcPts val="0"/>
              </a:spcAft>
              <a:buClr>
                <a:schemeClr val="dk1"/>
              </a:buClr>
              <a:buSzPts val="2000"/>
              <a:buFont typeface="Noto Sans Symbols"/>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500"/>
              </a:spcBef>
              <a:spcAft>
                <a:spcPts val="0"/>
              </a:spcAft>
              <a:buClr>
                <a:schemeClr val="dk1"/>
              </a:buClr>
              <a:buSzPts val="2000"/>
              <a:buFont typeface="Noto Sans Symbols"/>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500"/>
              </a:spcBef>
              <a:spcAft>
                <a:spcPts val="0"/>
              </a:spcAft>
              <a:buClr>
                <a:schemeClr val="dk1"/>
              </a:buClr>
              <a:buSzPts val="2000"/>
              <a:buFont typeface="Noto Sans Symbols"/>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61">
          <p15:clr>
            <a:srgbClr val="F26B43"/>
          </p15:clr>
        </p15:guide>
        <p15:guide id="2" pos="7219">
          <p15:clr>
            <a:srgbClr val="F26B43"/>
          </p15:clr>
        </p15:guide>
        <p15:guide id="3" orient="horz" pos="164">
          <p15:clr>
            <a:srgbClr val="F26B43"/>
          </p15:clr>
        </p15:guide>
        <p15:guide id="4" orient="horz" pos="890">
          <p15:clr>
            <a:srgbClr val="F26B43"/>
          </p15:clr>
        </p15:guide>
        <p15:guide id="5" orient="horz" pos="4201">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7.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3" Type="http://schemas.openxmlformats.org/officeDocument/2006/relationships/image" Target="../media/image16.png"/><Relationship Id="rId7" Type="http://schemas.openxmlformats.org/officeDocument/2006/relationships/image" Target="../media/image19.png"/><Relationship Id="rId12"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7.png"/><Relationship Id="rId5" Type="http://schemas.openxmlformats.org/officeDocument/2006/relationships/image" Target="../media/image17.png"/><Relationship Id="rId10" Type="http://schemas.openxmlformats.org/officeDocument/2006/relationships/image" Target="../media/image22.jpg"/><Relationship Id="rId4" Type="http://schemas.openxmlformats.org/officeDocument/2006/relationships/image" Target="../media/image13.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9.png"/><Relationship Id="rId5" Type="http://schemas.openxmlformats.org/officeDocument/2006/relationships/image" Target="../media/image25.png"/><Relationship Id="rId10" Type="http://schemas.openxmlformats.org/officeDocument/2006/relationships/image" Target="../media/image18.png"/><Relationship Id="rId4" Type="http://schemas.openxmlformats.org/officeDocument/2006/relationships/image" Target="../media/image21.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31.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hyperlink" Target="https://pv-eco-survey.ethz.ch/" TargetMode="Externa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31.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pv-eco-survey.ethz.ch/" TargetMode="External"/><Relationship Id="rId5" Type="http://schemas.openxmlformats.org/officeDocument/2006/relationships/image" Target="../media/image7.png"/><Relationship Id="rId4" Type="http://schemas.openxmlformats.org/officeDocument/2006/relationships/hyperlink" Target="mailto:fwalther@ethz.ch"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007/s11625-023-01380-7"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doi.org/10.1016/j.ecoser.2025.101714" TargetMode="External"/><Relationship Id="rId4" Type="http://schemas.openxmlformats.org/officeDocument/2006/relationships/hyperlink" Target="https://doi.org/10.1016/j.oneear.2021.06.003"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8.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www.uvek-gis.admin.ch/BFE/storymaps/EE_AlpineSolaranlagen/" TargetMode="Externa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9"/>
          <p:cNvSpPr/>
          <p:nvPr/>
        </p:nvSpPr>
        <p:spPr>
          <a:xfrm>
            <a:off x="615950" y="1022350"/>
            <a:ext cx="11036300" cy="5381432"/>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74" name="Google Shape;74;p9" descr="The 8 most breathtaking places to visit in the Kanton Graubünden"/>
          <p:cNvPicPr preferRelativeResize="0"/>
          <p:nvPr/>
        </p:nvPicPr>
        <p:blipFill rotWithShape="1">
          <a:blip r:embed="rId3">
            <a:alphaModFix amt="50000"/>
          </a:blip>
          <a:srcRect t="5243" b="24597"/>
          <a:stretch/>
        </p:blipFill>
        <p:spPr>
          <a:xfrm>
            <a:off x="714375" y="1044382"/>
            <a:ext cx="10763250" cy="5359400"/>
          </a:xfrm>
          <a:prstGeom prst="rect">
            <a:avLst/>
          </a:prstGeom>
          <a:noFill/>
          <a:ln>
            <a:noFill/>
          </a:ln>
        </p:spPr>
      </p:pic>
      <p:sp>
        <p:nvSpPr>
          <p:cNvPr id="75" name="Google Shape;75;p9"/>
          <p:cNvSpPr txBox="1">
            <a:spLocks noGrp="1"/>
          </p:cNvSpPr>
          <p:nvPr>
            <p:ph type="ctrTitle"/>
          </p:nvPr>
        </p:nvSpPr>
        <p:spPr>
          <a:xfrm>
            <a:off x="-63501" y="3160643"/>
            <a:ext cx="9491455" cy="2438400"/>
          </a:xfrm>
          <a:prstGeom prst="rect">
            <a:avLst/>
          </a:prstGeom>
          <a:solidFill>
            <a:schemeClr val="lt1">
              <a:alpha val="60000"/>
            </a:schemeClr>
          </a:solidFill>
          <a:ln>
            <a:noFill/>
          </a:ln>
        </p:spPr>
        <p:txBody>
          <a:bodyPr spcFirstLastPara="1" wrap="square" lIns="1080000" tIns="252000" rIns="0" bIns="0" anchor="t" anchorCtr="0">
            <a:noAutofit/>
          </a:bodyPr>
          <a:lstStyle/>
          <a:p>
            <a:pPr marL="0" lvl="0" indent="0" algn="l" rtl="0">
              <a:lnSpc>
                <a:spcPct val="100000"/>
              </a:lnSpc>
              <a:spcBef>
                <a:spcPts val="0"/>
              </a:spcBef>
              <a:spcAft>
                <a:spcPts val="0"/>
              </a:spcAft>
              <a:buClr>
                <a:schemeClr val="dk1"/>
              </a:buClr>
              <a:buSzPts val="3000"/>
              <a:buFont typeface="Roboto"/>
              <a:buNone/>
            </a:pPr>
            <a:r>
              <a:rPr lang="de-CH" sz="3000">
                <a:solidFill>
                  <a:schemeClr val="dk1"/>
                </a:solidFill>
                <a:latin typeface="Roboto"/>
                <a:ea typeface="Roboto"/>
                <a:cs typeface="Roboto"/>
                <a:sym typeface="Roboto"/>
              </a:rPr>
              <a:t>Assessing uncertainties in ecosystem services impacts of solar energy systems in Switzerland</a:t>
            </a:r>
            <a:endParaRPr sz="3000">
              <a:solidFill>
                <a:schemeClr val="dk1"/>
              </a:solidFill>
              <a:latin typeface="Roboto"/>
              <a:ea typeface="Roboto"/>
              <a:cs typeface="Roboto"/>
              <a:sym typeface="Roboto"/>
            </a:endParaRPr>
          </a:p>
        </p:txBody>
      </p:sp>
      <p:sp>
        <p:nvSpPr>
          <p:cNvPr id="76" name="Google Shape;76;p9"/>
          <p:cNvSpPr txBox="1"/>
          <p:nvPr/>
        </p:nvSpPr>
        <p:spPr>
          <a:xfrm>
            <a:off x="1033592" y="4462544"/>
            <a:ext cx="8282686" cy="149187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900"/>
              <a:buFont typeface="Arial"/>
              <a:buNone/>
            </a:pPr>
            <a:r>
              <a:rPr lang="de-CH" sz="1900" b="0" i="0" u="none" strike="noStrike" cap="none">
                <a:solidFill>
                  <a:schemeClr val="dk1"/>
                </a:solidFill>
                <a:latin typeface="Roboto"/>
                <a:ea typeface="Roboto"/>
                <a:cs typeface="Roboto"/>
                <a:sym typeface="Roboto"/>
              </a:rPr>
              <a:t>Franziska Walther, Benjamin Black, Jonas Schwaab, Adrienne Grêt-Regamey</a:t>
            </a:r>
            <a:endParaRPr sz="19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1600"/>
              <a:buFont typeface="Arial"/>
              <a:buNone/>
            </a:pPr>
            <a:r>
              <a:rPr lang="de-CH" sz="1600" b="0" i="1" u="none" strike="noStrike" cap="none">
                <a:solidFill>
                  <a:schemeClr val="dk1"/>
                </a:solidFill>
                <a:latin typeface="Roboto"/>
                <a:ea typeface="Roboto"/>
                <a:cs typeface="Roboto"/>
                <a:sym typeface="Roboto"/>
              </a:rPr>
              <a:t>16. September 2025</a:t>
            </a:r>
            <a:endParaRPr/>
          </a:p>
          <a:p>
            <a:pPr marL="0" marR="0" lvl="0" indent="0" algn="l" rtl="0">
              <a:lnSpc>
                <a:spcPct val="100000"/>
              </a:lnSpc>
              <a:spcBef>
                <a:spcPts val="0"/>
              </a:spcBef>
              <a:spcAft>
                <a:spcPts val="0"/>
              </a:spcAft>
              <a:buClr>
                <a:schemeClr val="dk1"/>
              </a:buClr>
              <a:buSzPts val="1600"/>
              <a:buFont typeface="Arial"/>
              <a:buNone/>
            </a:pPr>
            <a:r>
              <a:rPr lang="de-CH" sz="1600" b="0" i="1" u="none" strike="noStrike" cap="none">
                <a:solidFill>
                  <a:schemeClr val="dk1"/>
                </a:solidFill>
                <a:latin typeface="Roboto"/>
                <a:ea typeface="Roboto"/>
                <a:cs typeface="Roboto"/>
                <a:sym typeface="Roboto"/>
              </a:rPr>
              <a:t>International Mountain Conference</a:t>
            </a:r>
            <a:br>
              <a:rPr lang="de-CH" sz="1600" b="0" i="1" u="none" strike="noStrike" cap="none">
                <a:solidFill>
                  <a:schemeClr val="dk1"/>
                </a:solidFill>
                <a:latin typeface="Roboto"/>
                <a:ea typeface="Roboto"/>
                <a:cs typeface="Roboto"/>
                <a:sym typeface="Roboto"/>
              </a:rPr>
            </a:br>
            <a:r>
              <a:rPr lang="de-CH" sz="1500" b="0" i="1" u="none" strike="noStrike" cap="none">
                <a:solidFill>
                  <a:schemeClr val="dk1"/>
                </a:solidFill>
                <a:latin typeface="Roboto"/>
                <a:ea typeface="Roboto"/>
                <a:cs typeface="Roboto"/>
                <a:sym typeface="Roboto"/>
              </a:rPr>
              <a:t>Energy transitions and their impacts in mountain areas (FS 3.222)</a:t>
            </a:r>
            <a:br>
              <a:rPr lang="de-CH" sz="1800" b="0" i="1" u="none" strike="noStrike" cap="none">
                <a:solidFill>
                  <a:schemeClr val="dk1"/>
                </a:solidFill>
                <a:latin typeface="Roboto"/>
                <a:ea typeface="Roboto"/>
                <a:cs typeface="Roboto"/>
                <a:sym typeface="Roboto"/>
              </a:rPr>
            </a:br>
            <a:endParaRPr sz="1800" b="0" i="1" u="none" strike="noStrike" cap="none">
              <a:solidFill>
                <a:schemeClr val="dk1"/>
              </a:solidFill>
              <a:latin typeface="Roboto"/>
              <a:ea typeface="Roboto"/>
              <a:cs typeface="Roboto"/>
              <a:sym typeface="Roboto"/>
            </a:endParaRPr>
          </a:p>
        </p:txBody>
      </p:sp>
      <p:pic>
        <p:nvPicPr>
          <p:cNvPr id="77" name="Google Shape;77;p9"/>
          <p:cNvPicPr preferRelativeResize="0"/>
          <p:nvPr/>
        </p:nvPicPr>
        <p:blipFill rotWithShape="1">
          <a:blip r:embed="rId4">
            <a:alphaModFix/>
          </a:blip>
          <a:srcRect/>
          <a:stretch/>
        </p:blipFill>
        <p:spPr>
          <a:xfrm>
            <a:off x="3426270" y="136030"/>
            <a:ext cx="1203990" cy="792348"/>
          </a:xfrm>
          <a:prstGeom prst="rect">
            <a:avLst/>
          </a:prstGeom>
          <a:noFill/>
          <a:ln>
            <a:noFill/>
          </a:ln>
        </p:spPr>
      </p:pic>
      <p:pic>
        <p:nvPicPr>
          <p:cNvPr id="78" name="Google Shape;78;p9"/>
          <p:cNvPicPr preferRelativeResize="0"/>
          <p:nvPr/>
        </p:nvPicPr>
        <p:blipFill rotWithShape="1">
          <a:blip r:embed="rId5">
            <a:alphaModFix/>
          </a:blip>
          <a:srcRect/>
          <a:stretch/>
        </p:blipFill>
        <p:spPr>
          <a:xfrm>
            <a:off x="5554435" y="337279"/>
            <a:ext cx="1159329" cy="40033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0"/>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85" name="Google Shape;85;p10"/>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86" name="Google Shape;86;p10"/>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2</a:t>
            </a:fld>
            <a:endParaRPr/>
          </a:p>
        </p:txBody>
      </p:sp>
      <p:sp>
        <p:nvSpPr>
          <p:cNvPr id="87" name="Google Shape;87;p10"/>
          <p:cNvSpPr txBox="1"/>
          <p:nvPr/>
        </p:nvSpPr>
        <p:spPr>
          <a:xfrm flipH="1">
            <a:off x="15729" y="2059940"/>
            <a:ext cx="12199867" cy="2858086"/>
          </a:xfrm>
          <a:prstGeom prst="rect">
            <a:avLst/>
          </a:prstGeom>
          <a:solidFill>
            <a:schemeClr val="lt1"/>
          </a:solidFill>
          <a:ln w="38100" cap="flat" cmpd="sng">
            <a:solidFill>
              <a:srgbClr val="E2F0D9"/>
            </a:solidFill>
            <a:prstDash val="solid"/>
            <a:round/>
            <a:headEnd type="none" w="sm" len="sm"/>
            <a:tailEnd type="none" w="sm" len="sm"/>
          </a:ln>
        </p:spPr>
        <p:txBody>
          <a:bodyPr spcFirstLastPara="1" wrap="square" lIns="215500" tIns="215500" rIns="215500" bIns="215500" anchor="t" anchorCtr="0">
            <a:noAutofit/>
          </a:bodyPr>
          <a:lstStyle/>
          <a:p>
            <a:pPr marL="0" marR="0" lvl="0" indent="0" algn="l" rtl="0">
              <a:spcBef>
                <a:spcPts val="0"/>
              </a:spcBef>
              <a:spcAft>
                <a:spcPts val="0"/>
              </a:spcAft>
              <a:buNone/>
            </a:pPr>
            <a:endParaRPr sz="1437" b="0" i="0" u="none" strike="noStrike" cap="none">
              <a:solidFill>
                <a:schemeClr val="dk1"/>
              </a:solidFill>
              <a:latin typeface="Roboto"/>
              <a:ea typeface="Roboto"/>
              <a:cs typeface="Roboto"/>
              <a:sym typeface="Roboto"/>
            </a:endParaRPr>
          </a:p>
        </p:txBody>
      </p:sp>
      <p:sp>
        <p:nvSpPr>
          <p:cNvPr id="88" name="Google Shape;88;p10"/>
          <p:cNvSpPr txBox="1"/>
          <p:nvPr/>
        </p:nvSpPr>
        <p:spPr>
          <a:xfrm flipH="1">
            <a:off x="0" y="2076091"/>
            <a:ext cx="698888" cy="2824721"/>
          </a:xfrm>
          <a:prstGeom prst="rect">
            <a:avLst/>
          </a:prstGeom>
          <a:solidFill>
            <a:srgbClr val="E2F0D9"/>
          </a:solidFill>
          <a:ln w="9525" cap="flat" cmpd="sng">
            <a:solidFill>
              <a:srgbClr val="EAF6BB"/>
            </a:solidFill>
            <a:prstDash val="solid"/>
            <a:round/>
            <a:headEnd type="none" w="sm" len="sm"/>
            <a:tailEnd type="none" w="sm" len="sm"/>
          </a:ln>
        </p:spPr>
        <p:txBody>
          <a:bodyPr spcFirstLastPara="1" wrap="square" lIns="215500" tIns="215500" rIns="215500" bIns="215500" anchor="t" anchorCtr="0">
            <a:noAutofit/>
          </a:bodyPr>
          <a:lstStyle/>
          <a:p>
            <a:pPr marL="0" marR="0" lvl="0" indent="0" algn="l" rtl="0">
              <a:spcBef>
                <a:spcPts val="0"/>
              </a:spcBef>
              <a:spcAft>
                <a:spcPts val="0"/>
              </a:spcAft>
              <a:buNone/>
            </a:pPr>
            <a:endParaRPr sz="1437" b="0" i="0" u="none" strike="noStrike" cap="none">
              <a:solidFill>
                <a:schemeClr val="dk1"/>
              </a:solidFill>
              <a:latin typeface="Calibri"/>
              <a:ea typeface="Calibri"/>
              <a:cs typeface="Calibri"/>
              <a:sym typeface="Calibri"/>
            </a:endParaRPr>
          </a:p>
        </p:txBody>
      </p:sp>
      <p:pic>
        <p:nvPicPr>
          <p:cNvPr id="89" name="Google Shape;89;p10" descr="Dokument Silhouette"/>
          <p:cNvPicPr preferRelativeResize="0"/>
          <p:nvPr/>
        </p:nvPicPr>
        <p:blipFill rotWithShape="1">
          <a:blip r:embed="rId3">
            <a:alphaModFix/>
          </a:blip>
          <a:srcRect/>
          <a:stretch/>
        </p:blipFill>
        <p:spPr>
          <a:xfrm>
            <a:off x="743981" y="2314327"/>
            <a:ext cx="661660" cy="661660"/>
          </a:xfrm>
          <a:prstGeom prst="rect">
            <a:avLst/>
          </a:prstGeom>
          <a:noFill/>
          <a:ln>
            <a:noFill/>
          </a:ln>
        </p:spPr>
      </p:pic>
      <p:pic>
        <p:nvPicPr>
          <p:cNvPr id="90" name="Google Shape;90;p10" descr="Gericht mit einfarbiger Füllung"/>
          <p:cNvPicPr preferRelativeResize="0"/>
          <p:nvPr/>
        </p:nvPicPr>
        <p:blipFill rotWithShape="1">
          <a:blip r:embed="rId4">
            <a:alphaModFix/>
          </a:blip>
          <a:srcRect/>
          <a:stretch/>
        </p:blipFill>
        <p:spPr>
          <a:xfrm>
            <a:off x="706752" y="2212726"/>
            <a:ext cx="402797" cy="402797"/>
          </a:xfrm>
          <a:prstGeom prst="rect">
            <a:avLst/>
          </a:prstGeom>
          <a:noFill/>
          <a:ln>
            <a:noFill/>
          </a:ln>
        </p:spPr>
      </p:pic>
      <p:sp>
        <p:nvSpPr>
          <p:cNvPr id="91" name="Google Shape;91;p10"/>
          <p:cNvSpPr txBox="1"/>
          <p:nvPr/>
        </p:nvSpPr>
        <p:spPr>
          <a:xfrm>
            <a:off x="1449708" y="3388214"/>
            <a:ext cx="4580950" cy="123110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000"/>
              <a:buFont typeface="Arial"/>
              <a:buChar char="•"/>
            </a:pPr>
            <a:r>
              <a:rPr lang="de-CH" sz="2000" b="1" i="0" u="none" strike="noStrike" cap="none">
                <a:solidFill>
                  <a:schemeClr val="dk1"/>
                </a:solidFill>
                <a:latin typeface="Calibri"/>
                <a:ea typeface="Calibri"/>
                <a:cs typeface="Calibri"/>
                <a:sym typeface="Calibri"/>
              </a:rPr>
              <a:t>Solarexpress (Art. 71a EnG)</a:t>
            </a:r>
            <a:endParaRPr/>
          </a:p>
          <a:p>
            <a:pPr marL="0" marR="0" lvl="0" indent="0" algn="l" rtl="0">
              <a:spcBef>
                <a:spcPts val="0"/>
              </a:spcBef>
              <a:spcAft>
                <a:spcPts val="0"/>
              </a:spcAft>
              <a:buNone/>
            </a:pPr>
            <a:r>
              <a:rPr lang="de-CH" sz="1800" b="0" i="0" u="none" strike="noStrike" cap="none">
                <a:solidFill>
                  <a:schemeClr val="dk1"/>
                </a:solidFill>
                <a:latin typeface="Calibri"/>
                <a:ea typeface="Calibri"/>
                <a:cs typeface="Calibri"/>
                <a:sym typeface="Calibri"/>
              </a:rPr>
              <a:t>financial incentive for large-scale solar </a:t>
            </a:r>
            <a:endParaRPr/>
          </a:p>
          <a:p>
            <a:pPr marL="0" marR="0" lvl="0" indent="0" algn="l" rtl="0">
              <a:spcBef>
                <a:spcPts val="0"/>
              </a:spcBef>
              <a:spcAft>
                <a:spcPts val="0"/>
              </a:spcAft>
              <a:buNone/>
            </a:pPr>
            <a:r>
              <a:rPr lang="de-CH" sz="1800">
                <a:solidFill>
                  <a:schemeClr val="dk1"/>
                </a:solidFill>
                <a:latin typeface="Calibri"/>
                <a:ea typeface="Calibri"/>
                <a:cs typeface="Calibri"/>
                <a:sym typeface="Calibri"/>
              </a:rPr>
              <a:t>systems in high alpine areas in Switzerland</a:t>
            </a:r>
            <a:endParaRPr/>
          </a:p>
          <a:p>
            <a:pPr marL="0" marR="0" lvl="0" indent="0" algn="l" rtl="0">
              <a:spcBef>
                <a:spcPts val="0"/>
              </a:spcBef>
              <a:spcAft>
                <a:spcPts val="0"/>
              </a:spcAft>
              <a:buNone/>
            </a:pPr>
            <a:r>
              <a:rPr lang="de-CH" sz="1800">
                <a:solidFill>
                  <a:schemeClr val="dk1"/>
                </a:solidFill>
                <a:latin typeface="Calibri"/>
                <a:ea typeface="Calibri"/>
                <a:cs typeface="Calibri"/>
                <a:sym typeface="Calibri"/>
              </a:rPr>
              <a:t>   </a:t>
            </a:r>
            <a:endParaRPr sz="1600" i="1">
              <a:solidFill>
                <a:schemeClr val="dk1"/>
              </a:solidFill>
              <a:latin typeface="Calibri"/>
              <a:ea typeface="Calibri"/>
              <a:cs typeface="Calibri"/>
              <a:sym typeface="Calibri"/>
            </a:endParaRPr>
          </a:p>
        </p:txBody>
      </p:sp>
      <p:sp>
        <p:nvSpPr>
          <p:cNvPr id="92" name="Google Shape;92;p10"/>
          <p:cNvSpPr txBox="1"/>
          <p:nvPr/>
        </p:nvSpPr>
        <p:spPr>
          <a:xfrm>
            <a:off x="1449708" y="2761739"/>
            <a:ext cx="2859992" cy="67710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000"/>
              <a:buFont typeface="Arial"/>
              <a:buChar char="•"/>
            </a:pPr>
            <a:r>
              <a:rPr lang="de-CH" sz="2000" b="1">
                <a:solidFill>
                  <a:schemeClr val="dk1"/>
                </a:solidFill>
                <a:latin typeface="Calibri"/>
                <a:ea typeface="Calibri"/>
                <a:cs typeface="Calibri"/>
                <a:sym typeface="Calibri"/>
              </a:rPr>
              <a:t>Paris Agreement</a:t>
            </a:r>
            <a:endParaRPr/>
          </a:p>
          <a:p>
            <a:pPr marL="0" marR="0" lvl="0" indent="0" algn="l" rtl="0">
              <a:spcBef>
                <a:spcPts val="0"/>
              </a:spcBef>
              <a:spcAft>
                <a:spcPts val="0"/>
              </a:spcAft>
              <a:buNone/>
            </a:pPr>
            <a:r>
              <a:rPr lang="de-CH" sz="1800">
                <a:solidFill>
                  <a:schemeClr val="dk1"/>
                </a:solidFill>
                <a:latin typeface="Calibri"/>
                <a:ea typeface="Calibri"/>
                <a:cs typeface="Calibri"/>
                <a:sym typeface="Calibri"/>
              </a:rPr>
              <a:t>climate neutrality by 2050</a:t>
            </a:r>
            <a:endParaRPr/>
          </a:p>
        </p:txBody>
      </p:sp>
      <p:sp>
        <p:nvSpPr>
          <p:cNvPr id="93" name="Google Shape;93;p10"/>
          <p:cNvSpPr txBox="1"/>
          <p:nvPr/>
        </p:nvSpPr>
        <p:spPr>
          <a:xfrm>
            <a:off x="1449708" y="2414125"/>
            <a:ext cx="297023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u="sng">
                <a:solidFill>
                  <a:schemeClr val="dk1"/>
                </a:solidFill>
                <a:latin typeface="Calibri"/>
                <a:ea typeface="Calibri"/>
                <a:cs typeface="Calibri"/>
                <a:sym typeface="Calibri"/>
              </a:rPr>
              <a:t>Swiss policy context</a:t>
            </a:r>
            <a:endParaRPr sz="1600" u="sng">
              <a:solidFill>
                <a:schemeClr val="dk1"/>
              </a:solidFill>
              <a:latin typeface="Calibri"/>
              <a:ea typeface="Calibri"/>
              <a:cs typeface="Calibri"/>
              <a:sym typeface="Calibri"/>
            </a:endParaRPr>
          </a:p>
        </p:txBody>
      </p:sp>
      <p:sp>
        <p:nvSpPr>
          <p:cNvPr id="94" name="Google Shape;94;p10"/>
          <p:cNvSpPr txBox="1"/>
          <p:nvPr/>
        </p:nvSpPr>
        <p:spPr>
          <a:xfrm>
            <a:off x="9103" y="143372"/>
            <a:ext cx="12192000" cy="1138773"/>
          </a:xfrm>
          <a:prstGeom prst="rect">
            <a:avLst/>
          </a:prstGeom>
          <a:solidFill>
            <a:srgbClr val="E2F0D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800">
                <a:solidFill>
                  <a:schemeClr val="dk1"/>
                </a:solidFill>
                <a:latin typeface="Calibri"/>
                <a:ea typeface="Calibri"/>
                <a:cs typeface="Calibri"/>
                <a:sym typeface="Calibri"/>
              </a:rPr>
              <a:t>ENERGY TRANSITION</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de-CH" sz="2000">
                <a:solidFill>
                  <a:schemeClr val="dk1"/>
                </a:solidFill>
                <a:latin typeface="Calibri"/>
                <a:ea typeface="Calibri"/>
                <a:cs typeface="Calibri"/>
                <a:sym typeface="Calibri"/>
              </a:rPr>
              <a:t>Mountain areas in Switzerland are increasingly being targeted for the installation of solar energy systems, </a:t>
            </a:r>
            <a:r>
              <a:rPr lang="de-CH" sz="2000" i="1">
                <a:solidFill>
                  <a:schemeClr val="dk1"/>
                </a:solidFill>
                <a:latin typeface="Calibri"/>
                <a:ea typeface="Calibri"/>
                <a:cs typeface="Calibri"/>
                <a:sym typeface="Calibri"/>
              </a:rPr>
              <a:t>i.e. ground-mounted photovoltaic (PV) systems </a:t>
            </a:r>
            <a:endParaRPr sz="2000" i="1">
              <a:solidFill>
                <a:schemeClr val="dk1"/>
              </a:solidFill>
              <a:latin typeface="Calibri"/>
              <a:ea typeface="Calibri"/>
              <a:cs typeface="Calibri"/>
              <a:sym typeface="Calibri"/>
            </a:endParaRPr>
          </a:p>
        </p:txBody>
      </p:sp>
      <p:sp>
        <p:nvSpPr>
          <p:cNvPr id="95" name="Google Shape;95;p10"/>
          <p:cNvSpPr txBox="1"/>
          <p:nvPr/>
        </p:nvSpPr>
        <p:spPr>
          <a:xfrm flipH="1">
            <a:off x="11492326" y="2059940"/>
            <a:ext cx="698888" cy="2834246"/>
          </a:xfrm>
          <a:prstGeom prst="rect">
            <a:avLst/>
          </a:prstGeom>
          <a:solidFill>
            <a:srgbClr val="E2F0D9">
              <a:alpha val="69803"/>
            </a:srgbClr>
          </a:solidFill>
          <a:ln w="9525" cap="flat" cmpd="sng">
            <a:solidFill>
              <a:srgbClr val="EAF6BB"/>
            </a:solidFill>
            <a:prstDash val="solid"/>
            <a:round/>
            <a:headEnd type="none" w="sm" len="sm"/>
            <a:tailEnd type="none" w="sm" len="sm"/>
          </a:ln>
        </p:spPr>
        <p:txBody>
          <a:bodyPr spcFirstLastPara="1" wrap="square" lIns="215500" tIns="215500" rIns="215500" bIns="215500" anchor="t" anchorCtr="0">
            <a:noAutofit/>
          </a:bodyPr>
          <a:lstStyle/>
          <a:p>
            <a:pPr marL="0" marR="0" lvl="0" indent="0" algn="l" rtl="0">
              <a:spcBef>
                <a:spcPts val="0"/>
              </a:spcBef>
              <a:spcAft>
                <a:spcPts val="0"/>
              </a:spcAft>
              <a:buNone/>
            </a:pPr>
            <a:endParaRPr sz="1437">
              <a:solidFill>
                <a:schemeClr val="dk1"/>
              </a:solidFill>
              <a:latin typeface="Roboto"/>
              <a:ea typeface="Roboto"/>
              <a:cs typeface="Roboto"/>
              <a:sym typeface="Roboto"/>
            </a:endParaRPr>
          </a:p>
        </p:txBody>
      </p:sp>
      <p:pic>
        <p:nvPicPr>
          <p:cNvPr id="96" name="Google Shape;96;p10"/>
          <p:cNvPicPr preferRelativeResize="0"/>
          <p:nvPr/>
        </p:nvPicPr>
        <p:blipFill rotWithShape="1">
          <a:blip r:embed="rId5">
            <a:alphaModFix/>
          </a:blip>
          <a:srcRect/>
          <a:stretch/>
        </p:blipFill>
        <p:spPr>
          <a:xfrm>
            <a:off x="5675744" y="6284098"/>
            <a:ext cx="840512" cy="572238"/>
          </a:xfrm>
          <a:prstGeom prst="rect">
            <a:avLst/>
          </a:prstGeom>
          <a:noFill/>
          <a:ln>
            <a:noFill/>
          </a:ln>
        </p:spPr>
      </p:pic>
      <p:pic>
        <p:nvPicPr>
          <p:cNvPr id="97" name="Google Shape;97;p10" descr="Madrisa Solar – alpines Solarkraftwerk"/>
          <p:cNvPicPr preferRelativeResize="0"/>
          <p:nvPr/>
        </p:nvPicPr>
        <p:blipFill rotWithShape="1">
          <a:blip r:embed="rId6">
            <a:alphaModFix/>
          </a:blip>
          <a:srcRect t="21494"/>
          <a:stretch/>
        </p:blipFill>
        <p:spPr>
          <a:xfrm>
            <a:off x="6090292" y="2082717"/>
            <a:ext cx="5397116" cy="2824721"/>
          </a:xfrm>
          <a:prstGeom prst="rect">
            <a:avLst/>
          </a:prstGeom>
          <a:noFill/>
          <a:ln>
            <a:noFill/>
          </a:ln>
        </p:spPr>
      </p:pic>
      <p:sp>
        <p:nvSpPr>
          <p:cNvPr id="98" name="Google Shape;98;p10"/>
          <p:cNvSpPr txBox="1"/>
          <p:nvPr/>
        </p:nvSpPr>
        <p:spPr>
          <a:xfrm>
            <a:off x="6077040" y="4928419"/>
            <a:ext cx="5383122"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Calibri"/>
                <a:ea typeface="Calibri"/>
                <a:cs typeface="Calibri"/>
                <a:sym typeface="Calibri"/>
              </a:rPr>
              <a:t>Projected visualization: Madrisa Solar, Grisons, Switzerland </a:t>
            </a:r>
            <a:endParaRPr/>
          </a:p>
          <a:p>
            <a:pPr marL="0" marR="0" lvl="0" indent="0" algn="l" rtl="0">
              <a:spcBef>
                <a:spcPts val="0"/>
              </a:spcBef>
              <a:spcAft>
                <a:spcPts val="0"/>
              </a:spcAft>
              <a:buNone/>
            </a:pPr>
            <a:r>
              <a:rPr lang="de-CH" sz="1500" i="1">
                <a:solidFill>
                  <a:schemeClr val="dk1"/>
                </a:solidFill>
                <a:latin typeface="Calibri"/>
                <a:ea typeface="Calibri"/>
                <a:cs typeface="Calibri"/>
                <a:sym typeface="Calibri"/>
              </a:rPr>
              <a:t>(currently under construction)</a:t>
            </a:r>
            <a:endParaRPr sz="15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1"/>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105" name="Google Shape;105;p11"/>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106" name="Google Shape;106;p11"/>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3</a:t>
            </a:fld>
            <a:endParaRPr/>
          </a:p>
        </p:txBody>
      </p:sp>
      <p:pic>
        <p:nvPicPr>
          <p:cNvPr id="107" name="Google Shape;107;p11"/>
          <p:cNvPicPr preferRelativeResize="0"/>
          <p:nvPr/>
        </p:nvPicPr>
        <p:blipFill rotWithShape="1">
          <a:blip r:embed="rId3">
            <a:alphaModFix/>
          </a:blip>
          <a:srcRect/>
          <a:stretch/>
        </p:blipFill>
        <p:spPr>
          <a:xfrm>
            <a:off x="1791710" y="1727741"/>
            <a:ext cx="8228590" cy="3437370"/>
          </a:xfrm>
          <a:prstGeom prst="rect">
            <a:avLst/>
          </a:prstGeom>
          <a:noFill/>
          <a:ln w="28575" cap="flat" cmpd="sng">
            <a:solidFill>
              <a:schemeClr val="dk1"/>
            </a:solidFill>
            <a:prstDash val="solid"/>
            <a:round/>
            <a:headEnd type="none" w="sm" len="sm"/>
            <a:tailEnd type="none" w="sm" len="sm"/>
          </a:ln>
        </p:spPr>
      </p:pic>
      <p:sp>
        <p:nvSpPr>
          <p:cNvPr id="108" name="Google Shape;108;p11"/>
          <p:cNvSpPr txBox="1"/>
          <p:nvPr/>
        </p:nvSpPr>
        <p:spPr>
          <a:xfrm>
            <a:off x="0" y="177516"/>
            <a:ext cx="12192000" cy="1138773"/>
          </a:xfrm>
          <a:prstGeom prst="rect">
            <a:avLst/>
          </a:prstGeom>
          <a:solidFill>
            <a:srgbClr val="E2F0D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800">
                <a:solidFill>
                  <a:schemeClr val="dk1"/>
                </a:solidFill>
                <a:latin typeface="Calibri"/>
                <a:ea typeface="Calibri"/>
                <a:cs typeface="Calibri"/>
                <a:sym typeface="Calibri"/>
              </a:rPr>
              <a:t>ENERGY TRANSITION &amp; ECOSYSTEM SERVICES </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de-CH" sz="2000">
                <a:solidFill>
                  <a:schemeClr val="dk1"/>
                </a:solidFill>
                <a:latin typeface="Calibri"/>
                <a:ea typeface="Calibri"/>
                <a:cs typeface="Calibri"/>
                <a:sym typeface="Calibri"/>
              </a:rPr>
              <a:t>Mountain areas provide a multitude of ecosystem services that may be affected by the installation of solar energy systems</a:t>
            </a:r>
            <a:endParaRPr/>
          </a:p>
        </p:txBody>
      </p:sp>
      <p:sp>
        <p:nvSpPr>
          <p:cNvPr id="109" name="Google Shape;109;p11"/>
          <p:cNvSpPr txBox="1"/>
          <p:nvPr/>
        </p:nvSpPr>
        <p:spPr>
          <a:xfrm>
            <a:off x="0" y="5627325"/>
            <a:ext cx="12192000" cy="400110"/>
          </a:xfrm>
          <a:prstGeom prst="rect">
            <a:avLst/>
          </a:prstGeom>
          <a:solidFill>
            <a:srgbClr val="E2F0D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000">
                <a:solidFill>
                  <a:schemeClr val="dk1"/>
                </a:solidFill>
                <a:latin typeface="Calibri"/>
                <a:ea typeface="Calibri"/>
                <a:cs typeface="Calibri"/>
                <a:sym typeface="Calibri"/>
              </a:rPr>
              <a:t>    →  Assessing ecosystem services and PV impacts is essential for identifying suitable solar energy system sites</a:t>
            </a:r>
            <a:endParaRPr/>
          </a:p>
        </p:txBody>
      </p:sp>
      <p:pic>
        <p:nvPicPr>
          <p:cNvPr id="110" name="Google Shape;110;p11"/>
          <p:cNvPicPr preferRelativeResize="0"/>
          <p:nvPr/>
        </p:nvPicPr>
        <p:blipFill rotWithShape="1">
          <a:blip r:embed="rId4">
            <a:alphaModFix/>
          </a:blip>
          <a:srcRect/>
          <a:stretch/>
        </p:blipFill>
        <p:spPr>
          <a:xfrm>
            <a:off x="5675744" y="6284098"/>
            <a:ext cx="840512" cy="572238"/>
          </a:xfrm>
          <a:prstGeom prst="rect">
            <a:avLst/>
          </a:prstGeom>
          <a:noFill/>
          <a:ln>
            <a:noFill/>
          </a:ln>
        </p:spPr>
      </p:pic>
      <p:pic>
        <p:nvPicPr>
          <p:cNvPr id="111" name="Google Shape;111;p11" descr="Fragezeichen mit einfarbiger Füllung"/>
          <p:cNvPicPr preferRelativeResize="0"/>
          <p:nvPr/>
        </p:nvPicPr>
        <p:blipFill rotWithShape="1">
          <a:blip r:embed="rId5">
            <a:alphaModFix/>
          </a:blip>
          <a:srcRect/>
          <a:stretch/>
        </p:blipFill>
        <p:spPr>
          <a:xfrm>
            <a:off x="6589740" y="1777425"/>
            <a:ext cx="366824" cy="3668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2"/>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latin typeface="Calibri"/>
                <a:ea typeface="Calibri"/>
                <a:cs typeface="Calibri"/>
                <a:sym typeface="Calibri"/>
              </a:rPr>
              <a:t>16.09.2025</a:t>
            </a:r>
            <a:endParaRPr>
              <a:latin typeface="Calibri"/>
              <a:ea typeface="Calibri"/>
              <a:cs typeface="Calibri"/>
              <a:sym typeface="Calibri"/>
            </a:endParaRPr>
          </a:p>
        </p:txBody>
      </p:sp>
      <p:sp>
        <p:nvSpPr>
          <p:cNvPr id="118" name="Google Shape;118;p12"/>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latin typeface="Calibri"/>
                <a:ea typeface="Calibri"/>
                <a:cs typeface="Calibri"/>
                <a:sym typeface="Calibri"/>
              </a:rPr>
              <a:t>4</a:t>
            </a:fld>
            <a:endParaRPr>
              <a:latin typeface="Calibri"/>
              <a:ea typeface="Calibri"/>
              <a:cs typeface="Calibri"/>
              <a:sym typeface="Calibri"/>
            </a:endParaRPr>
          </a:p>
        </p:txBody>
      </p:sp>
      <p:pic>
        <p:nvPicPr>
          <p:cNvPr id="119" name="Google Shape;119;p12"/>
          <p:cNvPicPr preferRelativeResize="0"/>
          <p:nvPr/>
        </p:nvPicPr>
        <p:blipFill rotWithShape="1">
          <a:blip r:embed="rId3">
            <a:alphaModFix/>
          </a:blip>
          <a:srcRect/>
          <a:stretch/>
        </p:blipFill>
        <p:spPr>
          <a:xfrm>
            <a:off x="93654" y="1736393"/>
            <a:ext cx="7168789" cy="3545113"/>
          </a:xfrm>
          <a:prstGeom prst="rect">
            <a:avLst/>
          </a:prstGeom>
          <a:noFill/>
          <a:ln>
            <a:noFill/>
          </a:ln>
        </p:spPr>
      </p:pic>
      <p:sp>
        <p:nvSpPr>
          <p:cNvPr id="120" name="Google Shape;120;p12"/>
          <p:cNvSpPr txBox="1"/>
          <p:nvPr/>
        </p:nvSpPr>
        <p:spPr>
          <a:xfrm>
            <a:off x="7324326" y="1833878"/>
            <a:ext cx="4774020" cy="3385542"/>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800" b="1">
                <a:solidFill>
                  <a:schemeClr val="dk1"/>
                </a:solidFill>
                <a:latin typeface="Calibri"/>
                <a:ea typeface="Calibri"/>
                <a:cs typeface="Calibri"/>
                <a:sym typeface="Calibri"/>
              </a:rPr>
              <a:t>Literature review (n= 904 articles) has shown that:</a:t>
            </a:r>
            <a:br>
              <a:rPr lang="de-CH" sz="1800" b="1">
                <a:solidFill>
                  <a:schemeClr val="dk1"/>
                </a:solidFill>
                <a:latin typeface="Calibri"/>
                <a:ea typeface="Calibri"/>
                <a:cs typeface="Calibri"/>
                <a:sym typeface="Calibri"/>
              </a:rPr>
            </a:br>
            <a:br>
              <a:rPr lang="de-CH" sz="1800" b="1">
                <a:solidFill>
                  <a:schemeClr val="dk1"/>
                </a:solidFill>
                <a:latin typeface="Calibri"/>
                <a:ea typeface="Calibri"/>
                <a:cs typeface="Calibri"/>
                <a:sym typeface="Calibri"/>
              </a:rPr>
            </a:br>
            <a:r>
              <a:rPr lang="de-CH" sz="1800" b="0" i="0">
                <a:solidFill>
                  <a:srgbClr val="1F1F1F"/>
                </a:solidFill>
                <a:latin typeface="Calibri"/>
                <a:ea typeface="Calibri"/>
                <a:cs typeface="Calibri"/>
                <a:sym typeface="Calibri"/>
              </a:rPr>
              <a:t>Including the assessment of uncertainties can improve the potential for uptake*.</a:t>
            </a:r>
            <a:endParaRPr/>
          </a:p>
          <a:p>
            <a:pPr marL="0" marR="0" lvl="0" indent="0" algn="l" rtl="0">
              <a:spcBef>
                <a:spcPts val="1200"/>
              </a:spcBef>
              <a:spcAft>
                <a:spcPts val="0"/>
              </a:spcAft>
              <a:buNone/>
            </a:pPr>
            <a:br>
              <a:rPr lang="de-CH" sz="1800">
                <a:solidFill>
                  <a:srgbClr val="1F1F1F"/>
                </a:solidFill>
                <a:latin typeface="Calibri"/>
                <a:ea typeface="Calibri"/>
                <a:cs typeface="Calibri"/>
                <a:sym typeface="Calibri"/>
              </a:rPr>
            </a:br>
            <a:r>
              <a:rPr lang="de-CH" sz="1800" b="0" i="1">
                <a:solidFill>
                  <a:srgbClr val="1F1F1F"/>
                </a:solidFill>
                <a:latin typeface="Calibri"/>
                <a:ea typeface="Calibri"/>
                <a:cs typeface="Calibri"/>
                <a:sym typeface="Calibri"/>
              </a:rPr>
              <a:t>*Uptake = the potential use of ES </a:t>
            </a:r>
            <a:br>
              <a:rPr lang="de-CH" sz="1800" b="0" i="1">
                <a:solidFill>
                  <a:srgbClr val="1F1F1F"/>
                </a:solidFill>
                <a:latin typeface="Calibri"/>
                <a:ea typeface="Calibri"/>
                <a:cs typeface="Calibri"/>
                <a:sym typeface="Calibri"/>
              </a:rPr>
            </a:br>
            <a:r>
              <a:rPr lang="de-CH" sz="1800" b="0" i="1">
                <a:solidFill>
                  <a:srgbClr val="1F1F1F"/>
                </a:solidFill>
                <a:latin typeface="Calibri"/>
                <a:ea typeface="Calibri"/>
                <a:cs typeface="Calibri"/>
                <a:sym typeface="Calibri"/>
              </a:rPr>
              <a:t>  assessment results by </a:t>
            </a:r>
            <a:br>
              <a:rPr lang="de-CH" sz="1800" i="1">
                <a:solidFill>
                  <a:srgbClr val="1F1F1F"/>
                </a:solidFill>
                <a:latin typeface="Calibri"/>
                <a:ea typeface="Calibri"/>
                <a:cs typeface="Calibri"/>
                <a:sym typeface="Calibri"/>
              </a:rPr>
            </a:br>
            <a:r>
              <a:rPr lang="de-CH" sz="1800" i="1">
                <a:solidFill>
                  <a:srgbClr val="1F1F1F"/>
                </a:solidFill>
                <a:latin typeface="Calibri"/>
                <a:ea typeface="Calibri"/>
                <a:cs typeface="Calibri"/>
                <a:sym typeface="Calibri"/>
              </a:rPr>
              <a:t>  </a:t>
            </a:r>
            <a:r>
              <a:rPr lang="de-CH" sz="1800" b="0" i="1">
                <a:solidFill>
                  <a:srgbClr val="1F1F1F"/>
                </a:solidFill>
                <a:latin typeface="Calibri"/>
                <a:ea typeface="Calibri"/>
                <a:cs typeface="Calibri"/>
                <a:sym typeface="Calibri"/>
              </a:rPr>
              <a:t>decision-makers.</a:t>
            </a:r>
            <a:endParaRPr/>
          </a:p>
          <a:p>
            <a:pPr marL="0" marR="0" lvl="0" indent="0" algn="l" rtl="0">
              <a:spcBef>
                <a:spcPts val="1200"/>
              </a:spcBef>
              <a:spcAft>
                <a:spcPts val="0"/>
              </a:spcAft>
              <a:buNone/>
            </a:pPr>
            <a:br>
              <a:rPr lang="de-CH" sz="1600" i="1">
                <a:solidFill>
                  <a:srgbClr val="1F1F1F"/>
                </a:solidFill>
                <a:latin typeface="Calibri"/>
                <a:ea typeface="Calibri"/>
                <a:cs typeface="Calibri"/>
                <a:sym typeface="Calibri"/>
              </a:rPr>
            </a:br>
            <a:endParaRPr sz="1600" i="1">
              <a:solidFill>
                <a:srgbClr val="1F1F1F"/>
              </a:solidFill>
              <a:latin typeface="Calibri"/>
              <a:ea typeface="Calibri"/>
              <a:cs typeface="Calibri"/>
              <a:sym typeface="Calibri"/>
            </a:endParaRPr>
          </a:p>
        </p:txBody>
      </p:sp>
      <p:sp>
        <p:nvSpPr>
          <p:cNvPr id="121" name="Google Shape;121;p12"/>
          <p:cNvSpPr txBox="1"/>
          <p:nvPr/>
        </p:nvSpPr>
        <p:spPr>
          <a:xfrm>
            <a:off x="0" y="5723430"/>
            <a:ext cx="12191999" cy="400110"/>
          </a:xfrm>
          <a:prstGeom prst="rect">
            <a:avLst/>
          </a:prstGeom>
          <a:solidFill>
            <a:srgbClr val="E2F0D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000">
                <a:solidFill>
                  <a:schemeClr val="dk1"/>
                </a:solidFill>
                <a:latin typeface="Calibri"/>
                <a:ea typeface="Calibri"/>
                <a:cs typeface="Calibri"/>
                <a:sym typeface="Calibri"/>
              </a:rPr>
              <a:t>      → Assessing uncertainties makes ES assessment more useful for decision-making</a:t>
            </a:r>
            <a:endParaRPr/>
          </a:p>
        </p:txBody>
      </p:sp>
      <p:sp>
        <p:nvSpPr>
          <p:cNvPr id="122" name="Google Shape;122;p12"/>
          <p:cNvSpPr txBox="1"/>
          <p:nvPr/>
        </p:nvSpPr>
        <p:spPr>
          <a:xfrm>
            <a:off x="0" y="191096"/>
            <a:ext cx="12192000" cy="1138773"/>
          </a:xfrm>
          <a:prstGeom prst="rect">
            <a:avLst/>
          </a:prstGeom>
          <a:solidFill>
            <a:srgbClr val="E2F0D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800">
                <a:solidFill>
                  <a:schemeClr val="dk1"/>
                </a:solidFill>
                <a:latin typeface="Calibri"/>
                <a:ea typeface="Calibri"/>
                <a:cs typeface="Calibri"/>
                <a:sym typeface="Calibri"/>
              </a:rPr>
              <a:t>UNCERTAINTIES IN ECOSYSTEM SERVICES ASSESSMENTS </a:t>
            </a:r>
            <a:endParaRPr/>
          </a:p>
          <a:p>
            <a:pPr marL="0" marR="0" lvl="0" indent="0" algn="l" rtl="0">
              <a:spcBef>
                <a:spcPts val="0"/>
              </a:spcBef>
              <a:spcAft>
                <a:spcPts val="0"/>
              </a:spcAft>
              <a:buNone/>
            </a:pPr>
            <a:r>
              <a:rPr lang="de-CH" sz="2000">
                <a:solidFill>
                  <a:schemeClr val="dk1"/>
                </a:solidFill>
                <a:latin typeface="Calibri"/>
                <a:ea typeface="Calibri"/>
                <a:cs typeface="Calibri"/>
                <a:sym typeface="Calibri"/>
              </a:rPr>
              <a:t>Uncertainties are inherent in scenario development </a:t>
            </a:r>
            <a:r>
              <a:rPr lang="de-CH" sz="2000" i="1">
                <a:solidFill>
                  <a:schemeClr val="dk1"/>
                </a:solidFill>
                <a:latin typeface="Calibri"/>
                <a:ea typeface="Calibri"/>
                <a:cs typeface="Calibri"/>
                <a:sym typeface="Calibri"/>
              </a:rPr>
              <a:t>(scenario uncertainty), </a:t>
            </a:r>
            <a:r>
              <a:rPr lang="de-CH" sz="2000">
                <a:solidFill>
                  <a:schemeClr val="dk1"/>
                </a:solidFill>
                <a:latin typeface="Calibri"/>
                <a:ea typeface="Calibri"/>
                <a:cs typeface="Calibri"/>
                <a:sym typeface="Calibri"/>
              </a:rPr>
              <a:t>modeling </a:t>
            </a:r>
            <a:r>
              <a:rPr lang="de-CH" sz="2000" i="1">
                <a:solidFill>
                  <a:schemeClr val="dk1"/>
                </a:solidFill>
                <a:latin typeface="Calibri"/>
                <a:ea typeface="Calibri"/>
                <a:cs typeface="Calibri"/>
                <a:sym typeface="Calibri"/>
              </a:rPr>
              <a:t>(model uncertainty) </a:t>
            </a:r>
            <a:r>
              <a:rPr lang="de-CH" sz="2000">
                <a:solidFill>
                  <a:schemeClr val="dk1"/>
                </a:solidFill>
                <a:latin typeface="Calibri"/>
                <a:ea typeface="Calibri"/>
                <a:cs typeface="Calibri"/>
                <a:sym typeface="Calibri"/>
              </a:rPr>
              <a:t>and the translation of results to decision-makers </a:t>
            </a:r>
            <a:r>
              <a:rPr lang="de-CH" sz="2000" i="1">
                <a:solidFill>
                  <a:schemeClr val="dk1"/>
                </a:solidFill>
                <a:latin typeface="Calibri"/>
                <a:ea typeface="Calibri"/>
                <a:cs typeface="Calibri"/>
                <a:sym typeface="Calibri"/>
              </a:rPr>
              <a:t>(decision uncertainty)</a:t>
            </a:r>
            <a:endParaRPr/>
          </a:p>
        </p:txBody>
      </p:sp>
      <p:pic>
        <p:nvPicPr>
          <p:cNvPr id="123" name="Google Shape;123;p12"/>
          <p:cNvPicPr preferRelativeResize="0"/>
          <p:nvPr/>
        </p:nvPicPr>
        <p:blipFill rotWithShape="1">
          <a:blip r:embed="rId4">
            <a:alphaModFix/>
          </a:blip>
          <a:srcRect/>
          <a:stretch/>
        </p:blipFill>
        <p:spPr>
          <a:xfrm>
            <a:off x="5675744" y="6284098"/>
            <a:ext cx="840512" cy="572238"/>
          </a:xfrm>
          <a:prstGeom prst="rect">
            <a:avLst/>
          </a:prstGeom>
          <a:noFill/>
          <a:ln>
            <a:noFill/>
          </a:ln>
        </p:spPr>
      </p:pic>
      <p:sp>
        <p:nvSpPr>
          <p:cNvPr id="124" name="Google Shape;124;p12"/>
          <p:cNvSpPr txBox="1"/>
          <p:nvPr/>
        </p:nvSpPr>
        <p:spPr>
          <a:xfrm>
            <a:off x="10478365" y="4882110"/>
            <a:ext cx="181493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b="0" i="1">
                <a:solidFill>
                  <a:srgbClr val="1F1F1F"/>
                </a:solidFill>
                <a:latin typeface="Calibri"/>
                <a:ea typeface="Calibri"/>
                <a:cs typeface="Calibri"/>
                <a:sym typeface="Calibri"/>
              </a:rPr>
              <a:t>Walther et al. (2025)</a:t>
            </a:r>
            <a:endParaRPr sz="1400" i="1">
              <a:solidFill>
                <a:schemeClr val="dk1"/>
              </a:solidFill>
              <a:latin typeface="Calibri"/>
              <a:ea typeface="Calibri"/>
              <a:cs typeface="Calibri"/>
              <a:sym typeface="Calibri"/>
            </a:endParaRPr>
          </a:p>
        </p:txBody>
      </p:sp>
      <p:sp>
        <p:nvSpPr>
          <p:cNvPr id="125" name="Google Shape;125;p12"/>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pic>
        <p:nvPicPr>
          <p:cNvPr id="126" name="Google Shape;126;p12" descr="Ein Bild, das Muster, Quadrat, Kunst, Symmetrie enthält.&#10;&#10;KI-generierte Inhalte können fehlerhaft sein."/>
          <p:cNvPicPr preferRelativeResize="0"/>
          <p:nvPr/>
        </p:nvPicPr>
        <p:blipFill rotWithShape="1">
          <a:blip r:embed="rId5">
            <a:alphaModFix/>
          </a:blip>
          <a:srcRect/>
          <a:stretch/>
        </p:blipFill>
        <p:spPr>
          <a:xfrm>
            <a:off x="10945408" y="3808029"/>
            <a:ext cx="1060174" cy="1060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3"/>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133" name="Google Shape;133;p13"/>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134" name="Google Shape;134;p13"/>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5</a:t>
            </a:fld>
            <a:endParaRPr/>
          </a:p>
        </p:txBody>
      </p:sp>
      <p:sp>
        <p:nvSpPr>
          <p:cNvPr id="135" name="Google Shape;135;p13"/>
          <p:cNvSpPr/>
          <p:nvPr/>
        </p:nvSpPr>
        <p:spPr>
          <a:xfrm>
            <a:off x="0" y="171959"/>
            <a:ext cx="12192000" cy="806420"/>
          </a:xfrm>
          <a:prstGeom prst="rect">
            <a:avLst/>
          </a:prstGeom>
          <a:solidFill>
            <a:srgbClr val="E2F0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13"/>
          <p:cNvSpPr txBox="1"/>
          <p:nvPr/>
        </p:nvSpPr>
        <p:spPr>
          <a:xfrm>
            <a:off x="798286" y="246286"/>
            <a:ext cx="1103930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800" b="1">
                <a:solidFill>
                  <a:schemeClr val="dk1"/>
                </a:solidFill>
                <a:latin typeface="Calibri"/>
                <a:ea typeface="Calibri"/>
                <a:cs typeface="Calibri"/>
                <a:sym typeface="Calibri"/>
              </a:rPr>
              <a:t>Research question: </a:t>
            </a:r>
            <a:r>
              <a:rPr lang="de-CH" sz="1800">
                <a:solidFill>
                  <a:schemeClr val="dk1"/>
                </a:solidFill>
                <a:latin typeface="Calibri"/>
                <a:ea typeface="Calibri"/>
                <a:cs typeface="Calibri"/>
                <a:sym typeface="Calibri"/>
              </a:rPr>
              <a:t>How does the integration of uncertainties in ecosystem services (ES) assessments influence </a:t>
            </a:r>
            <a:endParaRPr/>
          </a:p>
          <a:p>
            <a:pPr marL="0" marR="0" lvl="0" indent="0" algn="l" rtl="0">
              <a:spcBef>
                <a:spcPts val="0"/>
              </a:spcBef>
              <a:spcAft>
                <a:spcPts val="0"/>
              </a:spcAft>
              <a:buNone/>
            </a:pPr>
            <a:r>
              <a:rPr lang="de-CH" sz="1800">
                <a:solidFill>
                  <a:schemeClr val="dk1"/>
                </a:solidFill>
                <a:latin typeface="Calibri"/>
                <a:ea typeface="Calibri"/>
                <a:cs typeface="Calibri"/>
                <a:sym typeface="Calibri"/>
              </a:rPr>
              <a:t>siting of ground-mounted solar PV systems?</a:t>
            </a:r>
            <a:endParaRPr sz="1800" i="1">
              <a:solidFill>
                <a:schemeClr val="dk1"/>
              </a:solidFill>
              <a:latin typeface="Calibri"/>
              <a:ea typeface="Calibri"/>
              <a:cs typeface="Calibri"/>
              <a:sym typeface="Calibri"/>
            </a:endParaRPr>
          </a:p>
        </p:txBody>
      </p:sp>
      <p:sp>
        <p:nvSpPr>
          <p:cNvPr id="137" name="Google Shape;137;p13"/>
          <p:cNvSpPr/>
          <p:nvPr/>
        </p:nvSpPr>
        <p:spPr>
          <a:xfrm>
            <a:off x="798286" y="1042530"/>
            <a:ext cx="10134002" cy="52715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de-CH" sz="1800" b="1">
                <a:solidFill>
                  <a:schemeClr val="dk1"/>
                </a:solidFill>
                <a:latin typeface="Calibri"/>
                <a:ea typeface="Calibri"/>
                <a:cs typeface="Calibri"/>
                <a:sym typeface="Calibri"/>
              </a:rPr>
              <a:t>Methodology:</a:t>
            </a:r>
            <a:r>
              <a:rPr lang="de-CH" sz="1800">
                <a:solidFill>
                  <a:schemeClr val="dk1"/>
                </a:solidFill>
                <a:latin typeface="Calibri"/>
                <a:ea typeface="Calibri"/>
                <a:cs typeface="Calibri"/>
                <a:sym typeface="Calibri"/>
              </a:rPr>
              <a:t> Spatially explicit, expert-based Bayesian network</a:t>
            </a:r>
            <a:endParaRPr/>
          </a:p>
        </p:txBody>
      </p:sp>
      <p:pic>
        <p:nvPicPr>
          <p:cNvPr id="138" name="Google Shape;138;p13" descr="Lupe mit einfarbiger Füllung"/>
          <p:cNvPicPr preferRelativeResize="0"/>
          <p:nvPr/>
        </p:nvPicPr>
        <p:blipFill rotWithShape="1">
          <a:blip r:embed="rId3">
            <a:alphaModFix/>
          </a:blip>
          <a:srcRect/>
          <a:stretch/>
        </p:blipFill>
        <p:spPr>
          <a:xfrm>
            <a:off x="322540" y="1104049"/>
            <a:ext cx="479130" cy="479130"/>
          </a:xfrm>
          <a:prstGeom prst="rect">
            <a:avLst/>
          </a:prstGeom>
          <a:noFill/>
          <a:ln>
            <a:noFill/>
          </a:ln>
        </p:spPr>
      </p:pic>
      <p:pic>
        <p:nvPicPr>
          <p:cNvPr id="139" name="Google Shape;139;p13" descr="Fragezeichen mit einfarbiger Füllung"/>
          <p:cNvPicPr preferRelativeResize="0"/>
          <p:nvPr/>
        </p:nvPicPr>
        <p:blipFill rotWithShape="1">
          <a:blip r:embed="rId4">
            <a:alphaModFix/>
          </a:blip>
          <a:srcRect/>
          <a:stretch/>
        </p:blipFill>
        <p:spPr>
          <a:xfrm>
            <a:off x="322540" y="369134"/>
            <a:ext cx="366824" cy="366824"/>
          </a:xfrm>
          <a:prstGeom prst="rect">
            <a:avLst/>
          </a:prstGeom>
          <a:noFill/>
          <a:ln>
            <a:noFill/>
          </a:ln>
        </p:spPr>
      </p:pic>
      <p:sp>
        <p:nvSpPr>
          <p:cNvPr id="140" name="Google Shape;140;p13"/>
          <p:cNvSpPr txBox="1"/>
          <p:nvPr/>
        </p:nvSpPr>
        <p:spPr>
          <a:xfrm>
            <a:off x="7760991" y="5709115"/>
            <a:ext cx="3813658" cy="52322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Calibri"/>
                <a:ea typeface="Calibri"/>
                <a:cs typeface="Calibri"/>
                <a:sym typeface="Calibri"/>
              </a:rPr>
              <a:t>*Suitability = minimal decrease in ES, or potential increase, due to PV.</a:t>
            </a:r>
            <a:endParaRPr/>
          </a:p>
        </p:txBody>
      </p:sp>
      <p:pic>
        <p:nvPicPr>
          <p:cNvPr id="141" name="Google Shape;141;p13"/>
          <p:cNvPicPr preferRelativeResize="0"/>
          <p:nvPr/>
        </p:nvPicPr>
        <p:blipFill rotWithShape="1">
          <a:blip r:embed="rId5">
            <a:alphaModFix/>
          </a:blip>
          <a:srcRect/>
          <a:stretch/>
        </p:blipFill>
        <p:spPr>
          <a:xfrm>
            <a:off x="9114820" y="1410966"/>
            <a:ext cx="923700" cy="277111"/>
          </a:xfrm>
          <a:prstGeom prst="rect">
            <a:avLst/>
          </a:prstGeom>
          <a:noFill/>
          <a:ln>
            <a:noFill/>
          </a:ln>
        </p:spPr>
      </p:pic>
      <p:sp>
        <p:nvSpPr>
          <p:cNvPr id="142" name="Google Shape;142;p13"/>
          <p:cNvSpPr txBox="1"/>
          <p:nvPr/>
        </p:nvSpPr>
        <p:spPr>
          <a:xfrm>
            <a:off x="9047910" y="1122740"/>
            <a:ext cx="14238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a:solidFill>
                  <a:schemeClr val="dk1"/>
                </a:solidFill>
                <a:latin typeface="Arial"/>
                <a:ea typeface="Arial"/>
                <a:cs typeface="Arial"/>
                <a:sym typeface="Arial"/>
              </a:rPr>
              <a:t>Netica </a:t>
            </a:r>
            <a:endParaRPr sz="1600">
              <a:solidFill>
                <a:schemeClr val="dk1"/>
              </a:solidFill>
              <a:latin typeface="Arial"/>
              <a:ea typeface="Arial"/>
              <a:cs typeface="Arial"/>
              <a:sym typeface="Arial"/>
            </a:endParaRPr>
          </a:p>
        </p:txBody>
      </p:sp>
      <p:sp>
        <p:nvSpPr>
          <p:cNvPr id="143" name="Google Shape;143;p13"/>
          <p:cNvSpPr/>
          <p:nvPr/>
        </p:nvSpPr>
        <p:spPr>
          <a:xfrm>
            <a:off x="658599" y="2809107"/>
            <a:ext cx="1938528" cy="716811"/>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impact on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144" name="Google Shape;144;p13"/>
          <p:cNvSpPr/>
          <p:nvPr/>
        </p:nvSpPr>
        <p:spPr>
          <a:xfrm>
            <a:off x="2760956" y="2817565"/>
            <a:ext cx="1153249"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ES value</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145" name="Google Shape;145;p13"/>
          <p:cNvSpPr/>
          <p:nvPr/>
        </p:nvSpPr>
        <p:spPr>
          <a:xfrm>
            <a:off x="1385792" y="4196764"/>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Change in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cxnSp>
        <p:nvCxnSpPr>
          <p:cNvPr id="146" name="Google Shape;146;p13"/>
          <p:cNvCxnSpPr>
            <a:stCxn id="145" idx="2"/>
            <a:endCxn id="147" idx="0"/>
          </p:cNvCxnSpPr>
          <p:nvPr/>
        </p:nvCxnSpPr>
        <p:spPr>
          <a:xfrm>
            <a:off x="2355056" y="4913575"/>
            <a:ext cx="15300" cy="488400"/>
          </a:xfrm>
          <a:prstGeom prst="straightConnector1">
            <a:avLst/>
          </a:prstGeom>
          <a:noFill/>
          <a:ln w="28575" cap="flat" cmpd="sng">
            <a:solidFill>
              <a:schemeClr val="dk1"/>
            </a:solidFill>
            <a:prstDash val="solid"/>
            <a:miter lim="800000"/>
            <a:headEnd type="none" w="sm" len="sm"/>
            <a:tailEnd type="triangle" w="med" len="med"/>
          </a:ln>
        </p:spPr>
      </p:cxnSp>
      <p:cxnSp>
        <p:nvCxnSpPr>
          <p:cNvPr id="148" name="Google Shape;148;p13"/>
          <p:cNvCxnSpPr>
            <a:stCxn id="143" idx="2"/>
            <a:endCxn id="145" idx="0"/>
          </p:cNvCxnSpPr>
          <p:nvPr/>
        </p:nvCxnSpPr>
        <p:spPr>
          <a:xfrm>
            <a:off x="1627863" y="3525918"/>
            <a:ext cx="727200" cy="670800"/>
          </a:xfrm>
          <a:prstGeom prst="straightConnector1">
            <a:avLst/>
          </a:prstGeom>
          <a:noFill/>
          <a:ln w="28575" cap="flat" cmpd="sng">
            <a:solidFill>
              <a:schemeClr val="dk1"/>
            </a:solidFill>
            <a:prstDash val="solid"/>
            <a:miter lim="800000"/>
            <a:headEnd type="none" w="sm" len="sm"/>
            <a:tailEnd type="triangle" w="med" len="med"/>
          </a:ln>
        </p:spPr>
      </p:cxnSp>
      <p:cxnSp>
        <p:nvCxnSpPr>
          <p:cNvPr id="149" name="Google Shape;149;p13"/>
          <p:cNvCxnSpPr>
            <a:stCxn id="144" idx="2"/>
            <a:endCxn id="145" idx="0"/>
          </p:cNvCxnSpPr>
          <p:nvPr/>
        </p:nvCxnSpPr>
        <p:spPr>
          <a:xfrm flipH="1">
            <a:off x="2355081" y="3534376"/>
            <a:ext cx="982500" cy="662400"/>
          </a:xfrm>
          <a:prstGeom prst="straightConnector1">
            <a:avLst/>
          </a:prstGeom>
          <a:noFill/>
          <a:ln w="28575" cap="flat" cmpd="sng">
            <a:solidFill>
              <a:schemeClr val="dk1"/>
            </a:solidFill>
            <a:prstDash val="solid"/>
            <a:miter lim="800000"/>
            <a:headEnd type="none" w="sm" len="sm"/>
            <a:tailEnd type="triangle" w="med" len="med"/>
          </a:ln>
        </p:spPr>
      </p:cxnSp>
      <p:sp>
        <p:nvSpPr>
          <p:cNvPr id="147" name="Google Shape;147;p13"/>
          <p:cNvSpPr/>
          <p:nvPr/>
        </p:nvSpPr>
        <p:spPr>
          <a:xfrm>
            <a:off x="1401216" y="5402043"/>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Suitability*</a:t>
            </a:r>
            <a:endParaRPr sz="2400" baseline="-25000">
              <a:solidFill>
                <a:schemeClr val="dk1"/>
              </a:solidFill>
              <a:latin typeface="Calibri"/>
              <a:ea typeface="Calibri"/>
              <a:cs typeface="Calibri"/>
              <a:sym typeface="Calibri"/>
            </a:endParaRPr>
          </a:p>
        </p:txBody>
      </p:sp>
      <p:sp>
        <p:nvSpPr>
          <p:cNvPr id="150" name="Google Shape;150;p13"/>
          <p:cNvSpPr/>
          <p:nvPr/>
        </p:nvSpPr>
        <p:spPr>
          <a:xfrm>
            <a:off x="658599" y="1880021"/>
            <a:ext cx="1938528" cy="720715"/>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LULC </a:t>
            </a:r>
            <a:endParaRPr sz="2400" baseline="-25000">
              <a:solidFill>
                <a:schemeClr val="dk1"/>
              </a:solidFill>
              <a:latin typeface="Calibri"/>
              <a:ea typeface="Calibri"/>
              <a:cs typeface="Calibri"/>
              <a:sym typeface="Calibri"/>
            </a:endParaRPr>
          </a:p>
        </p:txBody>
      </p:sp>
      <p:cxnSp>
        <p:nvCxnSpPr>
          <p:cNvPr id="151" name="Google Shape;151;p13"/>
          <p:cNvCxnSpPr>
            <a:stCxn id="150" idx="2"/>
            <a:endCxn id="143" idx="0"/>
          </p:cNvCxnSpPr>
          <p:nvPr/>
        </p:nvCxnSpPr>
        <p:spPr>
          <a:xfrm>
            <a:off x="1627863" y="2600736"/>
            <a:ext cx="0" cy="208500"/>
          </a:xfrm>
          <a:prstGeom prst="straightConnector1">
            <a:avLst/>
          </a:prstGeom>
          <a:noFill/>
          <a:ln w="28575" cap="flat" cmpd="sng">
            <a:solidFill>
              <a:schemeClr val="dk1"/>
            </a:solidFill>
            <a:prstDash val="solid"/>
            <a:miter lim="800000"/>
            <a:headEnd type="none" w="sm" len="sm"/>
            <a:tailEnd type="triangle" w="med" len="med"/>
          </a:ln>
        </p:spPr>
      </p:cxnSp>
      <p:sp>
        <p:nvSpPr>
          <p:cNvPr id="152" name="Google Shape;152;p13"/>
          <p:cNvSpPr/>
          <p:nvPr/>
        </p:nvSpPr>
        <p:spPr>
          <a:xfrm>
            <a:off x="6227881" y="2372562"/>
            <a:ext cx="5346768" cy="664718"/>
          </a:xfrm>
          <a:prstGeom prst="rect">
            <a:avLst/>
          </a:prstGeom>
          <a:solidFill>
            <a:srgbClr val="FFFFFF"/>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3" name="Google Shape;153;p13"/>
          <p:cNvPicPr preferRelativeResize="0"/>
          <p:nvPr/>
        </p:nvPicPr>
        <p:blipFill rotWithShape="1">
          <a:blip r:embed="rId6">
            <a:alphaModFix/>
          </a:blip>
          <a:srcRect/>
          <a:stretch/>
        </p:blipFill>
        <p:spPr>
          <a:xfrm>
            <a:off x="9149037" y="2515730"/>
            <a:ext cx="448114" cy="500001"/>
          </a:xfrm>
          <a:prstGeom prst="rect">
            <a:avLst/>
          </a:prstGeom>
          <a:noFill/>
          <a:ln>
            <a:noFill/>
          </a:ln>
        </p:spPr>
      </p:pic>
      <p:sp>
        <p:nvSpPr>
          <p:cNvPr id="154" name="Google Shape;154;p13"/>
          <p:cNvSpPr txBox="1"/>
          <p:nvPr/>
        </p:nvSpPr>
        <p:spPr>
          <a:xfrm>
            <a:off x="6896866" y="2552908"/>
            <a:ext cx="108568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nodes</a:t>
            </a:r>
            <a:endParaRPr sz="1400">
              <a:solidFill>
                <a:schemeClr val="dk1"/>
              </a:solidFill>
              <a:latin typeface="Arial"/>
              <a:ea typeface="Arial"/>
              <a:cs typeface="Arial"/>
              <a:sym typeface="Arial"/>
            </a:endParaRPr>
          </a:p>
        </p:txBody>
      </p:sp>
      <p:cxnSp>
        <p:nvCxnSpPr>
          <p:cNvPr id="155" name="Google Shape;155;p13"/>
          <p:cNvCxnSpPr/>
          <p:nvPr/>
        </p:nvCxnSpPr>
        <p:spPr>
          <a:xfrm>
            <a:off x="7731564" y="2702821"/>
            <a:ext cx="408691" cy="2891"/>
          </a:xfrm>
          <a:prstGeom prst="straightConnector1">
            <a:avLst/>
          </a:prstGeom>
          <a:noFill/>
          <a:ln w="19050" cap="flat" cmpd="sng">
            <a:solidFill>
              <a:schemeClr val="dk1"/>
            </a:solidFill>
            <a:prstDash val="solid"/>
            <a:miter lim="800000"/>
            <a:headEnd type="none" w="sm" len="sm"/>
            <a:tailEnd type="triangle" w="med" len="med"/>
          </a:ln>
        </p:spPr>
      </p:cxnSp>
      <p:sp>
        <p:nvSpPr>
          <p:cNvPr id="156" name="Google Shape;156;p13"/>
          <p:cNvSpPr txBox="1"/>
          <p:nvPr/>
        </p:nvSpPr>
        <p:spPr>
          <a:xfrm>
            <a:off x="8128220" y="2528672"/>
            <a:ext cx="111728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edges</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p:txBody>
      </p:sp>
      <p:pic>
        <p:nvPicPr>
          <p:cNvPr id="157" name="Google Shape;157;p13" descr="Balkendiagramm Silhouette"/>
          <p:cNvPicPr preferRelativeResize="0"/>
          <p:nvPr/>
        </p:nvPicPr>
        <p:blipFill rotWithShape="1">
          <a:blip r:embed="rId7">
            <a:alphaModFix/>
          </a:blip>
          <a:srcRect/>
          <a:stretch/>
        </p:blipFill>
        <p:spPr>
          <a:xfrm>
            <a:off x="8888190" y="2372974"/>
            <a:ext cx="484904" cy="484904"/>
          </a:xfrm>
          <a:prstGeom prst="rect">
            <a:avLst/>
          </a:prstGeom>
          <a:noFill/>
          <a:ln>
            <a:noFill/>
          </a:ln>
        </p:spPr>
      </p:pic>
      <p:sp>
        <p:nvSpPr>
          <p:cNvPr id="158" name="Google Shape;158;p13"/>
          <p:cNvSpPr txBox="1"/>
          <p:nvPr/>
        </p:nvSpPr>
        <p:spPr>
          <a:xfrm>
            <a:off x="9685417" y="2432927"/>
            <a:ext cx="2440166" cy="800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Conditional probability </a:t>
            </a:r>
            <a:endParaRPr/>
          </a:p>
          <a:p>
            <a:pPr marL="0" marR="0" lvl="0" indent="0" algn="l" rtl="0">
              <a:spcBef>
                <a:spcPts val="0"/>
              </a:spcBef>
              <a:spcAft>
                <a:spcPts val="0"/>
              </a:spcAft>
              <a:buNone/>
            </a:pPr>
            <a:r>
              <a:rPr lang="de-CH" sz="1400">
                <a:solidFill>
                  <a:schemeClr val="dk1"/>
                </a:solidFill>
                <a:latin typeface="Arial"/>
                <a:ea typeface="Arial"/>
                <a:cs typeface="Arial"/>
                <a:sym typeface="Arial"/>
              </a:rPr>
              <a:t>table (CPT)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9" name="Google Shape;159;p13"/>
          <p:cNvSpPr/>
          <p:nvPr/>
        </p:nvSpPr>
        <p:spPr>
          <a:xfrm>
            <a:off x="6361015" y="2535616"/>
            <a:ext cx="542201" cy="370795"/>
          </a:xfrm>
          <a:prstGeom prst="rect">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60" name="Google Shape;160;p13"/>
          <p:cNvPicPr preferRelativeResize="0"/>
          <p:nvPr/>
        </p:nvPicPr>
        <p:blipFill rotWithShape="1">
          <a:blip r:embed="rId8">
            <a:alphaModFix/>
          </a:blip>
          <a:srcRect/>
          <a:stretch/>
        </p:blipFill>
        <p:spPr>
          <a:xfrm>
            <a:off x="5675744" y="6284098"/>
            <a:ext cx="840512" cy="5722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4"/>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167" name="Google Shape;167;p14"/>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168" name="Google Shape;168;p14"/>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6</a:t>
            </a:fld>
            <a:endParaRPr/>
          </a:p>
        </p:txBody>
      </p:sp>
      <p:sp>
        <p:nvSpPr>
          <p:cNvPr id="169" name="Google Shape;169;p14"/>
          <p:cNvSpPr/>
          <p:nvPr/>
        </p:nvSpPr>
        <p:spPr>
          <a:xfrm>
            <a:off x="0" y="171959"/>
            <a:ext cx="12192000" cy="806420"/>
          </a:xfrm>
          <a:prstGeom prst="rect">
            <a:avLst/>
          </a:prstGeom>
          <a:solidFill>
            <a:srgbClr val="E2F0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14"/>
          <p:cNvSpPr txBox="1"/>
          <p:nvPr/>
        </p:nvSpPr>
        <p:spPr>
          <a:xfrm>
            <a:off x="798286" y="246286"/>
            <a:ext cx="1103930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800" b="1">
                <a:solidFill>
                  <a:schemeClr val="dk1"/>
                </a:solidFill>
                <a:latin typeface="Calibri"/>
                <a:ea typeface="Calibri"/>
                <a:cs typeface="Calibri"/>
                <a:sym typeface="Calibri"/>
              </a:rPr>
              <a:t>Research question: </a:t>
            </a:r>
            <a:r>
              <a:rPr lang="de-CH" sz="1800">
                <a:solidFill>
                  <a:schemeClr val="dk1"/>
                </a:solidFill>
                <a:latin typeface="Calibri"/>
                <a:ea typeface="Calibri"/>
                <a:cs typeface="Calibri"/>
                <a:sym typeface="Calibri"/>
              </a:rPr>
              <a:t>How does the integration of uncertainties in ecosystem services (ES) assessments influence </a:t>
            </a:r>
            <a:endParaRPr/>
          </a:p>
          <a:p>
            <a:pPr marL="0" marR="0" lvl="0" indent="0" algn="l" rtl="0">
              <a:spcBef>
                <a:spcPts val="0"/>
              </a:spcBef>
              <a:spcAft>
                <a:spcPts val="0"/>
              </a:spcAft>
              <a:buNone/>
            </a:pPr>
            <a:r>
              <a:rPr lang="de-CH" sz="1800">
                <a:solidFill>
                  <a:schemeClr val="dk1"/>
                </a:solidFill>
                <a:latin typeface="Calibri"/>
                <a:ea typeface="Calibri"/>
                <a:cs typeface="Calibri"/>
                <a:sym typeface="Calibri"/>
              </a:rPr>
              <a:t>siting of ground-mounted solar PV systems?</a:t>
            </a:r>
            <a:endParaRPr sz="1800" i="1">
              <a:solidFill>
                <a:schemeClr val="dk1"/>
              </a:solidFill>
              <a:latin typeface="Calibri"/>
              <a:ea typeface="Calibri"/>
              <a:cs typeface="Calibri"/>
              <a:sym typeface="Calibri"/>
            </a:endParaRPr>
          </a:p>
        </p:txBody>
      </p:sp>
      <p:sp>
        <p:nvSpPr>
          <p:cNvPr id="171" name="Google Shape;171;p14"/>
          <p:cNvSpPr/>
          <p:nvPr/>
        </p:nvSpPr>
        <p:spPr>
          <a:xfrm>
            <a:off x="798286" y="1042530"/>
            <a:ext cx="10134002" cy="52715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de-CH" sz="1800" b="1">
                <a:solidFill>
                  <a:schemeClr val="dk1"/>
                </a:solidFill>
                <a:latin typeface="Calibri"/>
                <a:ea typeface="Calibri"/>
                <a:cs typeface="Calibri"/>
                <a:sym typeface="Calibri"/>
              </a:rPr>
              <a:t>Methodology:</a:t>
            </a:r>
            <a:r>
              <a:rPr lang="de-CH" sz="1800">
                <a:solidFill>
                  <a:schemeClr val="dk1"/>
                </a:solidFill>
                <a:latin typeface="Calibri"/>
                <a:ea typeface="Calibri"/>
                <a:cs typeface="Calibri"/>
                <a:sym typeface="Calibri"/>
              </a:rPr>
              <a:t> Spatially explicit, expert-based Bayesian network</a:t>
            </a:r>
            <a:endParaRPr/>
          </a:p>
        </p:txBody>
      </p:sp>
      <p:pic>
        <p:nvPicPr>
          <p:cNvPr id="172" name="Google Shape;172;p14" descr="Lupe mit einfarbiger Füllung"/>
          <p:cNvPicPr preferRelativeResize="0"/>
          <p:nvPr/>
        </p:nvPicPr>
        <p:blipFill rotWithShape="1">
          <a:blip r:embed="rId3">
            <a:alphaModFix/>
          </a:blip>
          <a:srcRect/>
          <a:stretch/>
        </p:blipFill>
        <p:spPr>
          <a:xfrm>
            <a:off x="322540" y="1104049"/>
            <a:ext cx="479130" cy="479130"/>
          </a:xfrm>
          <a:prstGeom prst="rect">
            <a:avLst/>
          </a:prstGeom>
          <a:noFill/>
          <a:ln>
            <a:noFill/>
          </a:ln>
        </p:spPr>
      </p:pic>
      <p:pic>
        <p:nvPicPr>
          <p:cNvPr id="173" name="Google Shape;173;p14" descr="Fragezeichen mit einfarbiger Füllung"/>
          <p:cNvPicPr preferRelativeResize="0"/>
          <p:nvPr/>
        </p:nvPicPr>
        <p:blipFill rotWithShape="1">
          <a:blip r:embed="rId4">
            <a:alphaModFix/>
          </a:blip>
          <a:srcRect/>
          <a:stretch/>
        </p:blipFill>
        <p:spPr>
          <a:xfrm>
            <a:off x="322540" y="369134"/>
            <a:ext cx="366824" cy="366824"/>
          </a:xfrm>
          <a:prstGeom prst="rect">
            <a:avLst/>
          </a:prstGeom>
          <a:noFill/>
          <a:ln>
            <a:noFill/>
          </a:ln>
        </p:spPr>
      </p:pic>
      <p:sp>
        <p:nvSpPr>
          <p:cNvPr id="174" name="Google Shape;174;p14"/>
          <p:cNvSpPr txBox="1"/>
          <p:nvPr/>
        </p:nvSpPr>
        <p:spPr>
          <a:xfrm>
            <a:off x="7760991" y="5709115"/>
            <a:ext cx="3813658" cy="52322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Calibri"/>
                <a:ea typeface="Calibri"/>
                <a:cs typeface="Calibri"/>
                <a:sym typeface="Calibri"/>
              </a:rPr>
              <a:t>*Suitability = minimal decrease in ES, or potential increase, due to PV.</a:t>
            </a:r>
            <a:endParaRPr/>
          </a:p>
        </p:txBody>
      </p:sp>
      <p:pic>
        <p:nvPicPr>
          <p:cNvPr id="175" name="Google Shape;175;p14"/>
          <p:cNvPicPr preferRelativeResize="0"/>
          <p:nvPr/>
        </p:nvPicPr>
        <p:blipFill rotWithShape="1">
          <a:blip r:embed="rId5">
            <a:alphaModFix/>
          </a:blip>
          <a:srcRect/>
          <a:stretch/>
        </p:blipFill>
        <p:spPr>
          <a:xfrm>
            <a:off x="9114820" y="1410966"/>
            <a:ext cx="923700" cy="277111"/>
          </a:xfrm>
          <a:prstGeom prst="rect">
            <a:avLst/>
          </a:prstGeom>
          <a:noFill/>
          <a:ln>
            <a:noFill/>
          </a:ln>
        </p:spPr>
      </p:pic>
      <p:sp>
        <p:nvSpPr>
          <p:cNvPr id="176" name="Google Shape;176;p14"/>
          <p:cNvSpPr txBox="1"/>
          <p:nvPr/>
        </p:nvSpPr>
        <p:spPr>
          <a:xfrm>
            <a:off x="9047910" y="1122740"/>
            <a:ext cx="14238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a:solidFill>
                  <a:schemeClr val="dk1"/>
                </a:solidFill>
                <a:latin typeface="Arial"/>
                <a:ea typeface="Arial"/>
                <a:cs typeface="Arial"/>
                <a:sym typeface="Arial"/>
              </a:rPr>
              <a:t>Netica </a:t>
            </a:r>
            <a:endParaRPr sz="1600">
              <a:solidFill>
                <a:schemeClr val="dk1"/>
              </a:solidFill>
              <a:latin typeface="Arial"/>
              <a:ea typeface="Arial"/>
              <a:cs typeface="Arial"/>
              <a:sym typeface="Arial"/>
            </a:endParaRPr>
          </a:p>
        </p:txBody>
      </p:sp>
      <p:sp>
        <p:nvSpPr>
          <p:cNvPr id="177" name="Google Shape;177;p14"/>
          <p:cNvSpPr/>
          <p:nvPr/>
        </p:nvSpPr>
        <p:spPr>
          <a:xfrm>
            <a:off x="658599" y="2809107"/>
            <a:ext cx="1938528" cy="716811"/>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impact on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178" name="Google Shape;178;p14"/>
          <p:cNvSpPr/>
          <p:nvPr/>
        </p:nvSpPr>
        <p:spPr>
          <a:xfrm>
            <a:off x="2760956" y="2817565"/>
            <a:ext cx="1153249"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ES value</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179" name="Google Shape;179;p14"/>
          <p:cNvSpPr/>
          <p:nvPr/>
        </p:nvSpPr>
        <p:spPr>
          <a:xfrm>
            <a:off x="1385792" y="4196764"/>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Change in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cxnSp>
        <p:nvCxnSpPr>
          <p:cNvPr id="180" name="Google Shape;180;p14"/>
          <p:cNvCxnSpPr>
            <a:stCxn id="179" idx="2"/>
            <a:endCxn id="181" idx="0"/>
          </p:cNvCxnSpPr>
          <p:nvPr/>
        </p:nvCxnSpPr>
        <p:spPr>
          <a:xfrm>
            <a:off x="2355056" y="4913575"/>
            <a:ext cx="15300" cy="488400"/>
          </a:xfrm>
          <a:prstGeom prst="straightConnector1">
            <a:avLst/>
          </a:prstGeom>
          <a:noFill/>
          <a:ln w="28575" cap="flat" cmpd="sng">
            <a:solidFill>
              <a:schemeClr val="dk1"/>
            </a:solidFill>
            <a:prstDash val="solid"/>
            <a:miter lim="800000"/>
            <a:headEnd type="none" w="sm" len="sm"/>
            <a:tailEnd type="triangle" w="med" len="med"/>
          </a:ln>
        </p:spPr>
      </p:cxnSp>
      <p:cxnSp>
        <p:nvCxnSpPr>
          <p:cNvPr id="182" name="Google Shape;182;p14"/>
          <p:cNvCxnSpPr>
            <a:stCxn id="177" idx="2"/>
            <a:endCxn id="179" idx="0"/>
          </p:cNvCxnSpPr>
          <p:nvPr/>
        </p:nvCxnSpPr>
        <p:spPr>
          <a:xfrm>
            <a:off x="1627863" y="3525918"/>
            <a:ext cx="727200" cy="670800"/>
          </a:xfrm>
          <a:prstGeom prst="straightConnector1">
            <a:avLst/>
          </a:prstGeom>
          <a:noFill/>
          <a:ln w="28575" cap="flat" cmpd="sng">
            <a:solidFill>
              <a:schemeClr val="dk1"/>
            </a:solidFill>
            <a:prstDash val="solid"/>
            <a:miter lim="800000"/>
            <a:headEnd type="none" w="sm" len="sm"/>
            <a:tailEnd type="triangle" w="med" len="med"/>
          </a:ln>
        </p:spPr>
      </p:cxnSp>
      <p:cxnSp>
        <p:nvCxnSpPr>
          <p:cNvPr id="183" name="Google Shape;183;p14"/>
          <p:cNvCxnSpPr>
            <a:stCxn id="178" idx="2"/>
            <a:endCxn id="179" idx="0"/>
          </p:cNvCxnSpPr>
          <p:nvPr/>
        </p:nvCxnSpPr>
        <p:spPr>
          <a:xfrm flipH="1">
            <a:off x="2355081" y="3534376"/>
            <a:ext cx="982500" cy="662400"/>
          </a:xfrm>
          <a:prstGeom prst="straightConnector1">
            <a:avLst/>
          </a:prstGeom>
          <a:noFill/>
          <a:ln w="28575" cap="flat" cmpd="sng">
            <a:solidFill>
              <a:schemeClr val="dk1"/>
            </a:solidFill>
            <a:prstDash val="solid"/>
            <a:miter lim="800000"/>
            <a:headEnd type="none" w="sm" len="sm"/>
            <a:tailEnd type="triangle" w="med" len="med"/>
          </a:ln>
        </p:spPr>
      </p:cxnSp>
      <p:sp>
        <p:nvSpPr>
          <p:cNvPr id="181" name="Google Shape;181;p14"/>
          <p:cNvSpPr/>
          <p:nvPr/>
        </p:nvSpPr>
        <p:spPr>
          <a:xfrm>
            <a:off x="1401216" y="5402043"/>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Suitability*</a:t>
            </a:r>
            <a:endParaRPr sz="2400" baseline="-25000">
              <a:solidFill>
                <a:schemeClr val="dk1"/>
              </a:solidFill>
              <a:latin typeface="Calibri"/>
              <a:ea typeface="Calibri"/>
              <a:cs typeface="Calibri"/>
              <a:sym typeface="Calibri"/>
            </a:endParaRPr>
          </a:p>
        </p:txBody>
      </p:sp>
      <p:sp>
        <p:nvSpPr>
          <p:cNvPr id="184" name="Google Shape;184;p14"/>
          <p:cNvSpPr/>
          <p:nvPr/>
        </p:nvSpPr>
        <p:spPr>
          <a:xfrm>
            <a:off x="658599" y="1880021"/>
            <a:ext cx="1938528" cy="720715"/>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LULC </a:t>
            </a:r>
            <a:endParaRPr sz="2400" baseline="-25000">
              <a:solidFill>
                <a:schemeClr val="dk1"/>
              </a:solidFill>
              <a:latin typeface="Calibri"/>
              <a:ea typeface="Calibri"/>
              <a:cs typeface="Calibri"/>
              <a:sym typeface="Calibri"/>
            </a:endParaRPr>
          </a:p>
        </p:txBody>
      </p:sp>
      <p:cxnSp>
        <p:nvCxnSpPr>
          <p:cNvPr id="185" name="Google Shape;185;p14"/>
          <p:cNvCxnSpPr>
            <a:stCxn id="184" idx="2"/>
            <a:endCxn id="177" idx="0"/>
          </p:cNvCxnSpPr>
          <p:nvPr/>
        </p:nvCxnSpPr>
        <p:spPr>
          <a:xfrm>
            <a:off x="1627863" y="2600736"/>
            <a:ext cx="0" cy="208500"/>
          </a:xfrm>
          <a:prstGeom prst="straightConnector1">
            <a:avLst/>
          </a:prstGeom>
          <a:noFill/>
          <a:ln w="28575" cap="flat" cmpd="sng">
            <a:solidFill>
              <a:schemeClr val="dk1"/>
            </a:solidFill>
            <a:prstDash val="solid"/>
            <a:miter lim="800000"/>
            <a:headEnd type="none" w="sm" len="sm"/>
            <a:tailEnd type="triangle" w="med" len="med"/>
          </a:ln>
        </p:spPr>
      </p:cxnSp>
      <p:sp>
        <p:nvSpPr>
          <p:cNvPr id="186" name="Google Shape;186;p14"/>
          <p:cNvSpPr/>
          <p:nvPr/>
        </p:nvSpPr>
        <p:spPr>
          <a:xfrm>
            <a:off x="6227881" y="2372562"/>
            <a:ext cx="5346768" cy="664718"/>
          </a:xfrm>
          <a:prstGeom prst="rect">
            <a:avLst/>
          </a:prstGeom>
          <a:solidFill>
            <a:srgbClr val="FFFFFF"/>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87" name="Google Shape;187;p14"/>
          <p:cNvPicPr preferRelativeResize="0"/>
          <p:nvPr/>
        </p:nvPicPr>
        <p:blipFill rotWithShape="1">
          <a:blip r:embed="rId6">
            <a:alphaModFix/>
          </a:blip>
          <a:srcRect/>
          <a:stretch/>
        </p:blipFill>
        <p:spPr>
          <a:xfrm>
            <a:off x="9149037" y="2515730"/>
            <a:ext cx="448114" cy="500001"/>
          </a:xfrm>
          <a:prstGeom prst="rect">
            <a:avLst/>
          </a:prstGeom>
          <a:noFill/>
          <a:ln>
            <a:noFill/>
          </a:ln>
        </p:spPr>
      </p:pic>
      <p:sp>
        <p:nvSpPr>
          <p:cNvPr id="188" name="Google Shape;188;p14"/>
          <p:cNvSpPr txBox="1"/>
          <p:nvPr/>
        </p:nvSpPr>
        <p:spPr>
          <a:xfrm>
            <a:off x="6896866" y="2552908"/>
            <a:ext cx="108568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nodes</a:t>
            </a:r>
            <a:endParaRPr sz="1400">
              <a:solidFill>
                <a:schemeClr val="dk1"/>
              </a:solidFill>
              <a:latin typeface="Arial"/>
              <a:ea typeface="Arial"/>
              <a:cs typeface="Arial"/>
              <a:sym typeface="Arial"/>
            </a:endParaRPr>
          </a:p>
        </p:txBody>
      </p:sp>
      <p:cxnSp>
        <p:nvCxnSpPr>
          <p:cNvPr id="189" name="Google Shape;189;p14"/>
          <p:cNvCxnSpPr/>
          <p:nvPr/>
        </p:nvCxnSpPr>
        <p:spPr>
          <a:xfrm>
            <a:off x="7731564" y="2702821"/>
            <a:ext cx="408691" cy="2891"/>
          </a:xfrm>
          <a:prstGeom prst="straightConnector1">
            <a:avLst/>
          </a:prstGeom>
          <a:noFill/>
          <a:ln w="19050" cap="flat" cmpd="sng">
            <a:solidFill>
              <a:schemeClr val="dk1"/>
            </a:solidFill>
            <a:prstDash val="solid"/>
            <a:miter lim="800000"/>
            <a:headEnd type="none" w="sm" len="sm"/>
            <a:tailEnd type="triangle" w="med" len="med"/>
          </a:ln>
        </p:spPr>
      </p:cxnSp>
      <p:sp>
        <p:nvSpPr>
          <p:cNvPr id="190" name="Google Shape;190;p14"/>
          <p:cNvSpPr txBox="1"/>
          <p:nvPr/>
        </p:nvSpPr>
        <p:spPr>
          <a:xfrm>
            <a:off x="8128220" y="2528672"/>
            <a:ext cx="111728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edges</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p:txBody>
      </p:sp>
      <p:pic>
        <p:nvPicPr>
          <p:cNvPr id="191" name="Google Shape;191;p14" descr="Balkendiagramm Silhouette"/>
          <p:cNvPicPr preferRelativeResize="0"/>
          <p:nvPr/>
        </p:nvPicPr>
        <p:blipFill rotWithShape="1">
          <a:blip r:embed="rId7">
            <a:alphaModFix/>
          </a:blip>
          <a:srcRect/>
          <a:stretch/>
        </p:blipFill>
        <p:spPr>
          <a:xfrm>
            <a:off x="8888190" y="2372974"/>
            <a:ext cx="484904" cy="484904"/>
          </a:xfrm>
          <a:prstGeom prst="rect">
            <a:avLst/>
          </a:prstGeom>
          <a:noFill/>
          <a:ln>
            <a:noFill/>
          </a:ln>
        </p:spPr>
      </p:pic>
      <p:sp>
        <p:nvSpPr>
          <p:cNvPr id="192" name="Google Shape;192;p14"/>
          <p:cNvSpPr txBox="1"/>
          <p:nvPr/>
        </p:nvSpPr>
        <p:spPr>
          <a:xfrm>
            <a:off x="9685417" y="2432927"/>
            <a:ext cx="2440166" cy="800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Conditional probability </a:t>
            </a:r>
            <a:endParaRPr/>
          </a:p>
          <a:p>
            <a:pPr marL="0" marR="0" lvl="0" indent="0" algn="l" rtl="0">
              <a:spcBef>
                <a:spcPts val="0"/>
              </a:spcBef>
              <a:spcAft>
                <a:spcPts val="0"/>
              </a:spcAft>
              <a:buNone/>
            </a:pPr>
            <a:r>
              <a:rPr lang="de-CH" sz="1400">
                <a:solidFill>
                  <a:schemeClr val="dk1"/>
                </a:solidFill>
                <a:latin typeface="Arial"/>
                <a:ea typeface="Arial"/>
                <a:cs typeface="Arial"/>
                <a:sym typeface="Arial"/>
              </a:rPr>
              <a:t>table (CPT)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4"/>
          <p:cNvSpPr/>
          <p:nvPr/>
        </p:nvSpPr>
        <p:spPr>
          <a:xfrm>
            <a:off x="6361015" y="2535616"/>
            <a:ext cx="542201" cy="370795"/>
          </a:xfrm>
          <a:prstGeom prst="rect">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94" name="Google Shape;194;p14" descr="Raster - Iconfinder"/>
          <p:cNvPicPr preferRelativeResize="0"/>
          <p:nvPr/>
        </p:nvPicPr>
        <p:blipFill rotWithShape="1">
          <a:blip r:embed="rId8">
            <a:alphaModFix/>
          </a:blip>
          <a:srcRect/>
          <a:stretch/>
        </p:blipFill>
        <p:spPr>
          <a:xfrm>
            <a:off x="2714071" y="2001371"/>
            <a:ext cx="499514" cy="499514"/>
          </a:xfrm>
          <a:prstGeom prst="rect">
            <a:avLst/>
          </a:prstGeom>
          <a:noFill/>
          <a:ln>
            <a:noFill/>
          </a:ln>
        </p:spPr>
      </p:pic>
      <p:pic>
        <p:nvPicPr>
          <p:cNvPr id="195" name="Google Shape;195;p14" descr="Raster - Iconfinder"/>
          <p:cNvPicPr preferRelativeResize="0"/>
          <p:nvPr/>
        </p:nvPicPr>
        <p:blipFill rotWithShape="1">
          <a:blip r:embed="rId8">
            <a:alphaModFix/>
          </a:blip>
          <a:srcRect/>
          <a:stretch/>
        </p:blipFill>
        <p:spPr>
          <a:xfrm>
            <a:off x="4000669" y="2932269"/>
            <a:ext cx="499514" cy="499514"/>
          </a:xfrm>
          <a:prstGeom prst="rect">
            <a:avLst/>
          </a:prstGeom>
          <a:noFill/>
          <a:ln>
            <a:noFill/>
          </a:ln>
        </p:spPr>
      </p:pic>
      <p:sp>
        <p:nvSpPr>
          <p:cNvPr id="196" name="Google Shape;196;p14"/>
          <p:cNvSpPr txBox="1"/>
          <p:nvPr/>
        </p:nvSpPr>
        <p:spPr>
          <a:xfrm>
            <a:off x="3227387" y="2105469"/>
            <a:ext cx="1401239" cy="3231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Arial"/>
                <a:ea typeface="Arial"/>
                <a:cs typeface="Arial"/>
                <a:sym typeface="Arial"/>
              </a:rPr>
              <a:t>LULC Map </a:t>
            </a:r>
            <a:endParaRPr sz="1500">
              <a:solidFill>
                <a:schemeClr val="dk1"/>
              </a:solidFill>
              <a:latin typeface="Arial"/>
              <a:ea typeface="Arial"/>
              <a:cs typeface="Arial"/>
              <a:sym typeface="Arial"/>
            </a:endParaRPr>
          </a:p>
        </p:txBody>
      </p:sp>
      <p:sp>
        <p:nvSpPr>
          <p:cNvPr id="197" name="Google Shape;197;p14"/>
          <p:cNvSpPr txBox="1"/>
          <p:nvPr/>
        </p:nvSpPr>
        <p:spPr>
          <a:xfrm>
            <a:off x="4511969" y="3035135"/>
            <a:ext cx="1707385" cy="3231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Arial"/>
                <a:ea typeface="Arial"/>
                <a:cs typeface="Arial"/>
                <a:sym typeface="Arial"/>
              </a:rPr>
              <a:t>ES Map </a:t>
            </a:r>
            <a:endParaRPr sz="1500">
              <a:solidFill>
                <a:schemeClr val="dk1"/>
              </a:solidFill>
              <a:latin typeface="Arial"/>
              <a:ea typeface="Arial"/>
              <a:cs typeface="Arial"/>
              <a:sym typeface="Arial"/>
            </a:endParaRPr>
          </a:p>
        </p:txBody>
      </p:sp>
      <p:pic>
        <p:nvPicPr>
          <p:cNvPr id="198" name="Google Shape;198;p14" descr="Liste mit einfarbiger Füllung"/>
          <p:cNvPicPr preferRelativeResize="0"/>
          <p:nvPr/>
        </p:nvPicPr>
        <p:blipFill rotWithShape="1">
          <a:blip r:embed="rId9">
            <a:alphaModFix/>
          </a:blip>
          <a:srcRect/>
          <a:stretch/>
        </p:blipFill>
        <p:spPr>
          <a:xfrm>
            <a:off x="-53018" y="2797772"/>
            <a:ext cx="775415" cy="775415"/>
          </a:xfrm>
          <a:prstGeom prst="rect">
            <a:avLst/>
          </a:prstGeom>
          <a:noFill/>
          <a:ln>
            <a:noFill/>
          </a:ln>
        </p:spPr>
      </p:pic>
      <p:sp>
        <p:nvSpPr>
          <p:cNvPr id="199" name="Google Shape;199;p14"/>
          <p:cNvSpPr txBox="1"/>
          <p:nvPr/>
        </p:nvSpPr>
        <p:spPr>
          <a:xfrm>
            <a:off x="-37576" y="3504100"/>
            <a:ext cx="1401239"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Arial"/>
                <a:ea typeface="Arial"/>
                <a:cs typeface="Arial"/>
                <a:sym typeface="Arial"/>
              </a:rPr>
              <a:t>Expert </a:t>
            </a:r>
            <a:endParaRPr/>
          </a:p>
          <a:p>
            <a:pPr marL="0" marR="0" lvl="0" indent="0" algn="l" rtl="0">
              <a:spcBef>
                <a:spcPts val="0"/>
              </a:spcBef>
              <a:spcAft>
                <a:spcPts val="0"/>
              </a:spcAft>
              <a:buNone/>
            </a:pPr>
            <a:r>
              <a:rPr lang="de-CH" sz="1500">
                <a:solidFill>
                  <a:schemeClr val="dk1"/>
                </a:solidFill>
                <a:latin typeface="Arial"/>
                <a:ea typeface="Arial"/>
                <a:cs typeface="Arial"/>
                <a:sym typeface="Arial"/>
              </a:rPr>
              <a:t>Survey </a:t>
            </a:r>
            <a:endParaRPr sz="1500">
              <a:solidFill>
                <a:schemeClr val="dk1"/>
              </a:solidFill>
              <a:latin typeface="Arial"/>
              <a:ea typeface="Arial"/>
              <a:cs typeface="Arial"/>
              <a:sym typeface="Arial"/>
            </a:endParaRPr>
          </a:p>
        </p:txBody>
      </p:sp>
      <p:pic>
        <p:nvPicPr>
          <p:cNvPr id="200" name="Google Shape;200;p14" descr="Raster - Iconfinder"/>
          <p:cNvPicPr preferRelativeResize="0"/>
          <p:nvPr/>
        </p:nvPicPr>
        <p:blipFill rotWithShape="1">
          <a:blip r:embed="rId8">
            <a:alphaModFix/>
          </a:blip>
          <a:srcRect/>
          <a:stretch/>
        </p:blipFill>
        <p:spPr>
          <a:xfrm>
            <a:off x="6831727" y="3695167"/>
            <a:ext cx="499514" cy="499514"/>
          </a:xfrm>
          <a:prstGeom prst="rect">
            <a:avLst/>
          </a:prstGeom>
          <a:noFill/>
          <a:ln>
            <a:noFill/>
          </a:ln>
        </p:spPr>
      </p:pic>
      <p:sp>
        <p:nvSpPr>
          <p:cNvPr id="201" name="Google Shape;201;p14"/>
          <p:cNvSpPr txBox="1"/>
          <p:nvPr/>
        </p:nvSpPr>
        <p:spPr>
          <a:xfrm>
            <a:off x="7304011" y="3737158"/>
            <a:ext cx="1401239"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Arial"/>
                <a:ea typeface="Arial"/>
                <a:cs typeface="Arial"/>
                <a:sym typeface="Arial"/>
              </a:rPr>
              <a:t>Spatial </a:t>
            </a:r>
            <a:endParaRPr/>
          </a:p>
          <a:p>
            <a:pPr marL="0" marR="0" lvl="0" indent="0" algn="l" rtl="0">
              <a:spcBef>
                <a:spcPts val="0"/>
              </a:spcBef>
              <a:spcAft>
                <a:spcPts val="0"/>
              </a:spcAft>
              <a:buNone/>
            </a:pPr>
            <a:r>
              <a:rPr lang="de-CH" sz="1500">
                <a:solidFill>
                  <a:schemeClr val="dk1"/>
                </a:solidFill>
                <a:latin typeface="Arial"/>
                <a:ea typeface="Arial"/>
                <a:cs typeface="Arial"/>
                <a:sym typeface="Arial"/>
              </a:rPr>
              <a:t>Data </a:t>
            </a:r>
            <a:endParaRPr sz="1500">
              <a:solidFill>
                <a:schemeClr val="dk1"/>
              </a:solidFill>
              <a:latin typeface="Arial"/>
              <a:ea typeface="Arial"/>
              <a:cs typeface="Arial"/>
              <a:sym typeface="Arial"/>
            </a:endParaRPr>
          </a:p>
        </p:txBody>
      </p:sp>
      <p:sp>
        <p:nvSpPr>
          <p:cNvPr id="202" name="Google Shape;202;p14"/>
          <p:cNvSpPr txBox="1"/>
          <p:nvPr/>
        </p:nvSpPr>
        <p:spPr>
          <a:xfrm>
            <a:off x="7331241" y="4466361"/>
            <a:ext cx="1401239"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Arial"/>
                <a:ea typeface="Arial"/>
                <a:cs typeface="Arial"/>
                <a:sym typeface="Arial"/>
              </a:rPr>
              <a:t>Expert </a:t>
            </a:r>
            <a:endParaRPr/>
          </a:p>
          <a:p>
            <a:pPr marL="0" marR="0" lvl="0" indent="0" algn="l" rtl="0">
              <a:spcBef>
                <a:spcPts val="0"/>
              </a:spcBef>
              <a:spcAft>
                <a:spcPts val="0"/>
              </a:spcAft>
              <a:buNone/>
            </a:pPr>
            <a:r>
              <a:rPr lang="de-CH" sz="1500">
                <a:solidFill>
                  <a:schemeClr val="dk1"/>
                </a:solidFill>
                <a:latin typeface="Arial"/>
                <a:ea typeface="Arial"/>
                <a:cs typeface="Arial"/>
                <a:sym typeface="Arial"/>
              </a:rPr>
              <a:t>Survey </a:t>
            </a:r>
            <a:endParaRPr sz="1500">
              <a:solidFill>
                <a:schemeClr val="dk1"/>
              </a:solidFill>
              <a:latin typeface="Arial"/>
              <a:ea typeface="Arial"/>
              <a:cs typeface="Arial"/>
              <a:sym typeface="Arial"/>
            </a:endParaRPr>
          </a:p>
        </p:txBody>
      </p:sp>
      <p:sp>
        <p:nvSpPr>
          <p:cNvPr id="203" name="Google Shape;203;p14"/>
          <p:cNvSpPr txBox="1"/>
          <p:nvPr/>
        </p:nvSpPr>
        <p:spPr>
          <a:xfrm>
            <a:off x="6692579" y="3343786"/>
            <a:ext cx="22561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b="1">
                <a:solidFill>
                  <a:schemeClr val="dk1"/>
                </a:solidFill>
                <a:latin typeface="Arial"/>
                <a:ea typeface="Arial"/>
                <a:cs typeface="Arial"/>
                <a:sym typeface="Arial"/>
              </a:rPr>
              <a:t>Evidence</a:t>
            </a:r>
            <a:endParaRPr/>
          </a:p>
        </p:txBody>
      </p:sp>
      <p:pic>
        <p:nvPicPr>
          <p:cNvPr id="204" name="Google Shape;204;p14" descr="Liste mit einfarbiger Füllung"/>
          <p:cNvPicPr preferRelativeResize="0"/>
          <p:nvPr/>
        </p:nvPicPr>
        <p:blipFill rotWithShape="1">
          <a:blip r:embed="rId9">
            <a:alphaModFix/>
          </a:blip>
          <a:srcRect/>
          <a:stretch/>
        </p:blipFill>
        <p:spPr>
          <a:xfrm>
            <a:off x="6693776" y="4345974"/>
            <a:ext cx="775415" cy="775415"/>
          </a:xfrm>
          <a:prstGeom prst="rect">
            <a:avLst/>
          </a:prstGeom>
          <a:noFill/>
          <a:ln>
            <a:noFill/>
          </a:ln>
        </p:spPr>
      </p:pic>
      <p:pic>
        <p:nvPicPr>
          <p:cNvPr id="205" name="Google Shape;205;p14" descr="gBay"/>
          <p:cNvPicPr preferRelativeResize="0"/>
          <p:nvPr/>
        </p:nvPicPr>
        <p:blipFill rotWithShape="1">
          <a:blip r:embed="rId10">
            <a:alphaModFix/>
          </a:blip>
          <a:srcRect/>
          <a:stretch/>
        </p:blipFill>
        <p:spPr>
          <a:xfrm>
            <a:off x="10288786" y="1216302"/>
            <a:ext cx="982186" cy="488004"/>
          </a:xfrm>
          <a:prstGeom prst="rect">
            <a:avLst/>
          </a:prstGeom>
          <a:noFill/>
          <a:ln>
            <a:noFill/>
          </a:ln>
        </p:spPr>
      </p:pic>
      <p:pic>
        <p:nvPicPr>
          <p:cNvPr id="206" name="Google Shape;206;p14"/>
          <p:cNvPicPr preferRelativeResize="0"/>
          <p:nvPr/>
        </p:nvPicPr>
        <p:blipFill rotWithShape="1">
          <a:blip r:embed="rId11">
            <a:alphaModFix/>
          </a:blip>
          <a:srcRect/>
          <a:stretch/>
        </p:blipFill>
        <p:spPr>
          <a:xfrm>
            <a:off x="5675744" y="6284098"/>
            <a:ext cx="840512" cy="572238"/>
          </a:xfrm>
          <a:prstGeom prst="rect">
            <a:avLst/>
          </a:prstGeom>
          <a:noFill/>
          <a:ln>
            <a:noFill/>
          </a:ln>
        </p:spPr>
      </p:pic>
      <p:pic>
        <p:nvPicPr>
          <p:cNvPr id="207" name="Google Shape;207;p14" descr="Ein Bild, das Text, Karte, Screenshot enthält.&#10;&#10;KI-generierte Inhalte können fehlerhaft sein."/>
          <p:cNvPicPr preferRelativeResize="0"/>
          <p:nvPr/>
        </p:nvPicPr>
        <p:blipFill rotWithShape="1">
          <a:blip r:embed="rId12">
            <a:alphaModFix/>
          </a:blip>
          <a:srcRect t="21963" b="17923"/>
          <a:stretch/>
        </p:blipFill>
        <p:spPr>
          <a:xfrm>
            <a:off x="3364076" y="5402043"/>
            <a:ext cx="1289984" cy="742780"/>
          </a:xfrm>
          <a:prstGeom prst="rect">
            <a:avLst/>
          </a:prstGeom>
          <a:noFill/>
          <a:ln>
            <a:noFill/>
          </a:ln>
        </p:spPr>
      </p:pic>
      <p:pic>
        <p:nvPicPr>
          <p:cNvPr id="208" name="Google Shape;208;p14"/>
          <p:cNvPicPr preferRelativeResize="0"/>
          <p:nvPr/>
        </p:nvPicPr>
        <p:blipFill rotWithShape="1">
          <a:blip r:embed="rId13">
            <a:alphaModFix/>
          </a:blip>
          <a:srcRect/>
          <a:stretch/>
        </p:blipFill>
        <p:spPr>
          <a:xfrm>
            <a:off x="583582" y="5394551"/>
            <a:ext cx="777878" cy="7479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5"/>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215" name="Google Shape;215;p15"/>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216" name="Google Shape;216;p15"/>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7</a:t>
            </a:fld>
            <a:endParaRPr/>
          </a:p>
        </p:txBody>
      </p:sp>
      <p:sp>
        <p:nvSpPr>
          <p:cNvPr id="217" name="Google Shape;217;p15"/>
          <p:cNvSpPr/>
          <p:nvPr/>
        </p:nvSpPr>
        <p:spPr>
          <a:xfrm>
            <a:off x="0" y="171959"/>
            <a:ext cx="3750129" cy="806420"/>
          </a:xfrm>
          <a:prstGeom prst="rect">
            <a:avLst/>
          </a:prstGeom>
          <a:solidFill>
            <a:srgbClr val="E2F0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15"/>
          <p:cNvSpPr txBox="1"/>
          <p:nvPr/>
        </p:nvSpPr>
        <p:spPr>
          <a:xfrm>
            <a:off x="111418" y="333913"/>
            <a:ext cx="39572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800">
                <a:solidFill>
                  <a:schemeClr val="dk1"/>
                </a:solidFill>
                <a:latin typeface="Calibri"/>
                <a:ea typeface="Calibri"/>
                <a:cs typeface="Calibri"/>
                <a:sym typeface="Calibri"/>
              </a:rPr>
              <a:t>PRELIMINARY RESULTS </a:t>
            </a:r>
            <a:endParaRPr/>
          </a:p>
        </p:txBody>
      </p:sp>
      <p:sp>
        <p:nvSpPr>
          <p:cNvPr id="219" name="Google Shape;219;p15"/>
          <p:cNvSpPr/>
          <p:nvPr/>
        </p:nvSpPr>
        <p:spPr>
          <a:xfrm>
            <a:off x="798286" y="1042530"/>
            <a:ext cx="10134002" cy="52715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de-CH" sz="1800" b="1">
                <a:solidFill>
                  <a:schemeClr val="dk1"/>
                </a:solidFill>
                <a:latin typeface="Calibri"/>
                <a:ea typeface="Calibri"/>
                <a:cs typeface="Calibri"/>
                <a:sym typeface="Calibri"/>
              </a:rPr>
              <a:t>Methodology:</a:t>
            </a:r>
            <a:r>
              <a:rPr lang="de-CH" sz="1800">
                <a:solidFill>
                  <a:schemeClr val="dk1"/>
                </a:solidFill>
                <a:latin typeface="Calibri"/>
                <a:ea typeface="Calibri"/>
                <a:cs typeface="Calibri"/>
                <a:sym typeface="Calibri"/>
              </a:rPr>
              <a:t> Spatially explicit, expert-based Bayesian network</a:t>
            </a:r>
            <a:endParaRPr/>
          </a:p>
        </p:txBody>
      </p:sp>
      <p:pic>
        <p:nvPicPr>
          <p:cNvPr id="220" name="Google Shape;220;p15" descr="Lupe mit einfarbiger Füllung"/>
          <p:cNvPicPr preferRelativeResize="0"/>
          <p:nvPr/>
        </p:nvPicPr>
        <p:blipFill rotWithShape="1">
          <a:blip r:embed="rId3">
            <a:alphaModFix/>
          </a:blip>
          <a:srcRect/>
          <a:stretch/>
        </p:blipFill>
        <p:spPr>
          <a:xfrm>
            <a:off x="322540" y="1104049"/>
            <a:ext cx="479130" cy="479130"/>
          </a:xfrm>
          <a:prstGeom prst="rect">
            <a:avLst/>
          </a:prstGeom>
          <a:noFill/>
          <a:ln>
            <a:noFill/>
          </a:ln>
        </p:spPr>
      </p:pic>
      <p:sp>
        <p:nvSpPr>
          <p:cNvPr id="221" name="Google Shape;221;p15"/>
          <p:cNvSpPr/>
          <p:nvPr/>
        </p:nvSpPr>
        <p:spPr>
          <a:xfrm>
            <a:off x="658599" y="2809107"/>
            <a:ext cx="1938528" cy="716811"/>
          </a:xfrm>
          <a:prstGeom prst="rect">
            <a:avLst/>
          </a:prstGeom>
          <a:solidFill>
            <a:srgbClr val="E2F0D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impact on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222" name="Google Shape;222;p15"/>
          <p:cNvSpPr/>
          <p:nvPr/>
        </p:nvSpPr>
        <p:spPr>
          <a:xfrm>
            <a:off x="2760956" y="2817565"/>
            <a:ext cx="1153249"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ES value</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223" name="Google Shape;223;p15"/>
          <p:cNvSpPr/>
          <p:nvPr/>
        </p:nvSpPr>
        <p:spPr>
          <a:xfrm>
            <a:off x="1385792" y="4196764"/>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Change in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cxnSp>
        <p:nvCxnSpPr>
          <p:cNvPr id="224" name="Google Shape;224;p15"/>
          <p:cNvCxnSpPr>
            <a:stCxn id="223" idx="2"/>
            <a:endCxn id="225" idx="0"/>
          </p:cNvCxnSpPr>
          <p:nvPr/>
        </p:nvCxnSpPr>
        <p:spPr>
          <a:xfrm>
            <a:off x="2355056" y="4913575"/>
            <a:ext cx="15300" cy="488400"/>
          </a:xfrm>
          <a:prstGeom prst="straightConnector1">
            <a:avLst/>
          </a:prstGeom>
          <a:noFill/>
          <a:ln w="28575" cap="flat" cmpd="sng">
            <a:solidFill>
              <a:schemeClr val="dk1"/>
            </a:solidFill>
            <a:prstDash val="solid"/>
            <a:miter lim="800000"/>
            <a:headEnd type="none" w="sm" len="sm"/>
            <a:tailEnd type="triangle" w="med" len="med"/>
          </a:ln>
        </p:spPr>
      </p:cxnSp>
      <p:cxnSp>
        <p:nvCxnSpPr>
          <p:cNvPr id="226" name="Google Shape;226;p15"/>
          <p:cNvCxnSpPr>
            <a:stCxn id="221" idx="2"/>
            <a:endCxn id="223" idx="0"/>
          </p:cNvCxnSpPr>
          <p:nvPr/>
        </p:nvCxnSpPr>
        <p:spPr>
          <a:xfrm>
            <a:off x="1627863" y="3525918"/>
            <a:ext cx="727200" cy="670800"/>
          </a:xfrm>
          <a:prstGeom prst="straightConnector1">
            <a:avLst/>
          </a:prstGeom>
          <a:noFill/>
          <a:ln w="28575" cap="flat" cmpd="sng">
            <a:solidFill>
              <a:schemeClr val="dk1"/>
            </a:solidFill>
            <a:prstDash val="solid"/>
            <a:miter lim="800000"/>
            <a:headEnd type="none" w="sm" len="sm"/>
            <a:tailEnd type="triangle" w="med" len="med"/>
          </a:ln>
        </p:spPr>
      </p:cxnSp>
      <p:cxnSp>
        <p:nvCxnSpPr>
          <p:cNvPr id="227" name="Google Shape;227;p15"/>
          <p:cNvCxnSpPr>
            <a:stCxn id="222" idx="2"/>
            <a:endCxn id="223" idx="0"/>
          </p:cNvCxnSpPr>
          <p:nvPr/>
        </p:nvCxnSpPr>
        <p:spPr>
          <a:xfrm flipH="1">
            <a:off x="2355081" y="3534376"/>
            <a:ext cx="982500" cy="662400"/>
          </a:xfrm>
          <a:prstGeom prst="straightConnector1">
            <a:avLst/>
          </a:prstGeom>
          <a:noFill/>
          <a:ln w="28575" cap="flat" cmpd="sng">
            <a:solidFill>
              <a:schemeClr val="dk1"/>
            </a:solidFill>
            <a:prstDash val="solid"/>
            <a:miter lim="800000"/>
            <a:headEnd type="none" w="sm" len="sm"/>
            <a:tailEnd type="triangle" w="med" len="med"/>
          </a:ln>
        </p:spPr>
      </p:cxnSp>
      <p:sp>
        <p:nvSpPr>
          <p:cNvPr id="225" name="Google Shape;225;p15"/>
          <p:cNvSpPr/>
          <p:nvPr/>
        </p:nvSpPr>
        <p:spPr>
          <a:xfrm>
            <a:off x="1401216" y="5402043"/>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Suitability</a:t>
            </a:r>
            <a:endParaRPr sz="2400" baseline="-25000">
              <a:solidFill>
                <a:schemeClr val="dk1"/>
              </a:solidFill>
              <a:latin typeface="Calibri"/>
              <a:ea typeface="Calibri"/>
              <a:cs typeface="Calibri"/>
              <a:sym typeface="Calibri"/>
            </a:endParaRPr>
          </a:p>
        </p:txBody>
      </p:sp>
      <p:sp>
        <p:nvSpPr>
          <p:cNvPr id="228" name="Google Shape;228;p15"/>
          <p:cNvSpPr/>
          <p:nvPr/>
        </p:nvSpPr>
        <p:spPr>
          <a:xfrm>
            <a:off x="658599" y="1880021"/>
            <a:ext cx="1938528" cy="720715"/>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LULC </a:t>
            </a:r>
            <a:endParaRPr sz="2400" baseline="-25000">
              <a:solidFill>
                <a:schemeClr val="dk1"/>
              </a:solidFill>
              <a:latin typeface="Calibri"/>
              <a:ea typeface="Calibri"/>
              <a:cs typeface="Calibri"/>
              <a:sym typeface="Calibri"/>
            </a:endParaRPr>
          </a:p>
        </p:txBody>
      </p:sp>
      <p:cxnSp>
        <p:nvCxnSpPr>
          <p:cNvPr id="229" name="Google Shape;229;p15"/>
          <p:cNvCxnSpPr>
            <a:stCxn id="228" idx="2"/>
            <a:endCxn id="221" idx="0"/>
          </p:cNvCxnSpPr>
          <p:nvPr/>
        </p:nvCxnSpPr>
        <p:spPr>
          <a:xfrm>
            <a:off x="1627863" y="2600736"/>
            <a:ext cx="0" cy="208500"/>
          </a:xfrm>
          <a:prstGeom prst="straightConnector1">
            <a:avLst/>
          </a:prstGeom>
          <a:noFill/>
          <a:ln w="28575" cap="flat" cmpd="sng">
            <a:solidFill>
              <a:schemeClr val="dk1"/>
            </a:solidFill>
            <a:prstDash val="solid"/>
            <a:miter lim="800000"/>
            <a:headEnd type="none" w="sm" len="sm"/>
            <a:tailEnd type="triangle" w="med" len="med"/>
          </a:ln>
        </p:spPr>
      </p:cxnSp>
      <p:pic>
        <p:nvPicPr>
          <p:cNvPr id="230" name="Google Shape;230;p15" descr="Liste mit einfarbiger Füllung"/>
          <p:cNvPicPr preferRelativeResize="0"/>
          <p:nvPr/>
        </p:nvPicPr>
        <p:blipFill rotWithShape="1">
          <a:blip r:embed="rId4">
            <a:alphaModFix/>
          </a:blip>
          <a:srcRect/>
          <a:stretch/>
        </p:blipFill>
        <p:spPr>
          <a:xfrm>
            <a:off x="-53018" y="2797772"/>
            <a:ext cx="775415" cy="775415"/>
          </a:xfrm>
          <a:prstGeom prst="rect">
            <a:avLst/>
          </a:prstGeom>
          <a:noFill/>
          <a:ln>
            <a:noFill/>
          </a:ln>
        </p:spPr>
      </p:pic>
      <p:sp>
        <p:nvSpPr>
          <p:cNvPr id="231" name="Google Shape;231;p15"/>
          <p:cNvSpPr txBox="1"/>
          <p:nvPr/>
        </p:nvSpPr>
        <p:spPr>
          <a:xfrm>
            <a:off x="-37576" y="3504100"/>
            <a:ext cx="1401239"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Arial"/>
                <a:ea typeface="Arial"/>
                <a:cs typeface="Arial"/>
                <a:sym typeface="Arial"/>
              </a:rPr>
              <a:t>Expert </a:t>
            </a:r>
            <a:endParaRPr/>
          </a:p>
          <a:p>
            <a:pPr marL="0" marR="0" lvl="0" indent="0" algn="l" rtl="0">
              <a:spcBef>
                <a:spcPts val="0"/>
              </a:spcBef>
              <a:spcAft>
                <a:spcPts val="0"/>
              </a:spcAft>
              <a:buNone/>
            </a:pPr>
            <a:r>
              <a:rPr lang="de-CH" sz="1500">
                <a:solidFill>
                  <a:schemeClr val="dk1"/>
                </a:solidFill>
                <a:latin typeface="Arial"/>
                <a:ea typeface="Arial"/>
                <a:cs typeface="Arial"/>
                <a:sym typeface="Arial"/>
              </a:rPr>
              <a:t>Survey </a:t>
            </a:r>
            <a:endParaRPr sz="1500">
              <a:solidFill>
                <a:schemeClr val="dk1"/>
              </a:solidFill>
              <a:latin typeface="Arial"/>
              <a:ea typeface="Arial"/>
              <a:cs typeface="Arial"/>
              <a:sym typeface="Arial"/>
            </a:endParaRPr>
          </a:p>
        </p:txBody>
      </p:sp>
      <p:pic>
        <p:nvPicPr>
          <p:cNvPr id="232" name="Google Shape;232;p15"/>
          <p:cNvPicPr preferRelativeResize="0"/>
          <p:nvPr/>
        </p:nvPicPr>
        <p:blipFill rotWithShape="1">
          <a:blip r:embed="rId5">
            <a:alphaModFix/>
          </a:blip>
          <a:srcRect t="4690" r="70361"/>
          <a:stretch/>
        </p:blipFill>
        <p:spPr>
          <a:xfrm>
            <a:off x="4962957" y="3097894"/>
            <a:ext cx="4546515" cy="995911"/>
          </a:xfrm>
          <a:prstGeom prst="rect">
            <a:avLst/>
          </a:prstGeom>
          <a:noFill/>
          <a:ln>
            <a:noFill/>
          </a:ln>
        </p:spPr>
      </p:pic>
      <p:pic>
        <p:nvPicPr>
          <p:cNvPr id="233" name="Google Shape;233;p15"/>
          <p:cNvPicPr preferRelativeResize="0"/>
          <p:nvPr/>
        </p:nvPicPr>
        <p:blipFill rotWithShape="1">
          <a:blip r:embed="rId6">
            <a:alphaModFix/>
          </a:blip>
          <a:srcRect r="70461"/>
          <a:stretch/>
        </p:blipFill>
        <p:spPr>
          <a:xfrm>
            <a:off x="4890187" y="4072574"/>
            <a:ext cx="4582613" cy="995911"/>
          </a:xfrm>
          <a:prstGeom prst="rect">
            <a:avLst/>
          </a:prstGeom>
          <a:noFill/>
          <a:ln>
            <a:noFill/>
          </a:ln>
        </p:spPr>
      </p:pic>
      <p:pic>
        <p:nvPicPr>
          <p:cNvPr id="234" name="Google Shape;234;p15"/>
          <p:cNvPicPr preferRelativeResize="0"/>
          <p:nvPr/>
        </p:nvPicPr>
        <p:blipFill rotWithShape="1">
          <a:blip r:embed="rId7">
            <a:alphaModFix/>
          </a:blip>
          <a:srcRect/>
          <a:stretch/>
        </p:blipFill>
        <p:spPr>
          <a:xfrm>
            <a:off x="7700434" y="2725770"/>
            <a:ext cx="1729246" cy="296664"/>
          </a:xfrm>
          <a:prstGeom prst="rect">
            <a:avLst/>
          </a:prstGeom>
          <a:noFill/>
          <a:ln>
            <a:noFill/>
          </a:ln>
        </p:spPr>
      </p:pic>
      <p:pic>
        <p:nvPicPr>
          <p:cNvPr id="235" name="Google Shape;235;p15"/>
          <p:cNvPicPr preferRelativeResize="0"/>
          <p:nvPr/>
        </p:nvPicPr>
        <p:blipFill rotWithShape="1">
          <a:blip r:embed="rId8">
            <a:alphaModFix/>
          </a:blip>
          <a:srcRect/>
          <a:stretch/>
        </p:blipFill>
        <p:spPr>
          <a:xfrm>
            <a:off x="9519889" y="2735442"/>
            <a:ext cx="1729247" cy="283244"/>
          </a:xfrm>
          <a:prstGeom prst="rect">
            <a:avLst/>
          </a:prstGeom>
          <a:noFill/>
          <a:ln>
            <a:noFill/>
          </a:ln>
        </p:spPr>
      </p:pic>
      <p:pic>
        <p:nvPicPr>
          <p:cNvPr id="236" name="Google Shape;236;p15"/>
          <p:cNvPicPr preferRelativeResize="0"/>
          <p:nvPr/>
        </p:nvPicPr>
        <p:blipFill rotWithShape="1">
          <a:blip r:embed="rId5">
            <a:alphaModFix/>
          </a:blip>
          <a:srcRect l="52618" r="35259"/>
          <a:stretch/>
        </p:blipFill>
        <p:spPr>
          <a:xfrm>
            <a:off x="9467755" y="3053465"/>
            <a:ext cx="1870251" cy="1050973"/>
          </a:xfrm>
          <a:prstGeom prst="rect">
            <a:avLst/>
          </a:prstGeom>
          <a:noFill/>
          <a:ln>
            <a:noFill/>
          </a:ln>
        </p:spPr>
      </p:pic>
      <p:pic>
        <p:nvPicPr>
          <p:cNvPr id="237" name="Google Shape;237;p15"/>
          <p:cNvPicPr preferRelativeResize="0"/>
          <p:nvPr/>
        </p:nvPicPr>
        <p:blipFill rotWithShape="1">
          <a:blip r:embed="rId6">
            <a:alphaModFix/>
          </a:blip>
          <a:srcRect l="52996" r="35450"/>
          <a:stretch/>
        </p:blipFill>
        <p:spPr>
          <a:xfrm>
            <a:off x="9516360" y="4079602"/>
            <a:ext cx="1792161" cy="995910"/>
          </a:xfrm>
          <a:prstGeom prst="rect">
            <a:avLst/>
          </a:prstGeom>
          <a:noFill/>
          <a:ln>
            <a:noFill/>
          </a:ln>
        </p:spPr>
      </p:pic>
      <p:pic>
        <p:nvPicPr>
          <p:cNvPr id="238" name="Google Shape;238;p15" descr="Liste mit einfarbiger Füllung"/>
          <p:cNvPicPr preferRelativeResize="0"/>
          <p:nvPr/>
        </p:nvPicPr>
        <p:blipFill rotWithShape="1">
          <a:blip r:embed="rId4">
            <a:alphaModFix/>
          </a:blip>
          <a:srcRect/>
          <a:stretch/>
        </p:blipFill>
        <p:spPr>
          <a:xfrm>
            <a:off x="5089872" y="1602931"/>
            <a:ext cx="775415" cy="775415"/>
          </a:xfrm>
          <a:prstGeom prst="rect">
            <a:avLst/>
          </a:prstGeom>
          <a:noFill/>
          <a:ln>
            <a:noFill/>
          </a:ln>
        </p:spPr>
      </p:pic>
      <p:sp>
        <p:nvSpPr>
          <p:cNvPr id="239" name="Google Shape;239;p15"/>
          <p:cNvSpPr txBox="1"/>
          <p:nvPr/>
        </p:nvSpPr>
        <p:spPr>
          <a:xfrm>
            <a:off x="5761739" y="1684999"/>
            <a:ext cx="5698423" cy="8156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b="1">
                <a:solidFill>
                  <a:schemeClr val="dk1"/>
                </a:solidFill>
                <a:latin typeface="Calibri"/>
                <a:ea typeface="Calibri"/>
                <a:cs typeface="Calibri"/>
                <a:sym typeface="Calibri"/>
              </a:rPr>
              <a:t>Expert Survey for CPT Elicitation of PV Impact</a:t>
            </a:r>
            <a:endParaRPr/>
          </a:p>
          <a:p>
            <a:pPr marL="0" marR="0" lvl="0" indent="0" algn="l" rtl="0">
              <a:spcBef>
                <a:spcPts val="0"/>
              </a:spcBef>
              <a:spcAft>
                <a:spcPts val="0"/>
              </a:spcAft>
              <a:buNone/>
            </a:pPr>
            <a:r>
              <a:rPr lang="de-CH" sz="1600">
                <a:solidFill>
                  <a:schemeClr val="dk1"/>
                </a:solidFill>
                <a:latin typeface="Calibri"/>
                <a:ea typeface="Calibri"/>
                <a:cs typeface="Calibri"/>
                <a:sym typeface="Calibri"/>
              </a:rPr>
              <a:t>How do ground-mounted photovoltaics affect ES in Switzerland?</a:t>
            </a:r>
            <a:endParaRPr/>
          </a:p>
          <a:p>
            <a:pPr marL="0" marR="0" lvl="0" indent="0" algn="l" rtl="0">
              <a:spcBef>
                <a:spcPts val="0"/>
              </a:spcBef>
              <a:spcAft>
                <a:spcPts val="0"/>
              </a:spcAft>
              <a:buNone/>
            </a:pPr>
            <a:endParaRPr sz="1500">
              <a:solidFill>
                <a:schemeClr val="dk1"/>
              </a:solidFill>
              <a:latin typeface="Arial"/>
              <a:ea typeface="Arial"/>
              <a:cs typeface="Arial"/>
              <a:sym typeface="Arial"/>
            </a:endParaRPr>
          </a:p>
        </p:txBody>
      </p:sp>
      <p:pic>
        <p:nvPicPr>
          <p:cNvPr id="240" name="Google Shape;240;p15"/>
          <p:cNvPicPr preferRelativeResize="0"/>
          <p:nvPr/>
        </p:nvPicPr>
        <p:blipFill rotWithShape="1">
          <a:blip r:embed="rId9">
            <a:alphaModFix/>
          </a:blip>
          <a:srcRect/>
          <a:stretch/>
        </p:blipFill>
        <p:spPr>
          <a:xfrm>
            <a:off x="5675744" y="6284098"/>
            <a:ext cx="840512" cy="572238"/>
          </a:xfrm>
          <a:prstGeom prst="rect">
            <a:avLst/>
          </a:prstGeom>
          <a:noFill/>
          <a:ln>
            <a:noFill/>
          </a:ln>
        </p:spPr>
      </p:pic>
      <p:sp>
        <p:nvSpPr>
          <p:cNvPr id="241" name="Google Shape;241;p15"/>
          <p:cNvSpPr txBox="1"/>
          <p:nvPr/>
        </p:nvSpPr>
        <p:spPr>
          <a:xfrm>
            <a:off x="5372966" y="5636589"/>
            <a:ext cx="593555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200" i="1">
                <a:solidFill>
                  <a:schemeClr val="dk1"/>
                </a:solidFill>
                <a:latin typeface="Arial"/>
                <a:ea typeface="Arial"/>
                <a:cs typeface="Arial"/>
                <a:sym typeface="Arial"/>
              </a:rPr>
              <a:t>Average weighted response per Likert scale category (from strong decrease to strong increase in ES), differentiated by LULC class (amount of respondents in blue). </a:t>
            </a:r>
            <a:endParaRPr sz="1200" i="1">
              <a:solidFill>
                <a:schemeClr val="dk1"/>
              </a:solidFill>
              <a:latin typeface="Arial"/>
              <a:ea typeface="Arial"/>
              <a:cs typeface="Arial"/>
              <a:sym typeface="Arial"/>
            </a:endParaRPr>
          </a:p>
        </p:txBody>
      </p:sp>
      <p:sp>
        <p:nvSpPr>
          <p:cNvPr id="242" name="Google Shape;242;p15"/>
          <p:cNvSpPr txBox="1"/>
          <p:nvPr/>
        </p:nvSpPr>
        <p:spPr>
          <a:xfrm>
            <a:off x="7664605" y="4997769"/>
            <a:ext cx="185175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b="1">
                <a:solidFill>
                  <a:srgbClr val="595959"/>
                </a:solidFill>
                <a:latin typeface="Roboto"/>
                <a:ea typeface="Roboto"/>
                <a:cs typeface="Roboto"/>
                <a:sym typeface="Roboto"/>
              </a:rPr>
              <a:t>-3  -2  -1  0   1   2   3</a:t>
            </a:r>
            <a:endParaRPr sz="1400" b="1">
              <a:solidFill>
                <a:srgbClr val="595959"/>
              </a:solidFill>
              <a:latin typeface="Roboto"/>
              <a:ea typeface="Roboto"/>
              <a:cs typeface="Roboto"/>
              <a:sym typeface="Roboto"/>
            </a:endParaRPr>
          </a:p>
        </p:txBody>
      </p:sp>
      <p:sp>
        <p:nvSpPr>
          <p:cNvPr id="243" name="Google Shape;243;p15"/>
          <p:cNvSpPr txBox="1"/>
          <p:nvPr/>
        </p:nvSpPr>
        <p:spPr>
          <a:xfrm>
            <a:off x="9486563" y="5008402"/>
            <a:ext cx="185175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b="1">
                <a:solidFill>
                  <a:srgbClr val="595959"/>
                </a:solidFill>
                <a:latin typeface="Roboto"/>
                <a:ea typeface="Roboto"/>
                <a:cs typeface="Roboto"/>
                <a:sym typeface="Roboto"/>
              </a:rPr>
              <a:t>-3  -2  -1  0   1   2   3</a:t>
            </a:r>
            <a:endParaRPr sz="1400" b="1">
              <a:solidFill>
                <a:srgbClr val="595959"/>
              </a:solidFill>
              <a:latin typeface="Roboto"/>
              <a:ea typeface="Roboto"/>
              <a:cs typeface="Roboto"/>
              <a:sym typeface="Roboto"/>
            </a:endParaRPr>
          </a:p>
        </p:txBody>
      </p:sp>
      <p:sp>
        <p:nvSpPr>
          <p:cNvPr id="244" name="Google Shape;244;p15"/>
          <p:cNvSpPr txBox="1"/>
          <p:nvPr/>
        </p:nvSpPr>
        <p:spPr>
          <a:xfrm>
            <a:off x="8939029" y="5281058"/>
            <a:ext cx="185175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b="1">
                <a:solidFill>
                  <a:srgbClr val="595959"/>
                </a:solidFill>
                <a:latin typeface="Roboto"/>
                <a:ea typeface="Roboto"/>
                <a:cs typeface="Roboto"/>
                <a:sym typeface="Roboto"/>
              </a:rPr>
              <a:t>PV Impact</a:t>
            </a:r>
            <a:endParaRPr sz="1400" b="1">
              <a:solidFill>
                <a:srgbClr val="595959"/>
              </a:solidFill>
              <a:latin typeface="Roboto"/>
              <a:ea typeface="Roboto"/>
              <a:cs typeface="Roboto"/>
              <a:sym typeface="Roboto"/>
            </a:endParaRPr>
          </a:p>
        </p:txBody>
      </p:sp>
      <p:pic>
        <p:nvPicPr>
          <p:cNvPr id="245" name="Google Shape;245;p15"/>
          <p:cNvPicPr preferRelativeResize="0"/>
          <p:nvPr/>
        </p:nvPicPr>
        <p:blipFill rotWithShape="1">
          <a:blip r:embed="rId10">
            <a:alphaModFix/>
          </a:blip>
          <a:srcRect/>
          <a:stretch/>
        </p:blipFill>
        <p:spPr>
          <a:xfrm>
            <a:off x="9796243" y="1433086"/>
            <a:ext cx="448114" cy="500001"/>
          </a:xfrm>
          <a:prstGeom prst="rect">
            <a:avLst/>
          </a:prstGeom>
          <a:noFill/>
          <a:ln>
            <a:noFill/>
          </a:ln>
        </p:spPr>
      </p:pic>
      <p:pic>
        <p:nvPicPr>
          <p:cNvPr id="246" name="Google Shape;246;p15" descr="Balkendiagramm Silhouette"/>
          <p:cNvPicPr preferRelativeResize="0"/>
          <p:nvPr/>
        </p:nvPicPr>
        <p:blipFill rotWithShape="1">
          <a:blip r:embed="rId11">
            <a:alphaModFix/>
          </a:blip>
          <a:srcRect/>
          <a:stretch/>
        </p:blipFill>
        <p:spPr>
          <a:xfrm>
            <a:off x="9535396" y="1290330"/>
            <a:ext cx="484904" cy="4849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6"/>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252" name="Google Shape;252;p16"/>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253" name="Google Shape;253;p16"/>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8</a:t>
            </a:fld>
            <a:endParaRPr/>
          </a:p>
        </p:txBody>
      </p:sp>
      <p:pic>
        <p:nvPicPr>
          <p:cNvPr id="254" name="Google Shape;254;p16" descr="Ein Bild, das Text, Karte enthält.&#10;&#10;KI-generierte Inhalte können fehlerhaft sein."/>
          <p:cNvPicPr preferRelativeResize="0"/>
          <p:nvPr/>
        </p:nvPicPr>
        <p:blipFill rotWithShape="1">
          <a:blip r:embed="rId3">
            <a:alphaModFix/>
          </a:blip>
          <a:srcRect l="2109" t="20133" b="17118"/>
          <a:stretch/>
        </p:blipFill>
        <p:spPr>
          <a:xfrm>
            <a:off x="5082743" y="183591"/>
            <a:ext cx="4892037" cy="3003721"/>
          </a:xfrm>
          <a:prstGeom prst="rect">
            <a:avLst/>
          </a:prstGeom>
          <a:noFill/>
          <a:ln>
            <a:noFill/>
          </a:ln>
        </p:spPr>
      </p:pic>
      <p:sp>
        <p:nvSpPr>
          <p:cNvPr id="255" name="Google Shape;255;p16"/>
          <p:cNvSpPr txBox="1"/>
          <p:nvPr/>
        </p:nvSpPr>
        <p:spPr>
          <a:xfrm>
            <a:off x="6143153" y="27865"/>
            <a:ext cx="339547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b="1">
                <a:solidFill>
                  <a:schemeClr val="dk1"/>
                </a:solidFill>
                <a:latin typeface="Arial"/>
                <a:ea typeface="Arial"/>
                <a:cs typeface="Arial"/>
                <a:sym typeface="Arial"/>
              </a:rPr>
              <a:t> Mean for suitability value</a:t>
            </a:r>
            <a:endParaRPr/>
          </a:p>
        </p:txBody>
      </p:sp>
      <p:cxnSp>
        <p:nvCxnSpPr>
          <p:cNvPr id="256" name="Google Shape;256;p16"/>
          <p:cNvCxnSpPr/>
          <p:nvPr/>
        </p:nvCxnSpPr>
        <p:spPr>
          <a:xfrm rot="10800000">
            <a:off x="10111940" y="301519"/>
            <a:ext cx="0" cy="1161521"/>
          </a:xfrm>
          <a:prstGeom prst="straightConnector1">
            <a:avLst/>
          </a:prstGeom>
          <a:noFill/>
          <a:ln w="28575" cap="flat" cmpd="sng">
            <a:solidFill>
              <a:schemeClr val="dk1"/>
            </a:solidFill>
            <a:prstDash val="solid"/>
            <a:miter lim="800000"/>
            <a:headEnd type="none" w="sm" len="sm"/>
            <a:tailEnd type="triangle" w="med" len="med"/>
          </a:ln>
        </p:spPr>
      </p:cxnSp>
      <p:sp>
        <p:nvSpPr>
          <p:cNvPr id="257" name="Google Shape;257;p16"/>
          <p:cNvSpPr txBox="1"/>
          <p:nvPr/>
        </p:nvSpPr>
        <p:spPr>
          <a:xfrm>
            <a:off x="10130229" y="512947"/>
            <a:ext cx="1832432"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Arial"/>
                <a:ea typeface="Arial"/>
                <a:cs typeface="Arial"/>
                <a:sym typeface="Arial"/>
              </a:rPr>
              <a:t>Potential areas of synergies between PV and ES </a:t>
            </a:r>
            <a:endParaRPr/>
          </a:p>
        </p:txBody>
      </p:sp>
      <p:sp>
        <p:nvSpPr>
          <p:cNvPr id="258" name="Google Shape;258;p16"/>
          <p:cNvSpPr txBox="1"/>
          <p:nvPr/>
        </p:nvSpPr>
        <p:spPr>
          <a:xfrm>
            <a:off x="10130229" y="1819822"/>
            <a:ext cx="1832432"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Arial"/>
                <a:ea typeface="Arial"/>
                <a:cs typeface="Arial"/>
                <a:sym typeface="Arial"/>
              </a:rPr>
              <a:t>Potential areas of trade-offs between PV and ES </a:t>
            </a:r>
            <a:endParaRPr/>
          </a:p>
        </p:txBody>
      </p:sp>
      <p:cxnSp>
        <p:nvCxnSpPr>
          <p:cNvPr id="259" name="Google Shape;259;p16"/>
          <p:cNvCxnSpPr/>
          <p:nvPr/>
        </p:nvCxnSpPr>
        <p:spPr>
          <a:xfrm>
            <a:off x="10109362" y="1510507"/>
            <a:ext cx="2578" cy="1443005"/>
          </a:xfrm>
          <a:prstGeom prst="straightConnector1">
            <a:avLst/>
          </a:prstGeom>
          <a:noFill/>
          <a:ln w="28575" cap="flat" cmpd="sng">
            <a:solidFill>
              <a:schemeClr val="dk1"/>
            </a:solidFill>
            <a:prstDash val="solid"/>
            <a:miter lim="800000"/>
            <a:headEnd type="none" w="sm" len="sm"/>
            <a:tailEnd type="triangle" w="med" len="med"/>
          </a:ln>
        </p:spPr>
      </p:cxnSp>
      <p:pic>
        <p:nvPicPr>
          <p:cNvPr id="260" name="Google Shape;260;p16" descr="Ein Bild, das Text, Karte, Screenshot enthält.&#10;&#10;KI-generierte Inhalte können fehlerhaft sein."/>
          <p:cNvPicPr preferRelativeResize="0"/>
          <p:nvPr/>
        </p:nvPicPr>
        <p:blipFill rotWithShape="1">
          <a:blip r:embed="rId4">
            <a:alphaModFix/>
          </a:blip>
          <a:srcRect t="21963" b="17923"/>
          <a:stretch/>
        </p:blipFill>
        <p:spPr>
          <a:xfrm>
            <a:off x="4962345" y="3420325"/>
            <a:ext cx="5025568" cy="2893751"/>
          </a:xfrm>
          <a:prstGeom prst="rect">
            <a:avLst/>
          </a:prstGeom>
          <a:noFill/>
          <a:ln>
            <a:noFill/>
          </a:ln>
        </p:spPr>
      </p:pic>
      <p:sp>
        <p:nvSpPr>
          <p:cNvPr id="261" name="Google Shape;261;p16"/>
          <p:cNvSpPr txBox="1"/>
          <p:nvPr/>
        </p:nvSpPr>
        <p:spPr>
          <a:xfrm>
            <a:off x="5591287" y="3177520"/>
            <a:ext cx="475277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b="1">
                <a:solidFill>
                  <a:schemeClr val="dk1"/>
                </a:solidFill>
                <a:latin typeface="Arial"/>
                <a:ea typeface="Arial"/>
                <a:cs typeface="Arial"/>
                <a:sym typeface="Arial"/>
              </a:rPr>
              <a:t> Standard deviation for suitability value</a:t>
            </a:r>
            <a:endParaRPr/>
          </a:p>
        </p:txBody>
      </p:sp>
      <p:cxnSp>
        <p:nvCxnSpPr>
          <p:cNvPr id="262" name="Google Shape;262;p16"/>
          <p:cNvCxnSpPr/>
          <p:nvPr/>
        </p:nvCxnSpPr>
        <p:spPr>
          <a:xfrm rot="10800000">
            <a:off x="10118977" y="3485297"/>
            <a:ext cx="0" cy="2613751"/>
          </a:xfrm>
          <a:prstGeom prst="straightConnector1">
            <a:avLst/>
          </a:prstGeom>
          <a:noFill/>
          <a:ln w="28575" cap="flat" cmpd="sng">
            <a:solidFill>
              <a:schemeClr val="dk1"/>
            </a:solidFill>
            <a:prstDash val="solid"/>
            <a:miter lim="800000"/>
            <a:headEnd type="none" w="sm" len="sm"/>
            <a:tailEnd type="triangle" w="med" len="med"/>
          </a:ln>
        </p:spPr>
      </p:cxnSp>
      <p:sp>
        <p:nvSpPr>
          <p:cNvPr id="263" name="Google Shape;263;p16"/>
          <p:cNvSpPr txBox="1"/>
          <p:nvPr/>
        </p:nvSpPr>
        <p:spPr>
          <a:xfrm>
            <a:off x="10128121" y="3438648"/>
            <a:ext cx="183243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Arial"/>
                <a:ea typeface="Arial"/>
                <a:cs typeface="Arial"/>
                <a:sym typeface="Arial"/>
              </a:rPr>
              <a:t>High uncertainty (less robust)</a:t>
            </a:r>
            <a:endParaRPr/>
          </a:p>
        </p:txBody>
      </p:sp>
      <p:sp>
        <p:nvSpPr>
          <p:cNvPr id="264" name="Google Shape;264;p16"/>
          <p:cNvSpPr txBox="1"/>
          <p:nvPr/>
        </p:nvSpPr>
        <p:spPr>
          <a:xfrm>
            <a:off x="10118977" y="5653086"/>
            <a:ext cx="183243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Arial"/>
                <a:ea typeface="Arial"/>
                <a:cs typeface="Arial"/>
                <a:sym typeface="Arial"/>
              </a:rPr>
              <a:t>Low uncertainty (more robust)</a:t>
            </a:r>
            <a:endParaRPr/>
          </a:p>
        </p:txBody>
      </p:sp>
      <p:pic>
        <p:nvPicPr>
          <p:cNvPr id="265" name="Google Shape;265;p16"/>
          <p:cNvPicPr preferRelativeResize="0"/>
          <p:nvPr/>
        </p:nvPicPr>
        <p:blipFill rotWithShape="1">
          <a:blip r:embed="rId5">
            <a:alphaModFix/>
          </a:blip>
          <a:srcRect/>
          <a:stretch/>
        </p:blipFill>
        <p:spPr>
          <a:xfrm>
            <a:off x="5675744" y="6284098"/>
            <a:ext cx="840512" cy="572238"/>
          </a:xfrm>
          <a:prstGeom prst="rect">
            <a:avLst/>
          </a:prstGeom>
          <a:noFill/>
          <a:ln>
            <a:noFill/>
          </a:ln>
        </p:spPr>
      </p:pic>
      <p:sp>
        <p:nvSpPr>
          <p:cNvPr id="266" name="Google Shape;266;p16"/>
          <p:cNvSpPr txBox="1"/>
          <p:nvPr/>
        </p:nvSpPr>
        <p:spPr>
          <a:xfrm>
            <a:off x="111418" y="5494014"/>
            <a:ext cx="2420856"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300">
                <a:solidFill>
                  <a:schemeClr val="dk1"/>
                </a:solidFill>
                <a:latin typeface="Arial"/>
                <a:ea typeface="Arial"/>
                <a:cs typeface="Arial"/>
                <a:sym typeface="Arial"/>
              </a:rPr>
              <a:t>Ecosystem services included: </a:t>
            </a:r>
            <a:endParaRPr/>
          </a:p>
          <a:p>
            <a:pPr marL="285750" marR="0" lvl="0" indent="-285750" algn="l" rtl="0">
              <a:spcBef>
                <a:spcPts val="0"/>
              </a:spcBef>
              <a:spcAft>
                <a:spcPts val="0"/>
              </a:spcAft>
              <a:buClr>
                <a:schemeClr val="dk1"/>
              </a:buClr>
              <a:buSzPts val="1300"/>
              <a:buFont typeface="Arial"/>
              <a:buChar char="-"/>
            </a:pPr>
            <a:r>
              <a:rPr lang="de-CH" sz="1300">
                <a:solidFill>
                  <a:schemeClr val="dk1"/>
                </a:solidFill>
                <a:latin typeface="Arial"/>
                <a:ea typeface="Arial"/>
                <a:cs typeface="Arial"/>
                <a:sym typeface="Arial"/>
              </a:rPr>
              <a:t>Recreation potential</a:t>
            </a:r>
            <a:endParaRPr/>
          </a:p>
          <a:p>
            <a:pPr marL="285750" marR="0" lvl="0" indent="-285750" algn="l" rtl="0">
              <a:spcBef>
                <a:spcPts val="0"/>
              </a:spcBef>
              <a:spcAft>
                <a:spcPts val="0"/>
              </a:spcAft>
              <a:buClr>
                <a:schemeClr val="dk1"/>
              </a:buClr>
              <a:buSzPts val="1300"/>
              <a:buFont typeface="Arial"/>
              <a:buChar char="-"/>
            </a:pPr>
            <a:r>
              <a:rPr lang="de-CH" sz="1300">
                <a:solidFill>
                  <a:schemeClr val="dk1"/>
                </a:solidFill>
                <a:latin typeface="Arial"/>
                <a:ea typeface="Arial"/>
                <a:cs typeface="Arial"/>
                <a:sym typeface="Arial"/>
              </a:rPr>
              <a:t>Habitat quality</a:t>
            </a:r>
            <a:endParaRPr/>
          </a:p>
          <a:p>
            <a:pPr marL="285750" marR="0" lvl="0" indent="-285750" algn="l" rtl="0">
              <a:spcBef>
                <a:spcPts val="0"/>
              </a:spcBef>
              <a:spcAft>
                <a:spcPts val="0"/>
              </a:spcAft>
              <a:buClr>
                <a:schemeClr val="dk1"/>
              </a:buClr>
              <a:buSzPts val="1300"/>
              <a:buFont typeface="Arial"/>
              <a:buChar char="-"/>
            </a:pPr>
            <a:r>
              <a:rPr lang="de-CH" sz="1300">
                <a:solidFill>
                  <a:schemeClr val="dk1"/>
                </a:solidFill>
                <a:latin typeface="Arial"/>
                <a:ea typeface="Arial"/>
                <a:cs typeface="Arial"/>
                <a:sym typeface="Arial"/>
              </a:rPr>
              <a:t>Carbon storage </a:t>
            </a:r>
            <a:endParaRPr sz="1300">
              <a:solidFill>
                <a:schemeClr val="dk1"/>
              </a:solidFill>
              <a:latin typeface="Arial"/>
              <a:ea typeface="Arial"/>
              <a:cs typeface="Arial"/>
              <a:sym typeface="Arial"/>
            </a:endParaRPr>
          </a:p>
        </p:txBody>
      </p:sp>
      <p:sp>
        <p:nvSpPr>
          <p:cNvPr id="267" name="Google Shape;267;p16"/>
          <p:cNvSpPr/>
          <p:nvPr/>
        </p:nvSpPr>
        <p:spPr>
          <a:xfrm>
            <a:off x="0" y="171959"/>
            <a:ext cx="3750129" cy="806420"/>
          </a:xfrm>
          <a:prstGeom prst="rect">
            <a:avLst/>
          </a:prstGeom>
          <a:solidFill>
            <a:srgbClr val="E2F0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 name="Google Shape;268;p16"/>
          <p:cNvSpPr txBox="1"/>
          <p:nvPr/>
        </p:nvSpPr>
        <p:spPr>
          <a:xfrm>
            <a:off x="111418" y="333913"/>
            <a:ext cx="39572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800">
                <a:solidFill>
                  <a:schemeClr val="dk1"/>
                </a:solidFill>
                <a:latin typeface="Calibri"/>
                <a:ea typeface="Calibri"/>
                <a:cs typeface="Calibri"/>
                <a:sym typeface="Calibri"/>
              </a:rPr>
              <a:t>PRELIMINARY RESULTS </a:t>
            </a:r>
            <a:endParaRPr/>
          </a:p>
        </p:txBody>
      </p:sp>
      <p:sp>
        <p:nvSpPr>
          <p:cNvPr id="269" name="Google Shape;269;p16"/>
          <p:cNvSpPr/>
          <p:nvPr/>
        </p:nvSpPr>
        <p:spPr>
          <a:xfrm>
            <a:off x="940956" y="2119707"/>
            <a:ext cx="1938528" cy="716811"/>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impact on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270" name="Google Shape;270;p16"/>
          <p:cNvSpPr/>
          <p:nvPr/>
        </p:nvSpPr>
        <p:spPr>
          <a:xfrm>
            <a:off x="3043313" y="2128165"/>
            <a:ext cx="1153249"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ES value</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271" name="Google Shape;271;p16"/>
          <p:cNvSpPr/>
          <p:nvPr/>
        </p:nvSpPr>
        <p:spPr>
          <a:xfrm>
            <a:off x="1668149" y="3507364"/>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Change in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cxnSp>
        <p:nvCxnSpPr>
          <p:cNvPr id="272" name="Google Shape;272;p16"/>
          <p:cNvCxnSpPr>
            <a:stCxn id="271" idx="2"/>
            <a:endCxn id="273" idx="0"/>
          </p:cNvCxnSpPr>
          <p:nvPr/>
        </p:nvCxnSpPr>
        <p:spPr>
          <a:xfrm>
            <a:off x="2637413" y="4224175"/>
            <a:ext cx="15300" cy="488400"/>
          </a:xfrm>
          <a:prstGeom prst="straightConnector1">
            <a:avLst/>
          </a:prstGeom>
          <a:noFill/>
          <a:ln w="28575" cap="flat" cmpd="sng">
            <a:solidFill>
              <a:schemeClr val="dk1"/>
            </a:solidFill>
            <a:prstDash val="solid"/>
            <a:miter lim="800000"/>
            <a:headEnd type="none" w="sm" len="sm"/>
            <a:tailEnd type="triangle" w="med" len="med"/>
          </a:ln>
        </p:spPr>
      </p:cxnSp>
      <p:cxnSp>
        <p:nvCxnSpPr>
          <p:cNvPr id="274" name="Google Shape;274;p16"/>
          <p:cNvCxnSpPr>
            <a:stCxn id="269" idx="2"/>
            <a:endCxn id="271" idx="0"/>
          </p:cNvCxnSpPr>
          <p:nvPr/>
        </p:nvCxnSpPr>
        <p:spPr>
          <a:xfrm>
            <a:off x="1910220" y="2836518"/>
            <a:ext cx="727200" cy="670800"/>
          </a:xfrm>
          <a:prstGeom prst="straightConnector1">
            <a:avLst/>
          </a:prstGeom>
          <a:noFill/>
          <a:ln w="28575" cap="flat" cmpd="sng">
            <a:solidFill>
              <a:schemeClr val="dk1"/>
            </a:solidFill>
            <a:prstDash val="solid"/>
            <a:miter lim="800000"/>
            <a:headEnd type="none" w="sm" len="sm"/>
            <a:tailEnd type="triangle" w="med" len="med"/>
          </a:ln>
        </p:spPr>
      </p:cxnSp>
      <p:cxnSp>
        <p:nvCxnSpPr>
          <p:cNvPr id="275" name="Google Shape;275;p16"/>
          <p:cNvCxnSpPr>
            <a:stCxn id="270" idx="2"/>
            <a:endCxn id="271" idx="0"/>
          </p:cNvCxnSpPr>
          <p:nvPr/>
        </p:nvCxnSpPr>
        <p:spPr>
          <a:xfrm flipH="1">
            <a:off x="2637438" y="2844976"/>
            <a:ext cx="982500" cy="662400"/>
          </a:xfrm>
          <a:prstGeom prst="straightConnector1">
            <a:avLst/>
          </a:prstGeom>
          <a:noFill/>
          <a:ln w="28575" cap="flat" cmpd="sng">
            <a:solidFill>
              <a:schemeClr val="dk1"/>
            </a:solidFill>
            <a:prstDash val="solid"/>
            <a:miter lim="800000"/>
            <a:headEnd type="none" w="sm" len="sm"/>
            <a:tailEnd type="triangle" w="med" len="med"/>
          </a:ln>
        </p:spPr>
      </p:cxnSp>
      <p:sp>
        <p:nvSpPr>
          <p:cNvPr id="273" name="Google Shape;273;p16"/>
          <p:cNvSpPr/>
          <p:nvPr/>
        </p:nvSpPr>
        <p:spPr>
          <a:xfrm>
            <a:off x="1683573" y="4712643"/>
            <a:ext cx="1938528" cy="716811"/>
          </a:xfrm>
          <a:prstGeom prst="rect">
            <a:avLst/>
          </a:prstGeom>
          <a:solidFill>
            <a:srgbClr val="E2F0D9"/>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Suitability</a:t>
            </a:r>
            <a:endParaRPr sz="2400" baseline="-25000">
              <a:solidFill>
                <a:schemeClr val="dk1"/>
              </a:solidFill>
              <a:latin typeface="Calibri"/>
              <a:ea typeface="Calibri"/>
              <a:cs typeface="Calibri"/>
              <a:sym typeface="Calibri"/>
            </a:endParaRPr>
          </a:p>
        </p:txBody>
      </p:sp>
      <p:sp>
        <p:nvSpPr>
          <p:cNvPr id="276" name="Google Shape;276;p16"/>
          <p:cNvSpPr/>
          <p:nvPr/>
        </p:nvSpPr>
        <p:spPr>
          <a:xfrm>
            <a:off x="940956" y="1190621"/>
            <a:ext cx="1938528" cy="720715"/>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LULC </a:t>
            </a:r>
            <a:endParaRPr sz="2400" baseline="-25000">
              <a:solidFill>
                <a:schemeClr val="dk1"/>
              </a:solidFill>
              <a:latin typeface="Calibri"/>
              <a:ea typeface="Calibri"/>
              <a:cs typeface="Calibri"/>
              <a:sym typeface="Calibri"/>
            </a:endParaRPr>
          </a:p>
        </p:txBody>
      </p:sp>
      <p:cxnSp>
        <p:nvCxnSpPr>
          <p:cNvPr id="277" name="Google Shape;277;p16"/>
          <p:cNvCxnSpPr>
            <a:stCxn id="276" idx="2"/>
            <a:endCxn id="269" idx="0"/>
          </p:cNvCxnSpPr>
          <p:nvPr/>
        </p:nvCxnSpPr>
        <p:spPr>
          <a:xfrm>
            <a:off x="1910220" y="1911336"/>
            <a:ext cx="0" cy="208500"/>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7"/>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283" name="Google Shape;283;p17"/>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284" name="Google Shape;284;p17"/>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9</a:t>
            </a:fld>
            <a:endParaRPr/>
          </a:p>
        </p:txBody>
      </p:sp>
      <p:pic>
        <p:nvPicPr>
          <p:cNvPr id="285" name="Google Shape;285;p17"/>
          <p:cNvPicPr preferRelativeResize="0"/>
          <p:nvPr/>
        </p:nvPicPr>
        <p:blipFill rotWithShape="1">
          <a:blip r:embed="rId3">
            <a:alphaModFix/>
          </a:blip>
          <a:srcRect/>
          <a:stretch/>
        </p:blipFill>
        <p:spPr>
          <a:xfrm>
            <a:off x="5675744" y="6284098"/>
            <a:ext cx="840512" cy="572238"/>
          </a:xfrm>
          <a:prstGeom prst="rect">
            <a:avLst/>
          </a:prstGeom>
          <a:noFill/>
          <a:ln>
            <a:noFill/>
          </a:ln>
        </p:spPr>
      </p:pic>
      <p:pic>
        <p:nvPicPr>
          <p:cNvPr id="286" name="Google Shape;286;p17" descr="Ein Bild, das Text, Reihe, Screenshot, Diagramm enthält.&#10;&#10;KI-generierte Inhalte können fehlerhaft sein."/>
          <p:cNvPicPr preferRelativeResize="0"/>
          <p:nvPr/>
        </p:nvPicPr>
        <p:blipFill rotWithShape="1">
          <a:blip r:embed="rId4">
            <a:alphaModFix/>
          </a:blip>
          <a:srcRect/>
          <a:stretch/>
        </p:blipFill>
        <p:spPr>
          <a:xfrm>
            <a:off x="5954743" y="171959"/>
            <a:ext cx="5369151" cy="5142994"/>
          </a:xfrm>
          <a:prstGeom prst="rect">
            <a:avLst/>
          </a:prstGeom>
          <a:noFill/>
          <a:ln w="9525" cap="flat" cmpd="sng">
            <a:solidFill>
              <a:schemeClr val="dk1"/>
            </a:solidFill>
            <a:prstDash val="solid"/>
            <a:round/>
            <a:headEnd type="none" w="sm" len="sm"/>
            <a:tailEnd type="none" w="sm" len="sm"/>
          </a:ln>
        </p:spPr>
      </p:pic>
      <p:sp>
        <p:nvSpPr>
          <p:cNvPr id="287" name="Google Shape;287;p17"/>
          <p:cNvSpPr/>
          <p:nvPr/>
        </p:nvSpPr>
        <p:spPr>
          <a:xfrm>
            <a:off x="0" y="171959"/>
            <a:ext cx="3750129" cy="806420"/>
          </a:xfrm>
          <a:prstGeom prst="rect">
            <a:avLst/>
          </a:prstGeom>
          <a:solidFill>
            <a:srgbClr val="E2F0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7"/>
          <p:cNvSpPr txBox="1"/>
          <p:nvPr/>
        </p:nvSpPr>
        <p:spPr>
          <a:xfrm>
            <a:off x="111418" y="333913"/>
            <a:ext cx="39572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800">
                <a:solidFill>
                  <a:schemeClr val="dk1"/>
                </a:solidFill>
                <a:latin typeface="Calibri"/>
                <a:ea typeface="Calibri"/>
                <a:cs typeface="Calibri"/>
                <a:sym typeface="Calibri"/>
              </a:rPr>
              <a:t>PRELIMINARY RESULTS </a:t>
            </a:r>
            <a:endParaRPr/>
          </a:p>
        </p:txBody>
      </p:sp>
      <p:sp>
        <p:nvSpPr>
          <p:cNvPr id="289" name="Google Shape;289;p17"/>
          <p:cNvSpPr/>
          <p:nvPr/>
        </p:nvSpPr>
        <p:spPr>
          <a:xfrm>
            <a:off x="940956" y="2119707"/>
            <a:ext cx="1938528" cy="716811"/>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impact on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290" name="Google Shape;290;p17"/>
          <p:cNvSpPr/>
          <p:nvPr/>
        </p:nvSpPr>
        <p:spPr>
          <a:xfrm>
            <a:off x="3043313" y="2128165"/>
            <a:ext cx="1153249"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ES value</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291" name="Google Shape;291;p17"/>
          <p:cNvSpPr/>
          <p:nvPr/>
        </p:nvSpPr>
        <p:spPr>
          <a:xfrm>
            <a:off x="1668149" y="3507364"/>
            <a:ext cx="1938528" cy="716811"/>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Change in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cxnSp>
        <p:nvCxnSpPr>
          <p:cNvPr id="292" name="Google Shape;292;p17"/>
          <p:cNvCxnSpPr>
            <a:stCxn id="291" idx="2"/>
            <a:endCxn id="293" idx="0"/>
          </p:cNvCxnSpPr>
          <p:nvPr/>
        </p:nvCxnSpPr>
        <p:spPr>
          <a:xfrm>
            <a:off x="2637413" y="4224175"/>
            <a:ext cx="15300" cy="488400"/>
          </a:xfrm>
          <a:prstGeom prst="straightConnector1">
            <a:avLst/>
          </a:prstGeom>
          <a:noFill/>
          <a:ln w="28575" cap="flat" cmpd="sng">
            <a:solidFill>
              <a:schemeClr val="dk1"/>
            </a:solidFill>
            <a:prstDash val="solid"/>
            <a:miter lim="800000"/>
            <a:headEnd type="none" w="sm" len="sm"/>
            <a:tailEnd type="triangle" w="med" len="med"/>
          </a:ln>
        </p:spPr>
      </p:cxnSp>
      <p:cxnSp>
        <p:nvCxnSpPr>
          <p:cNvPr id="294" name="Google Shape;294;p17"/>
          <p:cNvCxnSpPr>
            <a:stCxn id="289" idx="2"/>
            <a:endCxn id="291" idx="0"/>
          </p:cNvCxnSpPr>
          <p:nvPr/>
        </p:nvCxnSpPr>
        <p:spPr>
          <a:xfrm>
            <a:off x="1910220" y="2836518"/>
            <a:ext cx="727200" cy="670800"/>
          </a:xfrm>
          <a:prstGeom prst="straightConnector1">
            <a:avLst/>
          </a:prstGeom>
          <a:noFill/>
          <a:ln w="28575" cap="flat" cmpd="sng">
            <a:solidFill>
              <a:schemeClr val="dk1"/>
            </a:solidFill>
            <a:prstDash val="solid"/>
            <a:miter lim="800000"/>
            <a:headEnd type="none" w="sm" len="sm"/>
            <a:tailEnd type="triangle" w="med" len="med"/>
          </a:ln>
        </p:spPr>
      </p:cxnSp>
      <p:cxnSp>
        <p:nvCxnSpPr>
          <p:cNvPr id="295" name="Google Shape;295;p17"/>
          <p:cNvCxnSpPr>
            <a:stCxn id="290" idx="2"/>
            <a:endCxn id="291" idx="0"/>
          </p:cNvCxnSpPr>
          <p:nvPr/>
        </p:nvCxnSpPr>
        <p:spPr>
          <a:xfrm flipH="1">
            <a:off x="2637438" y="2844976"/>
            <a:ext cx="982500" cy="662400"/>
          </a:xfrm>
          <a:prstGeom prst="straightConnector1">
            <a:avLst/>
          </a:prstGeom>
          <a:noFill/>
          <a:ln w="28575" cap="flat" cmpd="sng">
            <a:solidFill>
              <a:schemeClr val="dk1"/>
            </a:solidFill>
            <a:prstDash val="solid"/>
            <a:miter lim="800000"/>
            <a:headEnd type="none" w="sm" len="sm"/>
            <a:tailEnd type="triangle" w="med" len="med"/>
          </a:ln>
        </p:spPr>
      </p:cxnSp>
      <p:sp>
        <p:nvSpPr>
          <p:cNvPr id="293" name="Google Shape;293;p17"/>
          <p:cNvSpPr/>
          <p:nvPr/>
        </p:nvSpPr>
        <p:spPr>
          <a:xfrm>
            <a:off x="1683573" y="4712643"/>
            <a:ext cx="1938528" cy="716811"/>
          </a:xfrm>
          <a:prstGeom prst="rect">
            <a:avLst/>
          </a:prstGeom>
          <a:solidFill>
            <a:srgbClr val="E2F0D9"/>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Suitability</a:t>
            </a:r>
            <a:endParaRPr sz="2400" baseline="-25000">
              <a:solidFill>
                <a:schemeClr val="dk1"/>
              </a:solidFill>
              <a:latin typeface="Calibri"/>
              <a:ea typeface="Calibri"/>
              <a:cs typeface="Calibri"/>
              <a:sym typeface="Calibri"/>
            </a:endParaRPr>
          </a:p>
        </p:txBody>
      </p:sp>
      <p:sp>
        <p:nvSpPr>
          <p:cNvPr id="296" name="Google Shape;296;p17"/>
          <p:cNvSpPr/>
          <p:nvPr/>
        </p:nvSpPr>
        <p:spPr>
          <a:xfrm>
            <a:off x="940956" y="1190621"/>
            <a:ext cx="1938528" cy="720715"/>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LULC </a:t>
            </a:r>
            <a:endParaRPr sz="2400" baseline="-25000">
              <a:solidFill>
                <a:schemeClr val="dk1"/>
              </a:solidFill>
              <a:latin typeface="Calibri"/>
              <a:ea typeface="Calibri"/>
              <a:cs typeface="Calibri"/>
              <a:sym typeface="Calibri"/>
            </a:endParaRPr>
          </a:p>
        </p:txBody>
      </p:sp>
      <p:cxnSp>
        <p:nvCxnSpPr>
          <p:cNvPr id="297" name="Google Shape;297;p17"/>
          <p:cNvCxnSpPr>
            <a:stCxn id="296" idx="2"/>
            <a:endCxn id="289" idx="0"/>
          </p:cNvCxnSpPr>
          <p:nvPr/>
        </p:nvCxnSpPr>
        <p:spPr>
          <a:xfrm>
            <a:off x="1910220" y="1911336"/>
            <a:ext cx="0" cy="208500"/>
          </a:xfrm>
          <a:prstGeom prst="straightConnector1">
            <a:avLst/>
          </a:prstGeom>
          <a:noFill/>
          <a:ln w="28575" cap="flat" cmpd="sng">
            <a:solidFill>
              <a:schemeClr val="dk1"/>
            </a:solidFill>
            <a:prstDash val="solid"/>
            <a:miter lim="800000"/>
            <a:headEnd type="none" w="sm" len="sm"/>
            <a:tailEnd type="triangle" w="med" len="med"/>
          </a:ln>
        </p:spPr>
      </p:cxnSp>
      <p:sp>
        <p:nvSpPr>
          <p:cNvPr id="298" name="Google Shape;298;p17"/>
          <p:cNvSpPr txBox="1"/>
          <p:nvPr/>
        </p:nvSpPr>
        <p:spPr>
          <a:xfrm>
            <a:off x="739304" y="5772838"/>
            <a:ext cx="10584590" cy="369332"/>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800" b="1">
                <a:solidFill>
                  <a:schemeClr val="dk1"/>
                </a:solidFill>
                <a:latin typeface="Calibri"/>
                <a:ea typeface="Calibri"/>
                <a:cs typeface="Calibri"/>
                <a:sym typeface="Calibri"/>
              </a:rPr>
              <a:t>In mountain areas, trade-offs between PV and ES prevail, while synergies are at lower altitudes.</a:t>
            </a:r>
            <a:endParaRPr sz="1800" b="1">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8"/>
          <p:cNvSpPr/>
          <p:nvPr/>
        </p:nvSpPr>
        <p:spPr>
          <a:xfrm>
            <a:off x="615950" y="1022350"/>
            <a:ext cx="11036300" cy="5381432"/>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05" name="Google Shape;305;p18" descr="The 8 most breathtaking places to visit in the Kanton Graubünden"/>
          <p:cNvPicPr preferRelativeResize="0"/>
          <p:nvPr/>
        </p:nvPicPr>
        <p:blipFill rotWithShape="1">
          <a:blip r:embed="rId3">
            <a:alphaModFix amt="50000"/>
          </a:blip>
          <a:srcRect t="5243" b="24597"/>
          <a:stretch/>
        </p:blipFill>
        <p:spPr>
          <a:xfrm>
            <a:off x="714375" y="1044382"/>
            <a:ext cx="10763250" cy="5359400"/>
          </a:xfrm>
          <a:prstGeom prst="rect">
            <a:avLst/>
          </a:prstGeom>
          <a:noFill/>
          <a:ln>
            <a:noFill/>
          </a:ln>
        </p:spPr>
      </p:pic>
      <p:sp>
        <p:nvSpPr>
          <p:cNvPr id="306" name="Google Shape;306;p18"/>
          <p:cNvSpPr txBox="1">
            <a:spLocks noGrp="1"/>
          </p:cNvSpPr>
          <p:nvPr>
            <p:ph type="ctrTitle"/>
          </p:nvPr>
        </p:nvSpPr>
        <p:spPr>
          <a:xfrm>
            <a:off x="-63500" y="1624500"/>
            <a:ext cx="5702300" cy="4449081"/>
          </a:xfrm>
          <a:prstGeom prst="rect">
            <a:avLst/>
          </a:prstGeom>
          <a:solidFill>
            <a:schemeClr val="lt1">
              <a:alpha val="60000"/>
            </a:schemeClr>
          </a:solidFill>
          <a:ln>
            <a:noFill/>
          </a:ln>
        </p:spPr>
        <p:txBody>
          <a:bodyPr spcFirstLastPara="1" wrap="square" lIns="1080000" tIns="252000" rIns="0" bIns="0" anchor="t" anchorCtr="0">
            <a:noAutofit/>
          </a:bodyPr>
          <a:lstStyle/>
          <a:p>
            <a:pPr marL="0" lvl="0" indent="0" algn="l" rtl="0">
              <a:lnSpc>
                <a:spcPct val="100000"/>
              </a:lnSpc>
              <a:spcBef>
                <a:spcPts val="0"/>
              </a:spcBef>
              <a:spcAft>
                <a:spcPts val="0"/>
              </a:spcAft>
              <a:buClr>
                <a:schemeClr val="dk1"/>
              </a:buClr>
              <a:buSzPts val="3000"/>
              <a:buFont typeface="Roboto"/>
              <a:buNone/>
            </a:pPr>
            <a:r>
              <a:rPr lang="de-CH" sz="3000">
                <a:solidFill>
                  <a:schemeClr val="dk1"/>
                </a:solidFill>
                <a:latin typeface="Roboto"/>
                <a:ea typeface="Roboto"/>
                <a:cs typeface="Roboto"/>
                <a:sym typeface="Roboto"/>
              </a:rPr>
              <a:t>OUTLOOK </a:t>
            </a:r>
            <a:r>
              <a:rPr lang="de-CH" sz="2200" b="0" i="1">
                <a:solidFill>
                  <a:schemeClr val="dk1"/>
                </a:solidFill>
                <a:latin typeface="Roboto"/>
                <a:ea typeface="Roboto"/>
                <a:cs typeface="Roboto"/>
                <a:sym typeface="Roboto"/>
              </a:rPr>
              <a:t>Future changes </a:t>
            </a:r>
            <a:br>
              <a:rPr lang="de-CH" sz="2200" b="0" i="1">
                <a:solidFill>
                  <a:schemeClr val="dk1"/>
                </a:solidFill>
                <a:latin typeface="Roboto"/>
                <a:ea typeface="Roboto"/>
                <a:cs typeface="Roboto"/>
                <a:sym typeface="Roboto"/>
              </a:rPr>
            </a:br>
            <a:br>
              <a:rPr lang="de-CH" sz="2200" b="0" i="1">
                <a:solidFill>
                  <a:schemeClr val="dk1"/>
                </a:solidFill>
                <a:latin typeface="Roboto"/>
                <a:ea typeface="Roboto"/>
                <a:cs typeface="Roboto"/>
                <a:sym typeface="Roboto"/>
              </a:rPr>
            </a:br>
            <a:endParaRPr sz="2200" b="0" i="1">
              <a:solidFill>
                <a:schemeClr val="dk1"/>
              </a:solidFill>
              <a:latin typeface="Roboto"/>
              <a:ea typeface="Roboto"/>
              <a:cs typeface="Roboto"/>
              <a:sym typeface="Roboto"/>
            </a:endParaRPr>
          </a:p>
        </p:txBody>
      </p:sp>
      <p:pic>
        <p:nvPicPr>
          <p:cNvPr id="307" name="Google Shape;307;p18"/>
          <p:cNvPicPr preferRelativeResize="0"/>
          <p:nvPr/>
        </p:nvPicPr>
        <p:blipFill rotWithShape="1">
          <a:blip r:embed="rId4">
            <a:alphaModFix/>
          </a:blip>
          <a:srcRect/>
          <a:stretch/>
        </p:blipFill>
        <p:spPr>
          <a:xfrm>
            <a:off x="4683570" y="76332"/>
            <a:ext cx="1203990" cy="792348"/>
          </a:xfrm>
          <a:prstGeom prst="rect">
            <a:avLst/>
          </a:prstGeom>
          <a:noFill/>
          <a:ln>
            <a:noFill/>
          </a:ln>
        </p:spPr>
      </p:pic>
      <p:sp>
        <p:nvSpPr>
          <p:cNvPr id="308" name="Google Shape;308;p18"/>
          <p:cNvSpPr txBox="1"/>
          <p:nvPr/>
        </p:nvSpPr>
        <p:spPr>
          <a:xfrm flipH="1">
            <a:off x="8097078" y="1044382"/>
            <a:ext cx="3380546" cy="5381431"/>
          </a:xfrm>
          <a:prstGeom prst="rect">
            <a:avLst/>
          </a:prstGeom>
          <a:solidFill>
            <a:srgbClr val="E2F0D9"/>
          </a:solidFill>
          <a:ln w="9525" cap="flat" cmpd="sng">
            <a:solidFill>
              <a:srgbClr val="EAF6BB"/>
            </a:solidFill>
            <a:prstDash val="solid"/>
            <a:round/>
            <a:headEnd type="none" w="sm" len="sm"/>
            <a:tailEnd type="none" w="sm" len="sm"/>
          </a:ln>
        </p:spPr>
        <p:txBody>
          <a:bodyPr spcFirstLastPara="1" wrap="square" lIns="215500" tIns="215500" rIns="215500" bIns="215500" anchor="t" anchorCtr="0">
            <a:noAutofit/>
          </a:bodyPr>
          <a:lstStyle/>
          <a:p>
            <a:pPr marL="0" marR="0" lvl="0" indent="0" algn="l" rtl="0">
              <a:spcBef>
                <a:spcPts val="0"/>
              </a:spcBef>
              <a:spcAft>
                <a:spcPts val="0"/>
              </a:spcAft>
              <a:buNone/>
            </a:pPr>
            <a:endParaRPr sz="1437">
              <a:solidFill>
                <a:schemeClr val="dk1"/>
              </a:solidFill>
              <a:latin typeface="Calibri"/>
              <a:ea typeface="Calibri"/>
              <a:cs typeface="Calibri"/>
              <a:sym typeface="Calibri"/>
            </a:endParaRPr>
          </a:p>
        </p:txBody>
      </p:sp>
      <p:sp>
        <p:nvSpPr>
          <p:cNvPr id="309" name="Google Shape;309;p18"/>
          <p:cNvSpPr txBox="1"/>
          <p:nvPr/>
        </p:nvSpPr>
        <p:spPr>
          <a:xfrm>
            <a:off x="8215670" y="1624500"/>
            <a:ext cx="3058960" cy="14773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CH" sz="1800" b="1">
                <a:solidFill>
                  <a:schemeClr val="dk1"/>
                </a:solidFill>
                <a:latin typeface="Arial"/>
                <a:ea typeface="Arial"/>
                <a:cs typeface="Arial"/>
                <a:sym typeface="Arial"/>
              </a:rPr>
              <a:t>Would you like to participate in the SURVEY?</a:t>
            </a:r>
            <a:endParaRPr/>
          </a:p>
          <a:p>
            <a:pPr marL="0" marR="0" lvl="0" indent="0" algn="ctr" rtl="0">
              <a:spcBef>
                <a:spcPts val="0"/>
              </a:spcBef>
              <a:spcAft>
                <a:spcPts val="0"/>
              </a:spcAft>
              <a:buNone/>
            </a:pPr>
            <a:r>
              <a:rPr lang="de-CH" sz="1800">
                <a:solidFill>
                  <a:schemeClr val="dk1"/>
                </a:solidFill>
                <a:latin typeface="Arial"/>
                <a:ea typeface="Arial"/>
                <a:cs typeface="Arial"/>
                <a:sym typeface="Arial"/>
              </a:rPr>
              <a:t>Enter your contact details to receive an email invitation:</a:t>
            </a:r>
            <a:endParaRPr sz="1800">
              <a:solidFill>
                <a:schemeClr val="dk1"/>
              </a:solidFill>
              <a:latin typeface="Arial"/>
              <a:ea typeface="Arial"/>
              <a:cs typeface="Arial"/>
              <a:sym typeface="Arial"/>
            </a:endParaRPr>
          </a:p>
        </p:txBody>
      </p:sp>
      <p:sp>
        <p:nvSpPr>
          <p:cNvPr id="310" name="Google Shape;310;p18"/>
          <p:cNvSpPr txBox="1"/>
          <p:nvPr/>
        </p:nvSpPr>
        <p:spPr>
          <a:xfrm>
            <a:off x="8349767" y="5215458"/>
            <a:ext cx="312785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Survey link: </a:t>
            </a:r>
            <a:br>
              <a:rPr lang="de-CH" sz="1400">
                <a:solidFill>
                  <a:schemeClr val="dk1"/>
                </a:solidFill>
                <a:latin typeface="Arial"/>
                <a:ea typeface="Arial"/>
                <a:cs typeface="Arial"/>
                <a:sym typeface="Arial"/>
              </a:rPr>
            </a:br>
            <a:r>
              <a:rPr lang="de-CH" sz="1400" u="sng">
                <a:solidFill>
                  <a:schemeClr val="hlink"/>
                </a:solidFill>
                <a:latin typeface="Arial"/>
                <a:ea typeface="Arial"/>
                <a:cs typeface="Arial"/>
                <a:sym typeface="Arial"/>
                <a:hlinkClick r:id="rId5"/>
              </a:rPr>
              <a:t>https://pv-eco-survey.ethz.ch</a:t>
            </a:r>
            <a:endParaRPr sz="1400">
              <a:solidFill>
                <a:schemeClr val="dk1"/>
              </a:solidFill>
              <a:latin typeface="Arial"/>
              <a:ea typeface="Arial"/>
              <a:cs typeface="Arial"/>
              <a:sym typeface="Arial"/>
            </a:endParaRPr>
          </a:p>
        </p:txBody>
      </p:sp>
      <p:sp>
        <p:nvSpPr>
          <p:cNvPr id="311" name="Google Shape;311;p18"/>
          <p:cNvSpPr txBox="1"/>
          <p:nvPr/>
        </p:nvSpPr>
        <p:spPr>
          <a:xfrm>
            <a:off x="2255158" y="3356697"/>
            <a:ext cx="5441277" cy="149187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800"/>
              <a:buFont typeface="Arial"/>
              <a:buNone/>
            </a:pPr>
            <a:endParaRPr sz="1800" i="1">
              <a:solidFill>
                <a:schemeClr val="dk1"/>
              </a:solidFill>
              <a:latin typeface="Roboto"/>
              <a:ea typeface="Roboto"/>
              <a:cs typeface="Roboto"/>
              <a:sym typeface="Roboto"/>
            </a:endParaRPr>
          </a:p>
        </p:txBody>
      </p:sp>
      <p:sp>
        <p:nvSpPr>
          <p:cNvPr id="312" name="Google Shape;312;p18"/>
          <p:cNvSpPr txBox="1"/>
          <p:nvPr/>
        </p:nvSpPr>
        <p:spPr>
          <a:xfrm>
            <a:off x="-30509" y="3419764"/>
            <a:ext cx="475705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br>
              <a:rPr lang="de-CH" sz="1800" b="0">
                <a:solidFill>
                  <a:schemeClr val="dk1"/>
                </a:solidFill>
                <a:latin typeface="Roboto"/>
                <a:ea typeface="Roboto"/>
                <a:cs typeface="Roboto"/>
                <a:sym typeface="Roboto"/>
              </a:rPr>
            </a:br>
            <a:br>
              <a:rPr lang="de-CH" sz="3600">
                <a:solidFill>
                  <a:schemeClr val="dk1"/>
                </a:solidFill>
                <a:latin typeface="Roboto"/>
                <a:ea typeface="Roboto"/>
                <a:cs typeface="Roboto"/>
                <a:sym typeface="Roboto"/>
              </a:rPr>
            </a:br>
            <a:endParaRPr sz="1800">
              <a:solidFill>
                <a:schemeClr val="dk1"/>
              </a:solidFill>
              <a:latin typeface="Arial"/>
              <a:ea typeface="Arial"/>
              <a:cs typeface="Arial"/>
              <a:sym typeface="Arial"/>
            </a:endParaRPr>
          </a:p>
        </p:txBody>
      </p:sp>
      <p:sp>
        <p:nvSpPr>
          <p:cNvPr id="313" name="Google Shape;313;p18"/>
          <p:cNvSpPr/>
          <p:nvPr/>
        </p:nvSpPr>
        <p:spPr>
          <a:xfrm>
            <a:off x="1087836" y="3326919"/>
            <a:ext cx="1410199" cy="637597"/>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impact on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314" name="Google Shape;314;p18"/>
          <p:cNvSpPr/>
          <p:nvPr/>
        </p:nvSpPr>
        <p:spPr>
          <a:xfrm>
            <a:off x="2647797" y="3316171"/>
            <a:ext cx="1153249" cy="637598"/>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ES value</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sp>
        <p:nvSpPr>
          <p:cNvPr id="315" name="Google Shape;315;p18"/>
          <p:cNvSpPr/>
          <p:nvPr/>
        </p:nvSpPr>
        <p:spPr>
          <a:xfrm>
            <a:off x="1518159" y="4486839"/>
            <a:ext cx="1938528" cy="551667"/>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Change in ES</a:t>
            </a:r>
            <a:r>
              <a:rPr lang="de-CH" sz="2400" baseline="-25000">
                <a:solidFill>
                  <a:schemeClr val="dk1"/>
                </a:solidFill>
                <a:latin typeface="Calibri"/>
                <a:ea typeface="Calibri"/>
                <a:cs typeface="Calibri"/>
                <a:sym typeface="Calibri"/>
              </a:rPr>
              <a:t>x</a:t>
            </a:r>
            <a:endParaRPr sz="2400" baseline="-25000">
              <a:solidFill>
                <a:schemeClr val="dk1"/>
              </a:solidFill>
              <a:latin typeface="Calibri"/>
              <a:ea typeface="Calibri"/>
              <a:cs typeface="Calibri"/>
              <a:sym typeface="Calibri"/>
            </a:endParaRPr>
          </a:p>
        </p:txBody>
      </p:sp>
      <p:cxnSp>
        <p:nvCxnSpPr>
          <p:cNvPr id="316" name="Google Shape;316;p18"/>
          <p:cNvCxnSpPr>
            <a:stCxn id="315" idx="2"/>
            <a:endCxn id="317" idx="0"/>
          </p:cNvCxnSpPr>
          <p:nvPr/>
        </p:nvCxnSpPr>
        <p:spPr>
          <a:xfrm>
            <a:off x="2487423" y="5038506"/>
            <a:ext cx="10500" cy="301200"/>
          </a:xfrm>
          <a:prstGeom prst="straightConnector1">
            <a:avLst/>
          </a:prstGeom>
          <a:noFill/>
          <a:ln w="28575" cap="flat" cmpd="sng">
            <a:solidFill>
              <a:schemeClr val="dk1"/>
            </a:solidFill>
            <a:prstDash val="solid"/>
            <a:miter lim="800000"/>
            <a:headEnd type="none" w="sm" len="sm"/>
            <a:tailEnd type="triangle" w="med" len="med"/>
          </a:ln>
        </p:spPr>
      </p:cxnSp>
      <p:cxnSp>
        <p:nvCxnSpPr>
          <p:cNvPr id="318" name="Google Shape;318;p18"/>
          <p:cNvCxnSpPr>
            <a:stCxn id="313" idx="2"/>
            <a:endCxn id="315" idx="0"/>
          </p:cNvCxnSpPr>
          <p:nvPr/>
        </p:nvCxnSpPr>
        <p:spPr>
          <a:xfrm>
            <a:off x="1792936" y="3964516"/>
            <a:ext cx="694500" cy="522300"/>
          </a:xfrm>
          <a:prstGeom prst="straightConnector1">
            <a:avLst/>
          </a:prstGeom>
          <a:noFill/>
          <a:ln w="28575" cap="flat" cmpd="sng">
            <a:solidFill>
              <a:schemeClr val="dk1"/>
            </a:solidFill>
            <a:prstDash val="solid"/>
            <a:miter lim="800000"/>
            <a:headEnd type="none" w="sm" len="sm"/>
            <a:tailEnd type="triangle" w="med" len="med"/>
          </a:ln>
        </p:spPr>
      </p:cxnSp>
      <p:cxnSp>
        <p:nvCxnSpPr>
          <p:cNvPr id="319" name="Google Shape;319;p18"/>
          <p:cNvCxnSpPr>
            <a:stCxn id="314" idx="2"/>
            <a:endCxn id="315" idx="0"/>
          </p:cNvCxnSpPr>
          <p:nvPr/>
        </p:nvCxnSpPr>
        <p:spPr>
          <a:xfrm flipH="1">
            <a:off x="2487322" y="3953769"/>
            <a:ext cx="737100" cy="533100"/>
          </a:xfrm>
          <a:prstGeom prst="straightConnector1">
            <a:avLst/>
          </a:prstGeom>
          <a:noFill/>
          <a:ln w="28575" cap="flat" cmpd="sng">
            <a:solidFill>
              <a:schemeClr val="dk1"/>
            </a:solidFill>
            <a:prstDash val="solid"/>
            <a:miter lim="800000"/>
            <a:headEnd type="none" w="sm" len="sm"/>
            <a:tailEnd type="triangle" w="med" len="med"/>
          </a:ln>
        </p:spPr>
      </p:cxnSp>
      <p:sp>
        <p:nvSpPr>
          <p:cNvPr id="317" name="Google Shape;317;p18"/>
          <p:cNvSpPr/>
          <p:nvPr/>
        </p:nvSpPr>
        <p:spPr>
          <a:xfrm>
            <a:off x="1528771" y="5339581"/>
            <a:ext cx="1938528" cy="553323"/>
          </a:xfrm>
          <a:prstGeom prst="rect">
            <a:avLst/>
          </a:prstGeom>
          <a:solidFill>
            <a:srgbClr val="F2F2F2"/>
          </a:solidFill>
          <a:ln w="12700" cap="flat" cmpd="sng">
            <a:solidFill>
              <a:srgbClr val="0D264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PV Suitability</a:t>
            </a:r>
            <a:endParaRPr sz="2400" baseline="-25000">
              <a:solidFill>
                <a:schemeClr val="dk1"/>
              </a:solidFill>
              <a:latin typeface="Calibri"/>
              <a:ea typeface="Calibri"/>
              <a:cs typeface="Calibri"/>
              <a:sym typeface="Calibri"/>
            </a:endParaRPr>
          </a:p>
        </p:txBody>
      </p:sp>
      <p:sp>
        <p:nvSpPr>
          <p:cNvPr id="320" name="Google Shape;320;p18"/>
          <p:cNvSpPr/>
          <p:nvPr/>
        </p:nvSpPr>
        <p:spPr>
          <a:xfrm>
            <a:off x="1087836" y="2456225"/>
            <a:ext cx="1410199" cy="583109"/>
          </a:xfrm>
          <a:prstGeom prst="rect">
            <a:avLst/>
          </a:prstGeom>
          <a:solidFill>
            <a:srgbClr val="F2F2F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de-CH" sz="1800">
                <a:solidFill>
                  <a:schemeClr val="dk1"/>
                </a:solidFill>
                <a:latin typeface="Calibri"/>
                <a:ea typeface="Calibri"/>
                <a:cs typeface="Calibri"/>
                <a:sym typeface="Calibri"/>
              </a:rPr>
              <a:t>LULC </a:t>
            </a:r>
            <a:endParaRPr sz="2400" baseline="-25000">
              <a:solidFill>
                <a:schemeClr val="dk1"/>
              </a:solidFill>
              <a:latin typeface="Calibri"/>
              <a:ea typeface="Calibri"/>
              <a:cs typeface="Calibri"/>
              <a:sym typeface="Calibri"/>
            </a:endParaRPr>
          </a:p>
        </p:txBody>
      </p:sp>
      <p:cxnSp>
        <p:nvCxnSpPr>
          <p:cNvPr id="321" name="Google Shape;321;p18"/>
          <p:cNvCxnSpPr>
            <a:stCxn id="320" idx="2"/>
            <a:endCxn id="313" idx="0"/>
          </p:cNvCxnSpPr>
          <p:nvPr/>
        </p:nvCxnSpPr>
        <p:spPr>
          <a:xfrm>
            <a:off x="1792936" y="3039334"/>
            <a:ext cx="0" cy="287700"/>
          </a:xfrm>
          <a:prstGeom prst="straightConnector1">
            <a:avLst/>
          </a:prstGeom>
          <a:noFill/>
          <a:ln w="28575" cap="flat" cmpd="sng">
            <a:solidFill>
              <a:schemeClr val="dk1"/>
            </a:solidFill>
            <a:prstDash val="solid"/>
            <a:miter lim="800000"/>
            <a:headEnd type="none" w="sm" len="sm"/>
            <a:tailEnd type="triangle" w="med" len="med"/>
          </a:ln>
        </p:spPr>
      </p:cxnSp>
      <p:pic>
        <p:nvPicPr>
          <p:cNvPr id="322" name="Google Shape;322;p18" descr="Raster - Iconfinder"/>
          <p:cNvPicPr preferRelativeResize="0"/>
          <p:nvPr/>
        </p:nvPicPr>
        <p:blipFill rotWithShape="1">
          <a:blip r:embed="rId6">
            <a:alphaModFix/>
          </a:blip>
          <a:srcRect/>
          <a:stretch/>
        </p:blipFill>
        <p:spPr>
          <a:xfrm>
            <a:off x="2639447" y="2483339"/>
            <a:ext cx="499514" cy="499514"/>
          </a:xfrm>
          <a:prstGeom prst="rect">
            <a:avLst/>
          </a:prstGeom>
          <a:noFill/>
          <a:ln>
            <a:noFill/>
          </a:ln>
        </p:spPr>
      </p:pic>
      <p:pic>
        <p:nvPicPr>
          <p:cNvPr id="323" name="Google Shape;323;p18" descr="Raster - Iconfinder"/>
          <p:cNvPicPr preferRelativeResize="0"/>
          <p:nvPr/>
        </p:nvPicPr>
        <p:blipFill rotWithShape="1">
          <a:blip r:embed="rId6">
            <a:alphaModFix/>
          </a:blip>
          <a:srcRect/>
          <a:stretch/>
        </p:blipFill>
        <p:spPr>
          <a:xfrm>
            <a:off x="3986463" y="3387123"/>
            <a:ext cx="499514" cy="499514"/>
          </a:xfrm>
          <a:prstGeom prst="rect">
            <a:avLst/>
          </a:prstGeom>
          <a:noFill/>
          <a:ln>
            <a:noFill/>
          </a:ln>
        </p:spPr>
      </p:pic>
      <p:sp>
        <p:nvSpPr>
          <p:cNvPr id="324" name="Google Shape;324;p18"/>
          <p:cNvSpPr txBox="1"/>
          <p:nvPr/>
        </p:nvSpPr>
        <p:spPr>
          <a:xfrm>
            <a:off x="3216071" y="2599730"/>
            <a:ext cx="140123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b="1">
                <a:solidFill>
                  <a:schemeClr val="dk1"/>
                </a:solidFill>
                <a:latin typeface="Arial"/>
                <a:ea typeface="Arial"/>
                <a:cs typeface="Arial"/>
                <a:sym typeface="Arial"/>
              </a:rPr>
              <a:t>∆</a:t>
            </a:r>
            <a:r>
              <a:rPr lang="de-CH" sz="1600">
                <a:solidFill>
                  <a:schemeClr val="dk1"/>
                </a:solidFill>
                <a:latin typeface="Arial"/>
                <a:ea typeface="Arial"/>
                <a:cs typeface="Arial"/>
                <a:sym typeface="Arial"/>
              </a:rPr>
              <a:t>LULC</a:t>
            </a:r>
            <a:endParaRPr/>
          </a:p>
        </p:txBody>
      </p:sp>
      <p:sp>
        <p:nvSpPr>
          <p:cNvPr id="325" name="Google Shape;325;p18"/>
          <p:cNvSpPr txBox="1"/>
          <p:nvPr/>
        </p:nvSpPr>
        <p:spPr>
          <a:xfrm>
            <a:off x="4497763" y="3489989"/>
            <a:ext cx="170738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a:solidFill>
                  <a:schemeClr val="dk1"/>
                </a:solidFill>
                <a:latin typeface="Arial"/>
                <a:ea typeface="Arial"/>
                <a:cs typeface="Arial"/>
                <a:sym typeface="Arial"/>
              </a:rPr>
              <a:t>∆ES</a:t>
            </a:r>
            <a:endParaRPr/>
          </a:p>
        </p:txBody>
      </p:sp>
      <p:pic>
        <p:nvPicPr>
          <p:cNvPr id="326" name="Google Shape;326;p18" descr="Ein Bild, das Muster, Quadrat, Kunst, Symmetrie enthält.&#10;&#10;KI-generierte Inhalte können fehlerhaft sein."/>
          <p:cNvPicPr preferRelativeResize="0"/>
          <p:nvPr/>
        </p:nvPicPr>
        <p:blipFill rotWithShape="1">
          <a:blip r:embed="rId7">
            <a:alphaModFix/>
          </a:blip>
          <a:srcRect/>
          <a:stretch/>
        </p:blipFill>
        <p:spPr>
          <a:xfrm>
            <a:off x="8792300" y="3123860"/>
            <a:ext cx="1990102" cy="19901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9"/>
          <p:cNvSpPr/>
          <p:nvPr/>
        </p:nvSpPr>
        <p:spPr>
          <a:xfrm>
            <a:off x="615950" y="1022350"/>
            <a:ext cx="11036300" cy="5381432"/>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33" name="Google Shape;333;p19" descr="The 8 most breathtaking places to visit in the Kanton Graubünden"/>
          <p:cNvPicPr preferRelativeResize="0"/>
          <p:nvPr/>
        </p:nvPicPr>
        <p:blipFill rotWithShape="1">
          <a:blip r:embed="rId3">
            <a:alphaModFix amt="50000"/>
          </a:blip>
          <a:srcRect t="5243" b="24597"/>
          <a:stretch/>
        </p:blipFill>
        <p:spPr>
          <a:xfrm>
            <a:off x="714375" y="1044382"/>
            <a:ext cx="10763250" cy="5359400"/>
          </a:xfrm>
          <a:prstGeom prst="rect">
            <a:avLst/>
          </a:prstGeom>
          <a:noFill/>
          <a:ln>
            <a:noFill/>
          </a:ln>
        </p:spPr>
      </p:pic>
      <p:sp>
        <p:nvSpPr>
          <p:cNvPr id="334" name="Google Shape;334;p19"/>
          <p:cNvSpPr txBox="1">
            <a:spLocks noGrp="1"/>
          </p:cNvSpPr>
          <p:nvPr>
            <p:ph type="ctrTitle"/>
          </p:nvPr>
        </p:nvSpPr>
        <p:spPr>
          <a:xfrm>
            <a:off x="-63500" y="3429000"/>
            <a:ext cx="6337300" cy="2644581"/>
          </a:xfrm>
          <a:prstGeom prst="rect">
            <a:avLst/>
          </a:prstGeom>
          <a:solidFill>
            <a:schemeClr val="lt1">
              <a:alpha val="60000"/>
            </a:schemeClr>
          </a:solidFill>
          <a:ln>
            <a:noFill/>
          </a:ln>
        </p:spPr>
        <p:txBody>
          <a:bodyPr spcFirstLastPara="1" wrap="square" lIns="1080000" tIns="252000" rIns="0" bIns="0" anchor="t" anchorCtr="0">
            <a:noAutofit/>
          </a:bodyPr>
          <a:lstStyle/>
          <a:p>
            <a:pPr marL="0" lvl="0" indent="0" algn="l" rtl="0">
              <a:lnSpc>
                <a:spcPct val="100000"/>
              </a:lnSpc>
              <a:spcBef>
                <a:spcPts val="0"/>
              </a:spcBef>
              <a:spcAft>
                <a:spcPts val="0"/>
              </a:spcAft>
              <a:buClr>
                <a:schemeClr val="dk1"/>
              </a:buClr>
              <a:buSzPts val="3000"/>
              <a:buFont typeface="Roboto"/>
              <a:buNone/>
            </a:pPr>
            <a:r>
              <a:rPr lang="de-CH" sz="3000">
                <a:solidFill>
                  <a:schemeClr val="dk1"/>
                </a:solidFill>
                <a:latin typeface="Roboto"/>
                <a:ea typeface="Roboto"/>
                <a:cs typeface="Roboto"/>
                <a:sym typeface="Roboto"/>
              </a:rPr>
              <a:t>THANK YOU </a:t>
            </a:r>
            <a:br>
              <a:rPr lang="de-CH" sz="3000">
                <a:solidFill>
                  <a:schemeClr val="dk1"/>
                </a:solidFill>
                <a:latin typeface="Roboto"/>
                <a:ea typeface="Roboto"/>
                <a:cs typeface="Roboto"/>
                <a:sym typeface="Roboto"/>
              </a:rPr>
            </a:br>
            <a:r>
              <a:rPr lang="de-CH" sz="3000">
                <a:solidFill>
                  <a:schemeClr val="dk1"/>
                </a:solidFill>
                <a:latin typeface="Roboto"/>
                <a:ea typeface="Roboto"/>
                <a:cs typeface="Roboto"/>
                <a:sym typeface="Roboto"/>
              </a:rPr>
              <a:t>FOR YOUR ATTENTION!</a:t>
            </a:r>
            <a:endParaRPr sz="3000">
              <a:solidFill>
                <a:schemeClr val="dk1"/>
              </a:solidFill>
              <a:latin typeface="Roboto"/>
              <a:ea typeface="Roboto"/>
              <a:cs typeface="Roboto"/>
              <a:sym typeface="Roboto"/>
            </a:endParaRPr>
          </a:p>
        </p:txBody>
      </p:sp>
      <p:sp>
        <p:nvSpPr>
          <p:cNvPr id="335" name="Google Shape;335;p19"/>
          <p:cNvSpPr txBox="1"/>
          <p:nvPr/>
        </p:nvSpPr>
        <p:spPr>
          <a:xfrm>
            <a:off x="1072166" y="5065581"/>
            <a:ext cx="4680000" cy="100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Arial"/>
              <a:buNone/>
            </a:pPr>
            <a:r>
              <a:rPr lang="de-CH" sz="2000" i="1">
                <a:solidFill>
                  <a:schemeClr val="dk1"/>
                </a:solidFill>
                <a:latin typeface="Roboto"/>
                <a:ea typeface="Roboto"/>
                <a:cs typeface="Roboto"/>
                <a:sym typeface="Roboto"/>
              </a:rPr>
              <a:t>Franziska Walther </a:t>
            </a:r>
            <a:endParaRPr/>
          </a:p>
          <a:p>
            <a:pPr marL="0" marR="0" lvl="0" indent="0" algn="l" rtl="0">
              <a:lnSpc>
                <a:spcPct val="100000"/>
              </a:lnSpc>
              <a:spcBef>
                <a:spcPts val="0"/>
              </a:spcBef>
              <a:spcAft>
                <a:spcPts val="0"/>
              </a:spcAft>
              <a:buClr>
                <a:schemeClr val="dk1"/>
              </a:buClr>
              <a:buSzPts val="2000"/>
              <a:buFont typeface="Arial"/>
              <a:buNone/>
            </a:pPr>
            <a:r>
              <a:rPr lang="de-CH" sz="2000" i="1">
                <a:solidFill>
                  <a:schemeClr val="dk1"/>
                </a:solidFill>
                <a:latin typeface="Roboto"/>
                <a:ea typeface="Roboto"/>
                <a:cs typeface="Roboto"/>
                <a:sym typeface="Roboto"/>
              </a:rPr>
              <a:t>Contact: </a:t>
            </a:r>
            <a:r>
              <a:rPr lang="de-CH" sz="2000" i="1" u="sng">
                <a:solidFill>
                  <a:schemeClr val="hlink"/>
                </a:solidFill>
                <a:latin typeface="Roboto"/>
                <a:ea typeface="Roboto"/>
                <a:cs typeface="Roboto"/>
                <a:sym typeface="Roboto"/>
                <a:hlinkClick r:id="rId4"/>
              </a:rPr>
              <a:t>fwalther@ethz.ch</a:t>
            </a:r>
            <a:r>
              <a:rPr lang="de-CH" sz="2000" i="1">
                <a:solidFill>
                  <a:schemeClr val="dk1"/>
                </a:solidFill>
                <a:latin typeface="Roboto"/>
                <a:ea typeface="Roboto"/>
                <a:cs typeface="Roboto"/>
                <a:sym typeface="Roboto"/>
              </a:rPr>
              <a:t> </a:t>
            </a:r>
            <a:endParaRPr sz="2000" i="1">
              <a:solidFill>
                <a:schemeClr val="dk1"/>
              </a:solidFill>
              <a:latin typeface="Roboto"/>
              <a:ea typeface="Roboto"/>
              <a:cs typeface="Roboto"/>
              <a:sym typeface="Roboto"/>
            </a:endParaRPr>
          </a:p>
        </p:txBody>
      </p:sp>
      <p:pic>
        <p:nvPicPr>
          <p:cNvPr id="336" name="Google Shape;336;p19"/>
          <p:cNvPicPr preferRelativeResize="0"/>
          <p:nvPr/>
        </p:nvPicPr>
        <p:blipFill rotWithShape="1">
          <a:blip r:embed="rId5">
            <a:alphaModFix/>
          </a:blip>
          <a:srcRect/>
          <a:stretch/>
        </p:blipFill>
        <p:spPr>
          <a:xfrm>
            <a:off x="4683570" y="76332"/>
            <a:ext cx="1203990" cy="792348"/>
          </a:xfrm>
          <a:prstGeom prst="rect">
            <a:avLst/>
          </a:prstGeom>
          <a:noFill/>
          <a:ln>
            <a:noFill/>
          </a:ln>
        </p:spPr>
      </p:pic>
      <p:sp>
        <p:nvSpPr>
          <p:cNvPr id="337" name="Google Shape;337;p19"/>
          <p:cNvSpPr txBox="1"/>
          <p:nvPr/>
        </p:nvSpPr>
        <p:spPr>
          <a:xfrm flipH="1">
            <a:off x="8097078" y="1044382"/>
            <a:ext cx="3380546" cy="5381431"/>
          </a:xfrm>
          <a:prstGeom prst="rect">
            <a:avLst/>
          </a:prstGeom>
          <a:solidFill>
            <a:srgbClr val="E2F0D9"/>
          </a:solidFill>
          <a:ln w="9525" cap="flat" cmpd="sng">
            <a:solidFill>
              <a:srgbClr val="EAF6BB"/>
            </a:solidFill>
            <a:prstDash val="solid"/>
            <a:round/>
            <a:headEnd type="none" w="sm" len="sm"/>
            <a:tailEnd type="none" w="sm" len="sm"/>
          </a:ln>
        </p:spPr>
        <p:txBody>
          <a:bodyPr spcFirstLastPara="1" wrap="square" lIns="215500" tIns="215500" rIns="215500" bIns="215500" anchor="t" anchorCtr="0">
            <a:noAutofit/>
          </a:bodyPr>
          <a:lstStyle/>
          <a:p>
            <a:pPr marL="0" marR="0" lvl="0" indent="0" algn="l" rtl="0">
              <a:spcBef>
                <a:spcPts val="0"/>
              </a:spcBef>
              <a:spcAft>
                <a:spcPts val="0"/>
              </a:spcAft>
              <a:buNone/>
            </a:pPr>
            <a:endParaRPr sz="1437">
              <a:solidFill>
                <a:schemeClr val="dk1"/>
              </a:solidFill>
              <a:latin typeface="Calibri"/>
              <a:ea typeface="Calibri"/>
              <a:cs typeface="Calibri"/>
              <a:sym typeface="Calibri"/>
            </a:endParaRPr>
          </a:p>
        </p:txBody>
      </p:sp>
      <p:sp>
        <p:nvSpPr>
          <p:cNvPr id="338" name="Google Shape;338;p19"/>
          <p:cNvSpPr txBox="1"/>
          <p:nvPr/>
        </p:nvSpPr>
        <p:spPr>
          <a:xfrm>
            <a:off x="8215670" y="1624500"/>
            <a:ext cx="3058960" cy="14773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e-CH" sz="1800" b="1">
                <a:solidFill>
                  <a:schemeClr val="dk1"/>
                </a:solidFill>
                <a:latin typeface="Arial"/>
                <a:ea typeface="Arial"/>
                <a:cs typeface="Arial"/>
                <a:sym typeface="Arial"/>
              </a:rPr>
              <a:t>Would you like to participate in the SURVEY?</a:t>
            </a:r>
            <a:endParaRPr/>
          </a:p>
          <a:p>
            <a:pPr marL="0" marR="0" lvl="0" indent="0" algn="ctr" rtl="0">
              <a:spcBef>
                <a:spcPts val="0"/>
              </a:spcBef>
              <a:spcAft>
                <a:spcPts val="0"/>
              </a:spcAft>
              <a:buNone/>
            </a:pPr>
            <a:r>
              <a:rPr lang="de-CH" sz="1800">
                <a:solidFill>
                  <a:schemeClr val="dk1"/>
                </a:solidFill>
                <a:latin typeface="Arial"/>
                <a:ea typeface="Arial"/>
                <a:cs typeface="Arial"/>
                <a:sym typeface="Arial"/>
              </a:rPr>
              <a:t>Enter your contact details to receive an email invitation:</a:t>
            </a:r>
            <a:endParaRPr sz="1800">
              <a:solidFill>
                <a:schemeClr val="dk1"/>
              </a:solidFill>
              <a:latin typeface="Arial"/>
              <a:ea typeface="Arial"/>
              <a:cs typeface="Arial"/>
              <a:sym typeface="Arial"/>
            </a:endParaRPr>
          </a:p>
        </p:txBody>
      </p:sp>
      <p:sp>
        <p:nvSpPr>
          <p:cNvPr id="339" name="Google Shape;339;p19"/>
          <p:cNvSpPr txBox="1"/>
          <p:nvPr/>
        </p:nvSpPr>
        <p:spPr>
          <a:xfrm>
            <a:off x="8349767" y="5215458"/>
            <a:ext cx="312785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Arial"/>
                <a:ea typeface="Arial"/>
                <a:cs typeface="Arial"/>
                <a:sym typeface="Arial"/>
              </a:rPr>
              <a:t>Survey link: </a:t>
            </a:r>
            <a:br>
              <a:rPr lang="de-CH" sz="1400">
                <a:solidFill>
                  <a:schemeClr val="dk1"/>
                </a:solidFill>
                <a:latin typeface="Arial"/>
                <a:ea typeface="Arial"/>
                <a:cs typeface="Arial"/>
                <a:sym typeface="Arial"/>
              </a:rPr>
            </a:br>
            <a:r>
              <a:rPr lang="de-CH" sz="1400" u="sng">
                <a:solidFill>
                  <a:schemeClr val="hlink"/>
                </a:solidFill>
                <a:latin typeface="Arial"/>
                <a:ea typeface="Arial"/>
                <a:cs typeface="Arial"/>
                <a:sym typeface="Arial"/>
                <a:hlinkClick r:id="rId6"/>
              </a:rPr>
              <a:t>https://pv-eco-survey.ethz.ch</a:t>
            </a:r>
            <a:endParaRPr sz="1400">
              <a:solidFill>
                <a:schemeClr val="dk1"/>
              </a:solidFill>
              <a:latin typeface="Arial"/>
              <a:ea typeface="Arial"/>
              <a:cs typeface="Arial"/>
              <a:sym typeface="Arial"/>
            </a:endParaRPr>
          </a:p>
        </p:txBody>
      </p:sp>
      <p:pic>
        <p:nvPicPr>
          <p:cNvPr id="340" name="Google Shape;340;p19" descr="Ein Bild, das Muster, Quadrat, Kunst, Symmetrie enthält.&#10;&#10;KI-generierte Inhalte können fehlerhaft sein."/>
          <p:cNvPicPr preferRelativeResize="0"/>
          <p:nvPr/>
        </p:nvPicPr>
        <p:blipFill rotWithShape="1">
          <a:blip r:embed="rId7">
            <a:alphaModFix/>
          </a:blip>
          <a:srcRect/>
          <a:stretch/>
        </p:blipFill>
        <p:spPr>
          <a:xfrm>
            <a:off x="8792300" y="3123860"/>
            <a:ext cx="1990102" cy="19901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0"/>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347" name="Google Shape;347;p20"/>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348" name="Google Shape;348;p20"/>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12</a:t>
            </a:fld>
            <a:endParaRPr/>
          </a:p>
        </p:txBody>
      </p:sp>
      <p:sp>
        <p:nvSpPr>
          <p:cNvPr id="349" name="Google Shape;349;p20"/>
          <p:cNvSpPr txBox="1"/>
          <p:nvPr/>
        </p:nvSpPr>
        <p:spPr>
          <a:xfrm>
            <a:off x="509635" y="966787"/>
            <a:ext cx="10504968" cy="48320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a:solidFill>
                  <a:schemeClr val="dk1"/>
                </a:solidFill>
                <a:latin typeface="Calibri"/>
                <a:ea typeface="Calibri"/>
                <a:cs typeface="Calibri"/>
                <a:sym typeface="Calibri"/>
              </a:rPr>
              <a:t>Anderegg, D., Strebel, S., &amp; Rohrer, J. (2023). Alpine Photovoltaik Versuchsanlage Davos Totalp: Erkenntnisse aus 5 Jahren Betrieb. ZHAW Zürcher Hochschule für Angewandte Wissenschaften, IUNR Institut für Umwelt und Natürliche Ressourcen</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de-CH" sz="1400">
                <a:solidFill>
                  <a:schemeClr val="dk1"/>
                </a:solidFill>
                <a:latin typeface="Calibri"/>
                <a:ea typeface="Calibri"/>
                <a:cs typeface="Calibri"/>
                <a:sym typeface="Calibri"/>
              </a:rPr>
              <a:t>Black, B., Adde, A., Farinotti, D., Guisan, A., Külling, N., Kurmann, M., Martin, C., Mayer, P., Rabe, S.-E., Streit, J., Zekollari, H., Grêt-Regamey, A., 2024. Broadening the horizon in land use change modelling: Normative scenarios for nature positive futures in Switzerland. In press, Regional Environmental Change. </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de-CH" sz="1400">
                <a:solidFill>
                  <a:schemeClr val="dk1"/>
                </a:solidFill>
                <a:latin typeface="Calibri"/>
                <a:ea typeface="Calibri"/>
                <a:cs typeface="Calibri"/>
                <a:sym typeface="Calibri"/>
              </a:rPr>
              <a:t>Mayer P, Rabe SE, Grêt-Regamey A (2023) Operationalizing the nature futures framework for ecological infrastructure. Sustain Sci. </a:t>
            </a:r>
            <a:r>
              <a:rPr lang="de-CH" sz="1400" u="sng">
                <a:solidFill>
                  <a:schemeClr val="hlink"/>
                </a:solidFill>
                <a:latin typeface="Calibri"/>
                <a:ea typeface="Calibri"/>
                <a:cs typeface="Calibri"/>
                <a:sym typeface="Calibri"/>
                <a:hlinkClick r:id="rId3"/>
              </a:rPr>
              <a:t>https://doi.org/10.1007/s11625-023-01380-7</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de-CH" sz="1400">
                <a:solidFill>
                  <a:schemeClr val="dk1"/>
                </a:solidFill>
                <a:latin typeface="Calibri"/>
                <a:ea typeface="Calibri"/>
                <a:cs typeface="Calibri"/>
                <a:sym typeface="Calibri"/>
              </a:rPr>
              <a:t>Rounsevell, M.D.A., Arneth, A., Brown, C., Cheung, W.W.L., Gimenez, O., Holman, I., Leadley, P., Luj´ an, C., Mahevas, S., Mar´echaux, I., P´elissier, R., Verburg, P.H., Vieilledent, G., Wintle, B.A., Shin, Y.-J., 2021. Identifying uncertainties in scenarios and models of socio-ecological systems in support of decision-making. One Earth 4 (7), 967–985. </a:t>
            </a:r>
            <a:r>
              <a:rPr lang="de-CH" sz="1400" u="sng">
                <a:solidFill>
                  <a:schemeClr val="hlink"/>
                </a:solidFill>
                <a:latin typeface="Calibri"/>
                <a:ea typeface="Calibri"/>
                <a:cs typeface="Calibri"/>
                <a:sym typeface="Calibri"/>
                <a:hlinkClick r:id="rId4"/>
              </a:rPr>
              <a:t>https://doi.org/10.1016/j.oneear.2021.06.003</a:t>
            </a:r>
            <a:r>
              <a:rPr lang="de-CH" sz="14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de-CH" sz="1400">
                <a:solidFill>
                  <a:schemeClr val="dk1"/>
                </a:solidFill>
                <a:latin typeface="Calibri"/>
                <a:ea typeface="Calibri"/>
                <a:cs typeface="Calibri"/>
                <a:sym typeface="Calibri"/>
              </a:rPr>
              <a:t>F. Walther, D. N. Barton, J. Schwaab, J. Kato-Huerta, B. Immerzeel, M. Adamescu, E. Andersen, M. V. Arámbula Coyote, I. Arany, M. Balzan, A. Bruggeman, C. Carvalho-Santos, C. Cazacu, D. Geneletti, R. Giuca, M. Inácio, E. Lagabrielle, S. Lange, S. Le Clec’h, Z. Y. V. Lim, U. Mörtberg, S. Nedkov, A. P. Portela, A. Porucznik, T. Racoviceanu, P. Rendón, D. Ribeiro, J. Seguin, M. Šmid Hribar, V. Stoycheva, H. Vejre, C. Zoumides and A. Grêt-Regamey, 2025. Uncertainties in ecosystem services assessments and their implications for decision support – A semi-systematic literature review. Ecosystem Services. 73. </a:t>
            </a:r>
            <a:r>
              <a:rPr lang="de-CH" sz="1400" u="sng">
                <a:solidFill>
                  <a:schemeClr val="hlink"/>
                </a:solidFill>
                <a:latin typeface="Calibri"/>
                <a:ea typeface="Calibri"/>
                <a:cs typeface="Calibri"/>
                <a:sym typeface="Calibri"/>
                <a:hlinkClick r:id="rId5"/>
              </a:rPr>
              <a:t>https://doi.org/10.1016/j.ecoser.2025.101714</a:t>
            </a:r>
            <a:r>
              <a:rPr lang="de-CH" sz="14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350" name="Google Shape;350;p20"/>
          <p:cNvPicPr preferRelativeResize="0"/>
          <p:nvPr/>
        </p:nvPicPr>
        <p:blipFill rotWithShape="1">
          <a:blip r:embed="rId6">
            <a:alphaModFix/>
          </a:blip>
          <a:srcRect/>
          <a:stretch/>
        </p:blipFill>
        <p:spPr>
          <a:xfrm>
            <a:off x="5675744" y="6284098"/>
            <a:ext cx="840512" cy="572238"/>
          </a:xfrm>
          <a:prstGeom prst="rect">
            <a:avLst/>
          </a:prstGeom>
          <a:noFill/>
          <a:ln>
            <a:noFill/>
          </a:ln>
        </p:spPr>
      </p:pic>
      <p:sp>
        <p:nvSpPr>
          <p:cNvPr id="351" name="Google Shape;351;p20"/>
          <p:cNvSpPr txBox="1"/>
          <p:nvPr/>
        </p:nvSpPr>
        <p:spPr>
          <a:xfrm>
            <a:off x="483131" y="416401"/>
            <a:ext cx="7451178" cy="6155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b="1">
                <a:solidFill>
                  <a:schemeClr val="dk1"/>
                </a:solidFill>
                <a:latin typeface="Arial"/>
                <a:ea typeface="Arial"/>
                <a:cs typeface="Arial"/>
                <a:sym typeface="Arial"/>
              </a:rPr>
              <a:t>Bibliography</a:t>
            </a:r>
            <a:endParaRPr sz="16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1"/>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latin typeface="Calibri"/>
                <a:ea typeface="Calibri"/>
                <a:cs typeface="Calibri"/>
                <a:sym typeface="Calibri"/>
              </a:rPr>
              <a:t>Planning of Landscape and Urban Systems – PLUS</a:t>
            </a:r>
            <a:endParaRPr>
              <a:latin typeface="Calibri"/>
              <a:ea typeface="Calibri"/>
              <a:cs typeface="Calibri"/>
              <a:sym typeface="Calibri"/>
            </a:endParaRPr>
          </a:p>
        </p:txBody>
      </p:sp>
      <p:sp>
        <p:nvSpPr>
          <p:cNvPr id="358" name="Google Shape;358;p21"/>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latin typeface="Calibri"/>
                <a:ea typeface="Calibri"/>
                <a:cs typeface="Calibri"/>
                <a:sym typeface="Calibri"/>
              </a:rPr>
              <a:t>16.09.2025</a:t>
            </a:r>
            <a:endParaRPr>
              <a:latin typeface="Calibri"/>
              <a:ea typeface="Calibri"/>
              <a:cs typeface="Calibri"/>
              <a:sym typeface="Calibri"/>
            </a:endParaRPr>
          </a:p>
        </p:txBody>
      </p:sp>
      <p:sp>
        <p:nvSpPr>
          <p:cNvPr id="359" name="Google Shape;359;p21"/>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latin typeface="Calibri"/>
                <a:ea typeface="Calibri"/>
                <a:cs typeface="Calibri"/>
                <a:sym typeface="Calibri"/>
              </a:rPr>
              <a:t>13</a:t>
            </a:fld>
            <a:endParaRPr>
              <a:latin typeface="Calibri"/>
              <a:ea typeface="Calibri"/>
              <a:cs typeface="Calibri"/>
              <a:sym typeface="Calibri"/>
            </a:endParaRPr>
          </a:p>
        </p:txBody>
      </p:sp>
      <p:pic>
        <p:nvPicPr>
          <p:cNvPr id="360" name="Google Shape;360;p21"/>
          <p:cNvPicPr preferRelativeResize="0"/>
          <p:nvPr/>
        </p:nvPicPr>
        <p:blipFill rotWithShape="1">
          <a:blip r:embed="rId3">
            <a:alphaModFix/>
          </a:blip>
          <a:srcRect/>
          <a:stretch/>
        </p:blipFill>
        <p:spPr>
          <a:xfrm>
            <a:off x="5675744" y="6284098"/>
            <a:ext cx="840512" cy="572238"/>
          </a:xfrm>
          <a:prstGeom prst="rect">
            <a:avLst/>
          </a:prstGeom>
          <a:noFill/>
          <a:ln>
            <a:noFill/>
          </a:ln>
        </p:spPr>
      </p:pic>
      <p:pic>
        <p:nvPicPr>
          <p:cNvPr id="361" name="Google Shape;361;p21"/>
          <p:cNvPicPr preferRelativeResize="0"/>
          <p:nvPr/>
        </p:nvPicPr>
        <p:blipFill rotWithShape="1">
          <a:blip r:embed="rId4">
            <a:alphaModFix/>
          </a:blip>
          <a:srcRect b="12702"/>
          <a:stretch/>
        </p:blipFill>
        <p:spPr>
          <a:xfrm>
            <a:off x="1785482" y="1459203"/>
            <a:ext cx="7154324" cy="4656816"/>
          </a:xfrm>
          <a:prstGeom prst="rect">
            <a:avLst/>
          </a:prstGeom>
          <a:noFill/>
          <a:ln>
            <a:noFill/>
          </a:ln>
        </p:spPr>
      </p:pic>
      <p:sp>
        <p:nvSpPr>
          <p:cNvPr id="362" name="Google Shape;362;p21"/>
          <p:cNvSpPr txBox="1"/>
          <p:nvPr/>
        </p:nvSpPr>
        <p:spPr>
          <a:xfrm>
            <a:off x="8666227" y="4709397"/>
            <a:ext cx="175731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200" i="1">
                <a:solidFill>
                  <a:schemeClr val="dk1"/>
                </a:solidFill>
                <a:latin typeface="Calibri"/>
                <a:ea typeface="Calibri"/>
                <a:cs typeface="Calibri"/>
                <a:sym typeface="Calibri"/>
              </a:rPr>
              <a:t>Anderegg et al. (2023)</a:t>
            </a:r>
            <a:endParaRPr sz="1200" i="1">
              <a:solidFill>
                <a:schemeClr val="dk1"/>
              </a:solidFill>
              <a:latin typeface="Calibri"/>
              <a:ea typeface="Calibri"/>
              <a:cs typeface="Calibri"/>
              <a:sym typeface="Calibri"/>
            </a:endParaRPr>
          </a:p>
        </p:txBody>
      </p:sp>
      <p:sp>
        <p:nvSpPr>
          <p:cNvPr id="363" name="Google Shape;363;p21"/>
          <p:cNvSpPr txBox="1"/>
          <p:nvPr/>
        </p:nvSpPr>
        <p:spPr>
          <a:xfrm>
            <a:off x="8666227" y="3307490"/>
            <a:ext cx="3348191" cy="12926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300">
                <a:solidFill>
                  <a:schemeClr val="dk1"/>
                </a:solidFill>
                <a:latin typeface="Calibri"/>
                <a:ea typeface="Calibri"/>
                <a:cs typeface="Calibri"/>
                <a:sym typeface="Calibri"/>
              </a:rPr>
              <a:t>Average AC monthly yields as bars with respective maximum and minimum values shown as double-T. Test facility Davos Totalp compared with a facility in Wädenswil ZH. Observation period: October 1, 2020 to August 31, 2023.</a:t>
            </a:r>
            <a:endParaRPr/>
          </a:p>
        </p:txBody>
      </p:sp>
      <p:sp>
        <p:nvSpPr>
          <p:cNvPr id="364" name="Google Shape;364;p21"/>
          <p:cNvSpPr txBox="1"/>
          <p:nvPr/>
        </p:nvSpPr>
        <p:spPr>
          <a:xfrm rot="-5400000">
            <a:off x="1069644" y="3039320"/>
            <a:ext cx="2034726" cy="3231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Calibri"/>
                <a:ea typeface="Calibri"/>
                <a:cs typeface="Calibri"/>
                <a:sym typeface="Calibri"/>
              </a:rPr>
              <a:t>AC yield in kWh/kWp</a:t>
            </a:r>
            <a:endParaRPr/>
          </a:p>
        </p:txBody>
      </p:sp>
      <p:sp>
        <p:nvSpPr>
          <p:cNvPr id="365" name="Google Shape;365;p21"/>
          <p:cNvSpPr txBox="1"/>
          <p:nvPr/>
        </p:nvSpPr>
        <p:spPr>
          <a:xfrm>
            <a:off x="5257011" y="5058309"/>
            <a:ext cx="952761" cy="3231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500">
                <a:solidFill>
                  <a:schemeClr val="dk1"/>
                </a:solidFill>
                <a:latin typeface="Calibri"/>
                <a:ea typeface="Calibri"/>
                <a:cs typeface="Calibri"/>
                <a:sym typeface="Calibri"/>
              </a:rPr>
              <a:t>month</a:t>
            </a:r>
            <a:endParaRPr sz="1500">
              <a:solidFill>
                <a:schemeClr val="dk1"/>
              </a:solidFill>
              <a:latin typeface="Arial"/>
              <a:ea typeface="Arial"/>
              <a:cs typeface="Arial"/>
              <a:sym typeface="Arial"/>
            </a:endParaRPr>
          </a:p>
        </p:txBody>
      </p:sp>
      <p:sp>
        <p:nvSpPr>
          <p:cNvPr id="366" name="Google Shape;366;p21"/>
          <p:cNvSpPr txBox="1"/>
          <p:nvPr/>
        </p:nvSpPr>
        <p:spPr>
          <a:xfrm>
            <a:off x="6366501" y="5488825"/>
            <a:ext cx="2149971"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200">
                <a:solidFill>
                  <a:schemeClr val="dk1"/>
                </a:solidFill>
                <a:latin typeface="Calibri"/>
                <a:ea typeface="Calibri"/>
                <a:cs typeface="Calibri"/>
                <a:sym typeface="Calibri"/>
              </a:rPr>
              <a:t>Wädenswil 20°/30°</a:t>
            </a:r>
            <a:endParaRPr/>
          </a:p>
          <a:p>
            <a:pPr marL="0" marR="0" lvl="0" indent="0" algn="l" rtl="0">
              <a:spcBef>
                <a:spcPts val="0"/>
              </a:spcBef>
              <a:spcAft>
                <a:spcPts val="0"/>
              </a:spcAft>
              <a:buNone/>
            </a:pPr>
            <a:r>
              <a:rPr lang="de-CH" sz="1200">
                <a:solidFill>
                  <a:schemeClr val="dk1"/>
                </a:solidFill>
                <a:latin typeface="Calibri"/>
                <a:ea typeface="Calibri"/>
                <a:cs typeface="Calibri"/>
                <a:sym typeface="Calibri"/>
              </a:rPr>
              <a:t>monofacial</a:t>
            </a:r>
            <a:endParaRPr/>
          </a:p>
        </p:txBody>
      </p:sp>
      <p:sp>
        <p:nvSpPr>
          <p:cNvPr id="367" name="Google Shape;367;p21"/>
          <p:cNvSpPr txBox="1"/>
          <p:nvPr/>
        </p:nvSpPr>
        <p:spPr>
          <a:xfrm>
            <a:off x="4055166" y="5581158"/>
            <a:ext cx="887895"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200">
                <a:solidFill>
                  <a:schemeClr val="dk1"/>
                </a:solidFill>
                <a:latin typeface="Calibri"/>
                <a:ea typeface="Calibri"/>
                <a:cs typeface="Calibri"/>
                <a:sym typeface="Calibri"/>
              </a:rPr>
              <a:t>60° bifacial</a:t>
            </a:r>
            <a:endParaRPr/>
          </a:p>
        </p:txBody>
      </p:sp>
      <p:sp>
        <p:nvSpPr>
          <p:cNvPr id="368" name="Google Shape;368;p21"/>
          <p:cNvSpPr txBox="1"/>
          <p:nvPr/>
        </p:nvSpPr>
        <p:spPr>
          <a:xfrm>
            <a:off x="5175910" y="5577186"/>
            <a:ext cx="887895"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200">
                <a:solidFill>
                  <a:schemeClr val="dk1"/>
                </a:solidFill>
                <a:latin typeface="Calibri"/>
                <a:ea typeface="Calibri"/>
                <a:cs typeface="Calibri"/>
                <a:sym typeface="Calibri"/>
              </a:rPr>
              <a:t>90° bifacial</a:t>
            </a:r>
            <a:endParaRPr/>
          </a:p>
        </p:txBody>
      </p:sp>
      <p:sp>
        <p:nvSpPr>
          <p:cNvPr id="369" name="Google Shape;369;p21"/>
          <p:cNvSpPr txBox="1"/>
          <p:nvPr/>
        </p:nvSpPr>
        <p:spPr>
          <a:xfrm>
            <a:off x="15729" y="143372"/>
            <a:ext cx="12192000" cy="1138773"/>
          </a:xfrm>
          <a:prstGeom prst="rect">
            <a:avLst/>
          </a:prstGeom>
          <a:solidFill>
            <a:srgbClr val="E2F0D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2800">
                <a:solidFill>
                  <a:schemeClr val="dk1"/>
                </a:solidFill>
                <a:latin typeface="Calibri"/>
                <a:ea typeface="Calibri"/>
                <a:cs typeface="Calibri"/>
                <a:sym typeface="Calibri"/>
              </a:rPr>
              <a:t>ENERGY TRANSITION</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de-CH" sz="2000">
                <a:solidFill>
                  <a:schemeClr val="dk1"/>
                </a:solidFill>
                <a:latin typeface="Calibri"/>
                <a:ea typeface="Calibri"/>
                <a:cs typeface="Calibri"/>
                <a:sym typeface="Calibri"/>
              </a:rPr>
              <a:t>Mountain areas in Switzerland are increasingly being targeted for the installation of solar energy systems, </a:t>
            </a:r>
            <a:r>
              <a:rPr lang="de-CH" sz="2000" i="1">
                <a:solidFill>
                  <a:schemeClr val="dk1"/>
                </a:solidFill>
                <a:latin typeface="Calibri"/>
                <a:ea typeface="Calibri"/>
                <a:cs typeface="Calibri"/>
                <a:sym typeface="Calibri"/>
              </a:rPr>
              <a:t>i.e. ground-mounted photovoltaic (PV) systems </a:t>
            </a:r>
            <a:endParaRPr sz="2000" i="1">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2"/>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14</a:t>
            </a:fld>
            <a:endParaRPr/>
          </a:p>
        </p:txBody>
      </p:sp>
      <p:sp>
        <p:nvSpPr>
          <p:cNvPr id="376" name="Google Shape;376;p22"/>
          <p:cNvSpPr txBox="1"/>
          <p:nvPr/>
        </p:nvSpPr>
        <p:spPr>
          <a:xfrm>
            <a:off x="4138864" y="2779481"/>
            <a:ext cx="3148642" cy="1934731"/>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ctr" rtl="0">
              <a:lnSpc>
                <a:spcPct val="90000"/>
              </a:lnSpc>
              <a:spcBef>
                <a:spcPts val="0"/>
              </a:spcBef>
              <a:spcAft>
                <a:spcPts val="0"/>
              </a:spcAft>
              <a:buClr>
                <a:srgbClr val="236870"/>
              </a:buClr>
              <a:buSzPct val="100000"/>
              <a:buFont typeface="Arial"/>
              <a:buNone/>
            </a:pPr>
            <a:r>
              <a:rPr lang="de-CH" sz="2800">
                <a:solidFill>
                  <a:srgbClr val="236870"/>
                </a:solidFill>
                <a:latin typeface="Arial"/>
                <a:ea typeface="Arial"/>
                <a:cs typeface="Arial"/>
                <a:sym typeface="Arial"/>
              </a:rPr>
              <a:t>Sources of </a:t>
            </a:r>
            <a:endParaRPr/>
          </a:p>
          <a:p>
            <a:pPr marL="0" marR="0" lvl="0" indent="0" algn="ctr" rtl="0">
              <a:lnSpc>
                <a:spcPct val="90000"/>
              </a:lnSpc>
              <a:spcBef>
                <a:spcPts val="1000"/>
              </a:spcBef>
              <a:spcAft>
                <a:spcPts val="0"/>
              </a:spcAft>
              <a:buClr>
                <a:srgbClr val="236870"/>
              </a:buClr>
              <a:buSzPct val="100000"/>
              <a:buFont typeface="Arial"/>
              <a:buNone/>
            </a:pPr>
            <a:r>
              <a:rPr lang="de-CH" sz="2800">
                <a:solidFill>
                  <a:srgbClr val="236870"/>
                </a:solidFill>
                <a:latin typeface="Arial"/>
                <a:ea typeface="Arial"/>
                <a:cs typeface="Arial"/>
                <a:sym typeface="Arial"/>
              </a:rPr>
              <a:t>Uncertainty</a:t>
            </a:r>
            <a:endParaRPr/>
          </a:p>
          <a:p>
            <a:pPr marL="0" marR="0" lvl="0" indent="0" algn="ctr" rtl="0">
              <a:lnSpc>
                <a:spcPct val="90000"/>
              </a:lnSpc>
              <a:spcBef>
                <a:spcPts val="1000"/>
              </a:spcBef>
              <a:spcAft>
                <a:spcPts val="0"/>
              </a:spcAft>
              <a:buClr>
                <a:schemeClr val="dk1"/>
              </a:buClr>
              <a:buSzPct val="100000"/>
              <a:buFont typeface="Arial"/>
              <a:buNone/>
            </a:pPr>
            <a:r>
              <a:rPr lang="de-CH" sz="1600" i="1">
                <a:solidFill>
                  <a:schemeClr val="dk1"/>
                </a:solidFill>
                <a:latin typeface="Arial"/>
                <a:ea typeface="Arial"/>
                <a:cs typeface="Arial"/>
                <a:sym typeface="Arial"/>
              </a:rPr>
              <a:t>(Rounsevell et al. 2021)</a:t>
            </a:r>
            <a:endParaRPr/>
          </a:p>
          <a:p>
            <a:pPr marL="0" marR="0" lvl="0" indent="0" algn="l" rtl="0">
              <a:lnSpc>
                <a:spcPct val="90000"/>
              </a:lnSpc>
              <a:spcBef>
                <a:spcPts val="1000"/>
              </a:spcBef>
              <a:spcAft>
                <a:spcPts val="0"/>
              </a:spcAft>
              <a:buClr>
                <a:srgbClr val="236870"/>
              </a:buClr>
              <a:buSzPct val="100000"/>
              <a:buFont typeface="Arial"/>
              <a:buNone/>
            </a:pPr>
            <a:br>
              <a:rPr lang="de-CH" sz="1600">
                <a:solidFill>
                  <a:srgbClr val="236870"/>
                </a:solidFill>
                <a:latin typeface="Arial"/>
                <a:ea typeface="Arial"/>
                <a:cs typeface="Arial"/>
                <a:sym typeface="Arial"/>
              </a:rPr>
            </a:br>
            <a:r>
              <a:rPr lang="de-CH" sz="2800">
                <a:solidFill>
                  <a:srgbClr val="236870"/>
                </a:solidFill>
                <a:latin typeface="Arial"/>
                <a:ea typeface="Arial"/>
                <a:cs typeface="Arial"/>
                <a:sym typeface="Arial"/>
              </a:rPr>
              <a:t> </a:t>
            </a:r>
            <a:endParaRPr/>
          </a:p>
          <a:p>
            <a:pPr marL="0" marR="0" lvl="0" indent="0" algn="l" rtl="0">
              <a:lnSpc>
                <a:spcPct val="90000"/>
              </a:lnSpc>
              <a:spcBef>
                <a:spcPts val="1000"/>
              </a:spcBef>
              <a:spcAft>
                <a:spcPts val="0"/>
              </a:spcAft>
              <a:buClr>
                <a:schemeClr val="dk1"/>
              </a:buClr>
              <a:buSzPct val="100000"/>
              <a:buFont typeface="Arial"/>
              <a:buNone/>
            </a:pPr>
            <a:endParaRPr sz="2800">
              <a:solidFill>
                <a:srgbClr val="236870"/>
              </a:solidFill>
              <a:latin typeface="Arial"/>
              <a:ea typeface="Arial"/>
              <a:cs typeface="Arial"/>
              <a:sym typeface="Arial"/>
            </a:endParaRPr>
          </a:p>
        </p:txBody>
      </p:sp>
      <p:pic>
        <p:nvPicPr>
          <p:cNvPr id="377" name="Google Shape;377;p22" descr="Modeling - Free computer icons"/>
          <p:cNvPicPr preferRelativeResize="0"/>
          <p:nvPr/>
        </p:nvPicPr>
        <p:blipFill rotWithShape="1">
          <a:blip r:embed="rId3">
            <a:alphaModFix/>
          </a:blip>
          <a:srcRect/>
          <a:stretch/>
        </p:blipFill>
        <p:spPr>
          <a:xfrm>
            <a:off x="4166879" y="952090"/>
            <a:ext cx="1025150" cy="1025150"/>
          </a:xfrm>
          <a:prstGeom prst="rect">
            <a:avLst/>
          </a:prstGeom>
          <a:solidFill>
            <a:srgbClr val="236870"/>
          </a:solidFill>
          <a:ln>
            <a:noFill/>
          </a:ln>
        </p:spPr>
      </p:pic>
      <p:pic>
        <p:nvPicPr>
          <p:cNvPr id="378" name="Google Shape;378;p22" descr="Decision Svg Png Icon Free Download (#452198) - OnlineWebFonts.COM"/>
          <p:cNvPicPr preferRelativeResize="0"/>
          <p:nvPr/>
        </p:nvPicPr>
        <p:blipFill rotWithShape="1">
          <a:blip r:embed="rId4">
            <a:alphaModFix/>
          </a:blip>
          <a:srcRect/>
          <a:stretch/>
        </p:blipFill>
        <p:spPr>
          <a:xfrm>
            <a:off x="1018301" y="3410969"/>
            <a:ext cx="1011023" cy="977114"/>
          </a:xfrm>
          <a:prstGeom prst="rect">
            <a:avLst/>
          </a:prstGeom>
          <a:solidFill>
            <a:srgbClr val="236870"/>
          </a:solidFill>
          <a:ln>
            <a:noFill/>
          </a:ln>
        </p:spPr>
      </p:pic>
      <p:pic>
        <p:nvPicPr>
          <p:cNvPr id="379" name="Google Shape;379;p22" descr="Decision icon PNG and SVG Free Download"/>
          <p:cNvPicPr preferRelativeResize="0"/>
          <p:nvPr/>
        </p:nvPicPr>
        <p:blipFill rotWithShape="1">
          <a:blip r:embed="rId5">
            <a:alphaModFix/>
          </a:blip>
          <a:srcRect/>
          <a:stretch/>
        </p:blipFill>
        <p:spPr>
          <a:xfrm>
            <a:off x="7277297" y="3809305"/>
            <a:ext cx="1243146" cy="697749"/>
          </a:xfrm>
          <a:prstGeom prst="rect">
            <a:avLst/>
          </a:prstGeom>
          <a:solidFill>
            <a:srgbClr val="236870"/>
          </a:solidFill>
          <a:ln>
            <a:noFill/>
          </a:ln>
        </p:spPr>
      </p:pic>
      <p:sp>
        <p:nvSpPr>
          <p:cNvPr id="380" name="Google Shape;380;p22"/>
          <p:cNvSpPr txBox="1"/>
          <p:nvPr/>
        </p:nvSpPr>
        <p:spPr>
          <a:xfrm>
            <a:off x="2029324" y="3809305"/>
            <a:ext cx="25877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36870"/>
              </a:buClr>
              <a:buSzPts val="1800"/>
              <a:buFont typeface="Arial"/>
              <a:buNone/>
            </a:pPr>
            <a:r>
              <a:rPr lang="de-CH" sz="1800" b="1">
                <a:solidFill>
                  <a:srgbClr val="236870"/>
                </a:solidFill>
                <a:latin typeface="Arial"/>
                <a:ea typeface="Arial"/>
                <a:cs typeface="Arial"/>
                <a:sym typeface="Arial"/>
              </a:rPr>
              <a:t>Scenario uncertainty</a:t>
            </a:r>
            <a:endParaRPr/>
          </a:p>
        </p:txBody>
      </p:sp>
      <p:sp>
        <p:nvSpPr>
          <p:cNvPr id="381" name="Google Shape;381;p22"/>
          <p:cNvSpPr txBox="1"/>
          <p:nvPr/>
        </p:nvSpPr>
        <p:spPr>
          <a:xfrm>
            <a:off x="5326064" y="1216172"/>
            <a:ext cx="62817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36870"/>
              </a:buClr>
              <a:buSzPts val="1800"/>
              <a:buFont typeface="Arial"/>
              <a:buNone/>
            </a:pPr>
            <a:r>
              <a:rPr lang="de-CH" sz="1800" b="1">
                <a:solidFill>
                  <a:srgbClr val="236870"/>
                </a:solidFill>
                <a:latin typeface="Arial"/>
                <a:ea typeface="Arial"/>
                <a:cs typeface="Arial"/>
                <a:sym typeface="Arial"/>
              </a:rPr>
              <a:t>Model uncertainty </a:t>
            </a:r>
            <a:endParaRPr/>
          </a:p>
        </p:txBody>
      </p:sp>
      <p:sp>
        <p:nvSpPr>
          <p:cNvPr id="382" name="Google Shape;382;p22"/>
          <p:cNvSpPr txBox="1"/>
          <p:nvPr/>
        </p:nvSpPr>
        <p:spPr>
          <a:xfrm>
            <a:off x="8622560" y="3915988"/>
            <a:ext cx="22373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36870"/>
              </a:buClr>
              <a:buSzPts val="1800"/>
              <a:buFont typeface="Arial"/>
              <a:buNone/>
            </a:pPr>
            <a:r>
              <a:rPr lang="de-CH" sz="1800" b="1">
                <a:solidFill>
                  <a:srgbClr val="236870"/>
                </a:solidFill>
                <a:latin typeface="Arial"/>
                <a:ea typeface="Arial"/>
                <a:cs typeface="Arial"/>
                <a:sym typeface="Arial"/>
              </a:rPr>
              <a:t>Decision uncertainty </a:t>
            </a:r>
            <a:endParaRPr/>
          </a:p>
        </p:txBody>
      </p:sp>
      <p:sp>
        <p:nvSpPr>
          <p:cNvPr id="383" name="Google Shape;383;p22"/>
          <p:cNvSpPr/>
          <p:nvPr/>
        </p:nvSpPr>
        <p:spPr>
          <a:xfrm>
            <a:off x="4298591" y="2371416"/>
            <a:ext cx="2783807" cy="2016667"/>
          </a:xfrm>
          <a:prstGeom prst="ellipse">
            <a:avLst/>
          </a:prstGeom>
          <a:noFill/>
          <a:ln w="28575" cap="flat" cmpd="sng">
            <a:solidFill>
              <a:srgbClr val="2368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4" name="Google Shape;384;p22"/>
          <p:cNvSpPr txBox="1"/>
          <p:nvPr/>
        </p:nvSpPr>
        <p:spPr>
          <a:xfrm>
            <a:off x="2067292" y="4208514"/>
            <a:ext cx="2587720" cy="138499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de-CH" sz="1400" b="0" i="1" u="none" strike="noStrike" cap="none">
                <a:solidFill>
                  <a:srgbClr val="000000"/>
                </a:solidFill>
                <a:latin typeface="Arial"/>
                <a:ea typeface="Arial"/>
                <a:cs typeface="Arial"/>
                <a:sym typeface="Arial"/>
              </a:rPr>
              <a:t>The qualitative description of alternative worldviews and their development into the future and the quantification of model input parameters that are conditional on these descriptions.</a:t>
            </a:r>
            <a:endParaRPr sz="1400" i="1" u="none" strike="noStrike" cap="none">
              <a:solidFill>
                <a:schemeClr val="dk1"/>
              </a:solidFill>
              <a:latin typeface="Arial"/>
              <a:ea typeface="Arial"/>
              <a:cs typeface="Arial"/>
              <a:sym typeface="Arial"/>
            </a:endParaRPr>
          </a:p>
        </p:txBody>
      </p:sp>
      <p:sp>
        <p:nvSpPr>
          <p:cNvPr id="385" name="Google Shape;385;p22"/>
          <p:cNvSpPr txBox="1"/>
          <p:nvPr/>
        </p:nvSpPr>
        <p:spPr>
          <a:xfrm>
            <a:off x="5328930" y="1585504"/>
            <a:ext cx="2474677" cy="52322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de-CH" sz="1400" b="0" i="1" u="none" strike="noStrike" cap="none">
                <a:solidFill>
                  <a:srgbClr val="000000"/>
                </a:solidFill>
                <a:latin typeface="Arial"/>
                <a:ea typeface="Arial"/>
                <a:cs typeface="Arial"/>
                <a:sym typeface="Arial"/>
              </a:rPr>
              <a:t>The representation of processes in models and how this is done. </a:t>
            </a:r>
            <a:endParaRPr sz="1400" i="1" u="none" strike="noStrike" cap="none">
              <a:solidFill>
                <a:schemeClr val="dk1"/>
              </a:solidFill>
              <a:latin typeface="Arial"/>
              <a:ea typeface="Arial"/>
              <a:cs typeface="Arial"/>
              <a:sym typeface="Arial"/>
            </a:endParaRPr>
          </a:p>
        </p:txBody>
      </p:sp>
      <p:sp>
        <p:nvSpPr>
          <p:cNvPr id="386" name="Google Shape;386;p22"/>
          <p:cNvSpPr txBox="1"/>
          <p:nvPr/>
        </p:nvSpPr>
        <p:spPr>
          <a:xfrm>
            <a:off x="8622560" y="4524523"/>
            <a:ext cx="2560376" cy="95410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de-CH" sz="1400" b="0" i="1" u="none" strike="noStrike" cap="none">
                <a:solidFill>
                  <a:srgbClr val="000000"/>
                </a:solidFill>
                <a:latin typeface="Arial"/>
                <a:ea typeface="Arial"/>
                <a:cs typeface="Arial"/>
                <a:sym typeface="Arial"/>
              </a:rPr>
              <a:t>Communicating and translating the results of scenario and modeling studies into decision-making.</a:t>
            </a:r>
            <a:endParaRPr sz="1400" i="1" u="none" strike="noStrike" cap="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23"/>
          <p:cNvPicPr preferRelativeResize="0"/>
          <p:nvPr/>
        </p:nvPicPr>
        <p:blipFill rotWithShape="1">
          <a:blip r:embed="rId3">
            <a:alphaModFix/>
          </a:blip>
          <a:srcRect/>
          <a:stretch/>
        </p:blipFill>
        <p:spPr>
          <a:xfrm>
            <a:off x="555038" y="540700"/>
            <a:ext cx="11477709" cy="5981744"/>
          </a:xfrm>
          <a:prstGeom prst="rect">
            <a:avLst/>
          </a:prstGeom>
          <a:noFill/>
          <a:ln>
            <a:noFill/>
          </a:ln>
        </p:spPr>
      </p:pic>
      <p:sp>
        <p:nvSpPr>
          <p:cNvPr id="392" name="Google Shape;392;p23"/>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393" name="Google Shape;393;p23"/>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394" name="Google Shape;394;p23"/>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15</a:t>
            </a:fld>
            <a:endParaRPr/>
          </a:p>
        </p:txBody>
      </p:sp>
      <p:sp>
        <p:nvSpPr>
          <p:cNvPr id="395" name="Google Shape;395;p23"/>
          <p:cNvSpPr txBox="1"/>
          <p:nvPr/>
        </p:nvSpPr>
        <p:spPr>
          <a:xfrm>
            <a:off x="423260" y="419216"/>
            <a:ext cx="7451178" cy="6155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600" b="1">
                <a:solidFill>
                  <a:schemeClr val="dk1"/>
                </a:solidFill>
                <a:latin typeface="Arial"/>
                <a:ea typeface="Arial"/>
                <a:cs typeface="Arial"/>
                <a:sym typeface="Arial"/>
              </a:rPr>
              <a:t>Bayesian network (for 3 ES)</a:t>
            </a:r>
            <a:endParaRPr sz="1600">
              <a:solidFill>
                <a:schemeClr val="dk1"/>
              </a:solidFill>
              <a:latin typeface="Arial"/>
              <a:ea typeface="Arial"/>
              <a:cs typeface="Arial"/>
              <a:sym typeface="Arial"/>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24"/>
          <p:cNvSpPr txBox="1">
            <a:spLocks noGrp="1"/>
          </p:cNvSpPr>
          <p:nvPr>
            <p:ph type="ftr" idx="11"/>
          </p:nvPr>
        </p:nvSpPr>
        <p:spPr>
          <a:xfrm>
            <a:off x="2097272"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401" name="Google Shape;401;p24"/>
          <p:cNvSpPr txBox="1">
            <a:spLocks noGrp="1"/>
          </p:cNvSpPr>
          <p:nvPr>
            <p:ph type="dt" idx="10"/>
          </p:nvPr>
        </p:nvSpPr>
        <p:spPr>
          <a:xfrm>
            <a:off x="9945872"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402" name="Google Shape;402;p24"/>
          <p:cNvSpPr txBox="1">
            <a:spLocks noGrp="1"/>
          </p:cNvSpPr>
          <p:nvPr>
            <p:ph type="sldNum" idx="12"/>
          </p:nvPr>
        </p:nvSpPr>
        <p:spPr>
          <a:xfrm>
            <a:off x="10956565"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16</a:t>
            </a:fld>
            <a:endParaRPr/>
          </a:p>
        </p:txBody>
      </p:sp>
      <p:pic>
        <p:nvPicPr>
          <p:cNvPr id="403" name="Google Shape;403;p24"/>
          <p:cNvPicPr preferRelativeResize="0"/>
          <p:nvPr/>
        </p:nvPicPr>
        <p:blipFill rotWithShape="1">
          <a:blip r:embed="rId3">
            <a:alphaModFix/>
          </a:blip>
          <a:srcRect/>
          <a:stretch/>
        </p:blipFill>
        <p:spPr>
          <a:xfrm>
            <a:off x="2949880" y="1954877"/>
            <a:ext cx="6390537" cy="4272325"/>
          </a:xfrm>
          <a:prstGeom prst="rect">
            <a:avLst/>
          </a:prstGeom>
          <a:noFill/>
          <a:ln>
            <a:noFill/>
          </a:ln>
        </p:spPr>
      </p:pic>
      <p:sp>
        <p:nvSpPr>
          <p:cNvPr id="404" name="Google Shape;404;p24"/>
          <p:cNvSpPr txBox="1"/>
          <p:nvPr/>
        </p:nvSpPr>
        <p:spPr>
          <a:xfrm>
            <a:off x="10278941" y="6143439"/>
            <a:ext cx="155844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Arial"/>
                <a:ea typeface="Arial"/>
                <a:cs typeface="Arial"/>
                <a:sym typeface="Arial"/>
              </a:rPr>
              <a:t>Black et al., 2024</a:t>
            </a:r>
            <a:endParaRPr sz="1400" i="1">
              <a:solidFill>
                <a:schemeClr val="dk1"/>
              </a:solidFill>
              <a:latin typeface="Arial"/>
              <a:ea typeface="Arial"/>
              <a:cs typeface="Arial"/>
              <a:sym typeface="Arial"/>
            </a:endParaRPr>
          </a:p>
        </p:txBody>
      </p:sp>
      <p:pic>
        <p:nvPicPr>
          <p:cNvPr id="405" name="Google Shape;405;p24" descr="Ein Bild, das Text, Karte enthält.&#10;&#10;KI-generierte Inhalte können fehlerhaft sein."/>
          <p:cNvPicPr preferRelativeResize="0"/>
          <p:nvPr/>
        </p:nvPicPr>
        <p:blipFill rotWithShape="1">
          <a:blip r:embed="rId4">
            <a:alphaModFix/>
          </a:blip>
          <a:srcRect l="2109" t="20133" b="17118"/>
          <a:stretch/>
        </p:blipFill>
        <p:spPr>
          <a:xfrm>
            <a:off x="641645" y="4224611"/>
            <a:ext cx="2159980" cy="1326232"/>
          </a:xfrm>
          <a:prstGeom prst="rect">
            <a:avLst/>
          </a:prstGeom>
          <a:noFill/>
          <a:ln>
            <a:noFill/>
          </a:ln>
        </p:spPr>
      </p:pic>
      <p:pic>
        <p:nvPicPr>
          <p:cNvPr id="406" name="Google Shape;406;p24" descr="Ein Bild, das Text, Karte enthält.&#10;&#10;KI-generierte Inhalte können fehlerhaft sein."/>
          <p:cNvPicPr preferRelativeResize="0"/>
          <p:nvPr/>
        </p:nvPicPr>
        <p:blipFill rotWithShape="1">
          <a:blip r:embed="rId4">
            <a:alphaModFix/>
          </a:blip>
          <a:srcRect l="2109" t="20133" b="17118"/>
          <a:stretch/>
        </p:blipFill>
        <p:spPr>
          <a:xfrm>
            <a:off x="1349495" y="2101692"/>
            <a:ext cx="2159980" cy="1326232"/>
          </a:xfrm>
          <a:prstGeom prst="rect">
            <a:avLst/>
          </a:prstGeom>
          <a:noFill/>
          <a:ln>
            <a:noFill/>
          </a:ln>
        </p:spPr>
      </p:pic>
      <p:pic>
        <p:nvPicPr>
          <p:cNvPr id="407" name="Google Shape;407;p24" descr="Ein Bild, das Text, Karte enthält.&#10;&#10;KI-generierte Inhalte können fehlerhaft sein."/>
          <p:cNvPicPr preferRelativeResize="0"/>
          <p:nvPr/>
        </p:nvPicPr>
        <p:blipFill rotWithShape="1">
          <a:blip r:embed="rId4">
            <a:alphaModFix/>
          </a:blip>
          <a:srcRect l="2109" t="20133" b="17118"/>
          <a:stretch/>
        </p:blipFill>
        <p:spPr>
          <a:xfrm>
            <a:off x="5171484" y="628645"/>
            <a:ext cx="2159980" cy="1326232"/>
          </a:xfrm>
          <a:prstGeom prst="rect">
            <a:avLst/>
          </a:prstGeom>
          <a:noFill/>
          <a:ln>
            <a:noFill/>
          </a:ln>
        </p:spPr>
      </p:pic>
      <p:pic>
        <p:nvPicPr>
          <p:cNvPr id="408" name="Google Shape;408;p24" descr="Ein Bild, das Text, Karte enthält.&#10;&#10;KI-generierte Inhalte können fehlerhaft sein."/>
          <p:cNvPicPr preferRelativeResize="0"/>
          <p:nvPr/>
        </p:nvPicPr>
        <p:blipFill rotWithShape="1">
          <a:blip r:embed="rId4">
            <a:alphaModFix/>
          </a:blip>
          <a:srcRect l="2109" t="20133" b="17118"/>
          <a:stretch/>
        </p:blipFill>
        <p:spPr>
          <a:xfrm>
            <a:off x="8878048" y="2101692"/>
            <a:ext cx="2159980" cy="1326232"/>
          </a:xfrm>
          <a:prstGeom prst="rect">
            <a:avLst/>
          </a:prstGeom>
          <a:noFill/>
          <a:ln>
            <a:noFill/>
          </a:ln>
        </p:spPr>
      </p:pic>
      <p:pic>
        <p:nvPicPr>
          <p:cNvPr id="409" name="Google Shape;409;p24" descr="Ein Bild, das Text, Karte enthält.&#10;&#10;KI-generierte Inhalte können fehlerhaft sein."/>
          <p:cNvPicPr preferRelativeResize="0"/>
          <p:nvPr/>
        </p:nvPicPr>
        <p:blipFill rotWithShape="1">
          <a:blip r:embed="rId4">
            <a:alphaModFix/>
          </a:blip>
          <a:srcRect l="2109" t="20133" b="17118"/>
          <a:stretch/>
        </p:blipFill>
        <p:spPr>
          <a:xfrm>
            <a:off x="9613366" y="4224611"/>
            <a:ext cx="2159980" cy="1326232"/>
          </a:xfrm>
          <a:prstGeom prst="rect">
            <a:avLst/>
          </a:prstGeom>
          <a:noFill/>
          <a:ln>
            <a:noFill/>
          </a:ln>
        </p:spPr>
      </p:pic>
      <p:pic>
        <p:nvPicPr>
          <p:cNvPr id="410" name="Google Shape;410;p24" descr="Fragezeichen mit einfarbiger Füllung"/>
          <p:cNvPicPr preferRelativeResize="0"/>
          <p:nvPr/>
        </p:nvPicPr>
        <p:blipFill rotWithShape="1">
          <a:blip r:embed="rId5">
            <a:alphaModFix/>
          </a:blip>
          <a:srcRect/>
          <a:stretch/>
        </p:blipFill>
        <p:spPr>
          <a:xfrm>
            <a:off x="1214002" y="4419084"/>
            <a:ext cx="914400" cy="914400"/>
          </a:xfrm>
          <a:prstGeom prst="rect">
            <a:avLst/>
          </a:prstGeom>
          <a:noFill/>
          <a:ln>
            <a:noFill/>
          </a:ln>
        </p:spPr>
      </p:pic>
      <p:pic>
        <p:nvPicPr>
          <p:cNvPr id="411" name="Google Shape;411;p24" descr="Fragezeichen mit einfarbiger Füllung"/>
          <p:cNvPicPr preferRelativeResize="0"/>
          <p:nvPr/>
        </p:nvPicPr>
        <p:blipFill rotWithShape="1">
          <a:blip r:embed="rId5">
            <a:alphaModFix/>
          </a:blip>
          <a:srcRect/>
          <a:stretch/>
        </p:blipFill>
        <p:spPr>
          <a:xfrm>
            <a:off x="1972285" y="2283202"/>
            <a:ext cx="914400" cy="914400"/>
          </a:xfrm>
          <a:prstGeom prst="rect">
            <a:avLst/>
          </a:prstGeom>
          <a:noFill/>
          <a:ln>
            <a:noFill/>
          </a:ln>
        </p:spPr>
      </p:pic>
      <p:pic>
        <p:nvPicPr>
          <p:cNvPr id="412" name="Google Shape;412;p24" descr="Fragezeichen mit einfarbiger Füllung"/>
          <p:cNvPicPr preferRelativeResize="0"/>
          <p:nvPr/>
        </p:nvPicPr>
        <p:blipFill rotWithShape="1">
          <a:blip r:embed="rId5">
            <a:alphaModFix/>
          </a:blip>
          <a:srcRect/>
          <a:stretch/>
        </p:blipFill>
        <p:spPr>
          <a:xfrm>
            <a:off x="5670698" y="801507"/>
            <a:ext cx="914400" cy="914400"/>
          </a:xfrm>
          <a:prstGeom prst="rect">
            <a:avLst/>
          </a:prstGeom>
          <a:noFill/>
          <a:ln>
            <a:noFill/>
          </a:ln>
        </p:spPr>
      </p:pic>
      <p:pic>
        <p:nvPicPr>
          <p:cNvPr id="413" name="Google Shape;413;p24" descr="Fragezeichen mit einfarbiger Füllung"/>
          <p:cNvPicPr preferRelativeResize="0"/>
          <p:nvPr/>
        </p:nvPicPr>
        <p:blipFill rotWithShape="1">
          <a:blip r:embed="rId5">
            <a:alphaModFix/>
          </a:blip>
          <a:srcRect/>
          <a:stretch/>
        </p:blipFill>
        <p:spPr>
          <a:xfrm>
            <a:off x="9454449" y="2283202"/>
            <a:ext cx="914400" cy="914400"/>
          </a:xfrm>
          <a:prstGeom prst="rect">
            <a:avLst/>
          </a:prstGeom>
          <a:noFill/>
          <a:ln>
            <a:noFill/>
          </a:ln>
        </p:spPr>
      </p:pic>
      <p:pic>
        <p:nvPicPr>
          <p:cNvPr id="414" name="Google Shape;414;p24" descr="Fragezeichen mit einfarbiger Füllung"/>
          <p:cNvPicPr preferRelativeResize="0"/>
          <p:nvPr/>
        </p:nvPicPr>
        <p:blipFill rotWithShape="1">
          <a:blip r:embed="rId5">
            <a:alphaModFix/>
          </a:blip>
          <a:srcRect/>
          <a:stretch/>
        </p:blipFill>
        <p:spPr>
          <a:xfrm>
            <a:off x="10189504" y="4373206"/>
            <a:ext cx="914400" cy="914400"/>
          </a:xfrm>
          <a:prstGeom prst="rect">
            <a:avLst/>
          </a:prstGeom>
          <a:noFill/>
          <a:ln>
            <a:noFill/>
          </a:ln>
        </p:spPr>
      </p:pic>
      <p:sp>
        <p:nvSpPr>
          <p:cNvPr id="415" name="Google Shape;415;p24"/>
          <p:cNvSpPr txBox="1"/>
          <p:nvPr/>
        </p:nvSpPr>
        <p:spPr>
          <a:xfrm>
            <a:off x="295053" y="71060"/>
            <a:ext cx="609777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800" b="1">
                <a:solidFill>
                  <a:schemeClr val="dk1"/>
                </a:solidFill>
                <a:latin typeface="Arial"/>
                <a:ea typeface="Arial"/>
                <a:cs typeface="Arial"/>
                <a:sym typeface="Arial"/>
              </a:rPr>
              <a:t>Outlook</a:t>
            </a:r>
            <a:endParaRPr/>
          </a:p>
        </p:txBody>
      </p:sp>
      <p:sp>
        <p:nvSpPr>
          <p:cNvPr id="416" name="Google Shape;416;p24"/>
          <p:cNvSpPr txBox="1"/>
          <p:nvPr/>
        </p:nvSpPr>
        <p:spPr>
          <a:xfrm>
            <a:off x="645927" y="352962"/>
            <a:ext cx="109648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800">
                <a:solidFill>
                  <a:schemeClr val="dk1"/>
                </a:solidFill>
                <a:latin typeface="Arial"/>
                <a:ea typeface="Arial"/>
                <a:cs typeface="Arial"/>
                <a:sym typeface="Arial"/>
              </a:rPr>
              <a:t>Addressing uncertainties in ecosystem services impacts of solar energy systems </a:t>
            </a:r>
            <a:r>
              <a:rPr lang="de-CH" sz="1800" b="1">
                <a:solidFill>
                  <a:schemeClr val="dk1"/>
                </a:solidFill>
                <a:latin typeface="Arial"/>
                <a:ea typeface="Arial"/>
                <a:cs typeface="Arial"/>
                <a:sym typeface="Arial"/>
              </a:rPr>
              <a:t>under future changes</a:t>
            </a:r>
            <a:endParaRPr sz="1800" b="1">
              <a:solidFill>
                <a:schemeClr val="dk1"/>
              </a:solidFill>
              <a:latin typeface="Arial"/>
              <a:ea typeface="Arial"/>
              <a:cs typeface="Arial"/>
              <a:sym typeface="Arial"/>
            </a:endParaRPr>
          </a:p>
        </p:txBody>
      </p:sp>
      <p:pic>
        <p:nvPicPr>
          <p:cNvPr id="417" name="Google Shape;417;p24"/>
          <p:cNvPicPr preferRelativeResize="0"/>
          <p:nvPr/>
        </p:nvPicPr>
        <p:blipFill rotWithShape="1">
          <a:blip r:embed="rId6">
            <a:alphaModFix/>
          </a:blip>
          <a:srcRect/>
          <a:stretch/>
        </p:blipFill>
        <p:spPr>
          <a:xfrm>
            <a:off x="5675744" y="6284098"/>
            <a:ext cx="840512" cy="572238"/>
          </a:xfrm>
          <a:prstGeom prst="rect">
            <a:avLst/>
          </a:prstGeom>
          <a:noFill/>
          <a:ln>
            <a:noFill/>
          </a:ln>
        </p:spPr>
      </p:pic>
      <p:sp>
        <p:nvSpPr>
          <p:cNvPr id="418" name="Google Shape;418;p24"/>
          <p:cNvSpPr txBox="1"/>
          <p:nvPr/>
        </p:nvSpPr>
        <p:spPr>
          <a:xfrm>
            <a:off x="10229954" y="5847141"/>
            <a:ext cx="161614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Arial"/>
                <a:ea typeface="Arial"/>
                <a:cs typeface="Arial"/>
                <a:sym typeface="Arial"/>
              </a:rPr>
              <a:t>Meyer et al., 2023</a:t>
            </a:r>
            <a:endParaRPr sz="1400" i="1">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5"/>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425" name="Google Shape;425;p25"/>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426" name="Google Shape;426;p25"/>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17</a:t>
            </a:fld>
            <a:endParaRPr/>
          </a:p>
        </p:txBody>
      </p:sp>
      <p:pic>
        <p:nvPicPr>
          <p:cNvPr id="427" name="Google Shape;427;p25"/>
          <p:cNvPicPr preferRelativeResize="0"/>
          <p:nvPr/>
        </p:nvPicPr>
        <p:blipFill rotWithShape="1">
          <a:blip r:embed="rId3">
            <a:alphaModFix/>
          </a:blip>
          <a:srcRect/>
          <a:stretch/>
        </p:blipFill>
        <p:spPr>
          <a:xfrm>
            <a:off x="2619349" y="397360"/>
            <a:ext cx="6953301" cy="4438682"/>
          </a:xfrm>
          <a:prstGeom prst="rect">
            <a:avLst/>
          </a:prstGeom>
          <a:noFill/>
          <a:ln>
            <a:noFill/>
          </a:ln>
        </p:spPr>
      </p:pic>
      <p:pic>
        <p:nvPicPr>
          <p:cNvPr id="428" name="Google Shape;428;p25"/>
          <p:cNvPicPr preferRelativeResize="0"/>
          <p:nvPr/>
        </p:nvPicPr>
        <p:blipFill rotWithShape="1">
          <a:blip r:embed="rId4">
            <a:alphaModFix/>
          </a:blip>
          <a:srcRect/>
          <a:stretch/>
        </p:blipFill>
        <p:spPr>
          <a:xfrm>
            <a:off x="2619349" y="4836041"/>
            <a:ext cx="6953301" cy="744509"/>
          </a:xfrm>
          <a:prstGeom prst="rect">
            <a:avLst/>
          </a:prstGeom>
          <a:noFill/>
          <a:ln>
            <a:noFill/>
          </a:ln>
        </p:spPr>
      </p:pic>
      <p:sp>
        <p:nvSpPr>
          <p:cNvPr id="429" name="Google Shape;429;p25"/>
          <p:cNvSpPr txBox="1"/>
          <p:nvPr/>
        </p:nvSpPr>
        <p:spPr>
          <a:xfrm>
            <a:off x="2619349" y="5783780"/>
            <a:ext cx="5979266"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CH" sz="1400" i="1">
                <a:solidFill>
                  <a:schemeClr val="dk1"/>
                </a:solidFill>
                <a:latin typeface="Arial"/>
                <a:ea typeface="Arial"/>
                <a:cs typeface="Arial"/>
                <a:sym typeface="Arial"/>
              </a:rPr>
              <a:t>Ground-mounted solar PV systems in high-alpine areas, Switzerland</a:t>
            </a:r>
            <a:br>
              <a:rPr lang="de-CH" sz="1400" i="1">
                <a:solidFill>
                  <a:schemeClr val="dk1"/>
                </a:solidFill>
                <a:latin typeface="Arial"/>
                <a:ea typeface="Arial"/>
                <a:cs typeface="Arial"/>
                <a:sym typeface="Arial"/>
              </a:rPr>
            </a:br>
            <a:r>
              <a:rPr lang="de-CH" sz="1400" i="1">
                <a:solidFill>
                  <a:schemeClr val="dk1"/>
                </a:solidFill>
                <a:latin typeface="Arial"/>
                <a:ea typeface="Arial"/>
                <a:cs typeface="Arial"/>
                <a:sym typeface="Arial"/>
              </a:rPr>
              <a:t>(</a:t>
            </a:r>
            <a:r>
              <a:rPr lang="de-CH" sz="1400" u="sng">
                <a:solidFill>
                  <a:schemeClr val="hlink"/>
                </a:solidFill>
                <a:latin typeface="Arial"/>
                <a:ea typeface="Arial"/>
                <a:cs typeface="Arial"/>
                <a:sym typeface="Arial"/>
                <a:hlinkClick r:id="rId5"/>
              </a:rPr>
              <a:t>https://www.uvek-gis.admin.ch/BFE/storymaps/EE_AlpineSolaranlagen/</a:t>
            </a:r>
            <a:r>
              <a:rPr lang="de-CH" sz="1400">
                <a:solidFill>
                  <a:schemeClr val="dk1"/>
                </a:solidFill>
                <a:latin typeface="Arial"/>
                <a:ea typeface="Arial"/>
                <a:cs typeface="Arial"/>
                <a:sym typeface="Arial"/>
              </a:rPr>
              <a:t>)</a:t>
            </a:r>
            <a:endParaRPr/>
          </a:p>
          <a:p>
            <a:pPr marL="0" marR="0" lvl="0" indent="0" algn="l" rtl="0">
              <a:spcBef>
                <a:spcPts val="0"/>
              </a:spcBef>
              <a:spcAft>
                <a:spcPts val="0"/>
              </a:spcAft>
              <a:buNone/>
            </a:pPr>
            <a:r>
              <a:rPr lang="de-CH" sz="1400" i="1">
                <a:solidFill>
                  <a:schemeClr val="dk1"/>
                </a:solidFill>
                <a:latin typeface="Arial"/>
                <a:ea typeface="Arial"/>
                <a:cs typeface="Arial"/>
                <a:sym typeface="Arial"/>
              </a:rPr>
              <a:t> </a:t>
            </a:r>
            <a:endParaRPr sz="1400" i="1">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6"/>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435" name="Google Shape;435;p26"/>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436" name="Google Shape;436;p26"/>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18</a:t>
            </a:fld>
            <a:endParaRPr/>
          </a:p>
        </p:txBody>
      </p:sp>
      <p:sp>
        <p:nvSpPr>
          <p:cNvPr id="437" name="Google Shape;437;p26"/>
          <p:cNvSpPr txBox="1"/>
          <p:nvPr/>
        </p:nvSpPr>
        <p:spPr>
          <a:xfrm>
            <a:off x="354627" y="167414"/>
            <a:ext cx="761158" cy="71808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1800"/>
              <a:buFont typeface="Arial"/>
              <a:buNone/>
            </a:pPr>
            <a:r>
              <a:rPr lang="de-CH" sz="1800" b="1">
                <a:solidFill>
                  <a:schemeClr val="dk1"/>
                </a:solidFill>
                <a:latin typeface="Arial"/>
                <a:ea typeface="Arial"/>
                <a:cs typeface="Arial"/>
                <a:sym typeface="Arial"/>
              </a:rPr>
              <a:t>ES</a:t>
            </a:r>
            <a:br>
              <a:rPr lang="de-CH" sz="1800" b="1">
                <a:solidFill>
                  <a:schemeClr val="dk1"/>
                </a:solidFill>
                <a:latin typeface="Arial"/>
                <a:ea typeface="Arial"/>
                <a:cs typeface="Arial"/>
                <a:sym typeface="Arial"/>
              </a:rPr>
            </a:br>
            <a:r>
              <a:rPr lang="de-CH" sz="1800" b="1">
                <a:solidFill>
                  <a:schemeClr val="dk1"/>
                </a:solidFill>
                <a:latin typeface="Arial"/>
                <a:ea typeface="Arial"/>
                <a:cs typeface="Arial"/>
                <a:sym typeface="Arial"/>
              </a:rPr>
              <a:t>data </a:t>
            </a:r>
            <a:endParaRPr sz="1800" b="1">
              <a:solidFill>
                <a:schemeClr val="dk1"/>
              </a:solidFill>
              <a:latin typeface="Arial"/>
              <a:ea typeface="Arial"/>
              <a:cs typeface="Arial"/>
              <a:sym typeface="Arial"/>
            </a:endParaRPr>
          </a:p>
        </p:txBody>
      </p:sp>
      <p:pic>
        <p:nvPicPr>
          <p:cNvPr id="438" name="Google Shape;438;p26" descr="Datenbank mit einfarbiger Füllung"/>
          <p:cNvPicPr preferRelativeResize="0"/>
          <p:nvPr/>
        </p:nvPicPr>
        <p:blipFill rotWithShape="1">
          <a:blip r:embed="rId3">
            <a:alphaModFix/>
          </a:blip>
          <a:srcRect/>
          <a:stretch/>
        </p:blipFill>
        <p:spPr>
          <a:xfrm>
            <a:off x="78830" y="223156"/>
            <a:ext cx="356598" cy="390572"/>
          </a:xfrm>
          <a:prstGeom prst="rect">
            <a:avLst/>
          </a:prstGeom>
          <a:noFill/>
          <a:ln>
            <a:noFill/>
          </a:ln>
        </p:spPr>
      </p:pic>
      <p:graphicFrame>
        <p:nvGraphicFramePr>
          <p:cNvPr id="439" name="Google Shape;439;p26"/>
          <p:cNvGraphicFramePr/>
          <p:nvPr/>
        </p:nvGraphicFramePr>
        <p:xfrm>
          <a:off x="1224643" y="233276"/>
          <a:ext cx="3000000" cy="3000000"/>
        </p:xfrm>
        <a:graphic>
          <a:graphicData uri="http://schemas.openxmlformats.org/drawingml/2006/table">
            <a:tbl>
              <a:tblPr firstRow="1" firstCol="1" bandRow="1">
                <a:noFill/>
                <a:tableStyleId>{3F28E196-1AC7-4DC3-9589-6836F74E87FC}</a:tableStyleId>
              </a:tblPr>
              <a:tblGrid>
                <a:gridCol w="1008425">
                  <a:extLst>
                    <a:ext uri="{9D8B030D-6E8A-4147-A177-3AD203B41FA5}">
                      <a16:colId xmlns:a16="http://schemas.microsoft.com/office/drawing/2014/main" val="20000"/>
                    </a:ext>
                  </a:extLst>
                </a:gridCol>
                <a:gridCol w="804050">
                  <a:extLst>
                    <a:ext uri="{9D8B030D-6E8A-4147-A177-3AD203B41FA5}">
                      <a16:colId xmlns:a16="http://schemas.microsoft.com/office/drawing/2014/main" val="20001"/>
                    </a:ext>
                  </a:extLst>
                </a:gridCol>
                <a:gridCol w="8703125">
                  <a:extLst>
                    <a:ext uri="{9D8B030D-6E8A-4147-A177-3AD203B41FA5}">
                      <a16:colId xmlns:a16="http://schemas.microsoft.com/office/drawing/2014/main" val="20002"/>
                    </a:ext>
                  </a:extLst>
                </a:gridCol>
              </a:tblGrid>
              <a:tr h="48750">
                <a:tc>
                  <a:txBody>
                    <a:bodyPr/>
                    <a:lstStyle/>
                    <a:p>
                      <a:pPr marL="0" marR="0" lvl="0" indent="0" algn="l" rtl="0">
                        <a:lnSpc>
                          <a:spcPct val="107000"/>
                        </a:lnSpc>
                        <a:spcBef>
                          <a:spcPts val="0"/>
                        </a:spcBef>
                        <a:spcAft>
                          <a:spcPts val="0"/>
                        </a:spcAft>
                        <a:buClr>
                          <a:schemeClr val="dk1"/>
                        </a:buClr>
                        <a:buSzPts val="1200"/>
                        <a:buFont typeface="Calibri"/>
                        <a:buNone/>
                      </a:pPr>
                      <a:r>
                        <a:rPr lang="de-CH" sz="1200" u="none" strike="noStrike" cap="none">
                          <a:solidFill>
                            <a:schemeClr val="dk1"/>
                          </a:solidFill>
                          <a:latin typeface="Calibri"/>
                          <a:ea typeface="Calibri"/>
                          <a:cs typeface="Calibri"/>
                          <a:sym typeface="Calibri"/>
                        </a:rPr>
                        <a:t>ES</a:t>
                      </a:r>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Model</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de-CH" sz="1100" u="none" strike="noStrike" cap="none">
                          <a:solidFill>
                            <a:schemeClr val="dk1"/>
                          </a:solidFill>
                        </a:rPr>
                        <a:t>Description of input parameters (see sources in D.2: Tabel D.1 from Black et al., 2025)</a:t>
                      </a:r>
                      <a:endParaRPr sz="1100" u="none" strike="noStrike" cap="none">
                        <a:solidFill>
                          <a:schemeClr val="dk1"/>
                        </a:solidFill>
                        <a:latin typeface="Calibri"/>
                        <a:ea typeface="Calibri"/>
                        <a:cs typeface="Calibri"/>
                        <a:sym typeface="Calibri"/>
                      </a:endParaRPr>
                    </a:p>
                  </a:txBody>
                  <a:tcPr marL="19500" marR="19500" marT="0" marB="0">
                    <a:solidFill>
                      <a:srgbClr val="E2F0D9"/>
                    </a:solidFill>
                  </a:tcPr>
                </a:tc>
                <a:extLst>
                  <a:ext uri="{0D108BD9-81ED-4DB2-BD59-A6C34878D82A}">
                    <a16:rowId xmlns:a16="http://schemas.microsoft.com/office/drawing/2014/main" val="10000"/>
                  </a:ext>
                </a:extLst>
              </a:tr>
              <a:tr h="15240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HAB</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InVEST</a:t>
                      </a:r>
                      <a:endParaRPr sz="1200" u="none" strike="noStrike" cap="none">
                        <a:solidFill>
                          <a:schemeClr val="dk1"/>
                        </a:solidFill>
                        <a:latin typeface="Calibri"/>
                        <a:ea typeface="Calibri"/>
                        <a:cs typeface="Calibri"/>
                        <a:sym typeface="Calibri"/>
                      </a:endParaRPr>
                    </a:p>
                  </a:txBody>
                  <a:tcPr marL="19500" marR="19500" marT="0" marB="0">
                    <a:solidFill>
                      <a:srgbClr val="F2F2F2"/>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de-CH" sz="1100" u="none" strike="noStrike" cap="none"/>
                        <a:t>LULC inputs assigned parameter values (look-up tables):</a:t>
                      </a:r>
                      <a:endParaRPr/>
                    </a:p>
                    <a:p>
                      <a:pPr marL="171450" marR="0" lvl="0" indent="-171450" algn="l" rtl="0">
                        <a:lnSpc>
                          <a:spcPct val="100000"/>
                        </a:lnSpc>
                        <a:spcBef>
                          <a:spcPts val="100"/>
                        </a:spcBef>
                        <a:spcAft>
                          <a:spcPts val="0"/>
                        </a:spcAft>
                        <a:buClr>
                          <a:schemeClr val="dk1"/>
                        </a:buClr>
                        <a:buSzPts val="1100"/>
                        <a:buFont typeface="Arial"/>
                        <a:buChar char="-"/>
                      </a:pPr>
                      <a:r>
                        <a:rPr lang="de-CH" sz="1100" u="none" strike="noStrike" cap="none"/>
                        <a:t>Land use</a:t>
                      </a:r>
                      <a:endParaRPr/>
                    </a:p>
                    <a:p>
                      <a:pPr marL="171450" marR="0" lvl="0" indent="-171450" algn="l" rtl="0">
                        <a:lnSpc>
                          <a:spcPct val="100000"/>
                        </a:lnSpc>
                        <a:spcBef>
                          <a:spcPts val="100"/>
                        </a:spcBef>
                        <a:spcAft>
                          <a:spcPts val="0"/>
                        </a:spcAft>
                        <a:buClr>
                          <a:schemeClr val="dk1"/>
                        </a:buClr>
                        <a:buSzPts val="1100"/>
                        <a:buFont typeface="Arial"/>
                        <a:buChar char="-"/>
                      </a:pPr>
                      <a:r>
                        <a:rPr lang="de-CH" sz="1100" u="none" strike="noStrike" cap="none"/>
                        <a:t>Sensitivity table: habitat-specific sensitivity values indicating relative vulnerability of each land use type to different threats</a:t>
                      </a:r>
                      <a:endParaRPr/>
                    </a:p>
                    <a:p>
                      <a:pPr marL="171450" marR="0" lvl="0" indent="-171450" algn="l" rtl="0">
                        <a:lnSpc>
                          <a:spcPct val="100000"/>
                        </a:lnSpc>
                        <a:spcBef>
                          <a:spcPts val="100"/>
                        </a:spcBef>
                        <a:spcAft>
                          <a:spcPts val="0"/>
                        </a:spcAft>
                        <a:buClr>
                          <a:schemeClr val="dk1"/>
                        </a:buClr>
                        <a:buSzPts val="1100"/>
                        <a:buFont typeface="Arial"/>
                        <a:buChar char="-"/>
                      </a:pPr>
                      <a:r>
                        <a:rPr lang="de-CH" sz="1100" u="none" strike="noStrike" cap="none"/>
                        <a:t>Threats table: impact, maximum distance of influence, decay type of each identified threat affecting habitat quality</a:t>
                      </a:r>
                      <a:endParaRPr/>
                    </a:p>
                    <a:p>
                      <a:pPr marL="171450" marR="0" lvl="0" indent="-171450" algn="l" rtl="0">
                        <a:lnSpc>
                          <a:spcPct val="100000"/>
                        </a:lnSpc>
                        <a:spcBef>
                          <a:spcPts val="100"/>
                        </a:spcBef>
                        <a:spcAft>
                          <a:spcPts val="0"/>
                        </a:spcAft>
                        <a:buClr>
                          <a:schemeClr val="dk1"/>
                        </a:buClr>
                        <a:buSzPts val="1100"/>
                        <a:buFont typeface="Arial"/>
                        <a:buChar char="-"/>
                      </a:pPr>
                      <a:r>
                        <a:rPr lang="de-CH" sz="1100" u="none" strike="noStrike" cap="none"/>
                        <a:t>Half saturation constant: parameter representing the threshold at which habitat quality decreases by half </a:t>
                      </a:r>
                      <a:endParaRPr sz="1100" u="none" strike="noStrike" cap="none">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1"/>
                  </a:ext>
                </a:extLst>
              </a:tr>
              <a:tr h="25955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POL</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t>InVEST</a:t>
                      </a:r>
                      <a:endParaRPr sz="1200" u="none" strike="noStrike" cap="none">
                        <a:latin typeface="Calibri"/>
                        <a:ea typeface="Calibri"/>
                        <a:cs typeface="Calibri"/>
                        <a:sym typeface="Calibri"/>
                      </a:endParaRPr>
                    </a:p>
                  </a:txBody>
                  <a:tcPr marL="19500" marR="19500" marT="0" marB="0">
                    <a:solidFill>
                      <a:srgbClr val="F2F2F2"/>
                    </a:solidFill>
                  </a:tcPr>
                </a:tc>
                <a:tc>
                  <a:txBody>
                    <a:bodyPr/>
                    <a:lstStyle/>
                    <a:p>
                      <a:pPr marL="342900" marR="0" lvl="0" indent="-342900" algn="l" rtl="0">
                        <a:lnSpc>
                          <a:spcPct val="100000"/>
                        </a:lnSpc>
                        <a:spcBef>
                          <a:spcPts val="0"/>
                        </a:spcBef>
                        <a:spcAft>
                          <a:spcPts val="0"/>
                        </a:spcAft>
                        <a:buClr>
                          <a:schemeClr val="dk1"/>
                        </a:buClr>
                        <a:buSzPts val="1100"/>
                        <a:buFont typeface="Times New Roman"/>
                        <a:buChar char="-"/>
                      </a:pPr>
                      <a:r>
                        <a:rPr lang="de-CH" sz="1100" u="none" strike="noStrike" cap="none"/>
                        <a:t>Land use</a:t>
                      </a:r>
                      <a:endParaRPr sz="1100" u="none" strike="noStrike" cap="none"/>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Guild table: pollinator guilds, specifying nesting habitats, foraging habitats, flight ranges, and pollination activity patterns </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Biophysical table: crop-specific data on pollination services and yield increases </a:t>
                      </a:r>
                      <a:endParaRPr sz="1100" u="none" strike="noStrike" cap="none">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2"/>
                  </a:ext>
                </a:extLst>
              </a:tr>
              <a:tr h="339775">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CAR</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t>InVEST</a:t>
                      </a:r>
                      <a:endParaRPr sz="1200" u="none" strike="noStrike" cap="none">
                        <a:latin typeface="Calibri"/>
                        <a:ea typeface="Calibri"/>
                        <a:cs typeface="Calibri"/>
                        <a:sym typeface="Calibri"/>
                      </a:endParaRPr>
                    </a:p>
                  </a:txBody>
                  <a:tcPr marL="19500" marR="19500" marT="0" marB="0">
                    <a:solidFill>
                      <a:srgbClr val="F2F2F2"/>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de-CH" sz="1100" u="none" strike="noStrike" cap="none"/>
                        <a:t>LULC inputs assigned parameter values (look-up tables):</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Land use</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Biophysical tables: carbon storage values by land use category, region and elevation</a:t>
                      </a:r>
                      <a:endParaRPr/>
                    </a:p>
                  </a:txBody>
                  <a:tcPr marL="19500" marR="19500" marT="0" marB="0">
                    <a:solidFill>
                      <a:srgbClr val="F2F2F2"/>
                    </a:solidFill>
                  </a:tcPr>
                </a:tc>
                <a:extLst>
                  <a:ext uri="{0D108BD9-81ED-4DB2-BD59-A6C34878D82A}">
                    <a16:rowId xmlns:a16="http://schemas.microsoft.com/office/drawing/2014/main" val="10003"/>
                  </a:ext>
                </a:extLst>
              </a:tr>
              <a:tr h="1007475">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SDR</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t>InVEST</a:t>
                      </a:r>
                      <a:endParaRPr sz="1200" u="none" strike="noStrike" cap="none">
                        <a:latin typeface="Calibri"/>
                        <a:ea typeface="Calibri"/>
                        <a:cs typeface="Calibri"/>
                        <a:sym typeface="Calibri"/>
                      </a:endParaRPr>
                    </a:p>
                  </a:txBody>
                  <a:tcPr marL="19500" marR="19500" marT="0" marB="0">
                    <a:solidFill>
                      <a:srgbClr val="F2F2F2"/>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de-CH" sz="1100" u="none" strike="noStrike" cap="none"/>
                        <a:t>LULC inputs assigned parameter values (look-up tables): </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Land use</a:t>
                      </a:r>
                      <a:endParaRPr sz="1100" u="none" strike="noStrike" cap="none"/>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DEM</a:t>
                      </a:r>
                      <a:endParaRPr sz="1100" u="none" strike="noStrike" cap="none"/>
                    </a:p>
                    <a:p>
                      <a:pPr marL="0" marR="0" lvl="0" indent="0" algn="l" rtl="0">
                        <a:lnSpc>
                          <a:spcPct val="100000"/>
                        </a:lnSpc>
                        <a:spcBef>
                          <a:spcPts val="100"/>
                        </a:spcBef>
                        <a:spcAft>
                          <a:spcPts val="0"/>
                        </a:spcAft>
                        <a:buClr>
                          <a:schemeClr val="dk1"/>
                        </a:buClr>
                        <a:buSzPts val="1100"/>
                        <a:buFont typeface="Times New Roman"/>
                        <a:buNone/>
                      </a:pPr>
                      <a:r>
                        <a:rPr lang="de-CH" sz="1100" u="none" strike="noStrike" cap="none"/>
                        <a:t>USLE relevant parameters: </a:t>
                      </a:r>
                      <a:endParaRPr sz="1100" u="none" strike="noStrike" cap="none"/>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Erosivity: rainfall erosivitiy data)</a:t>
                      </a:r>
                      <a:endParaRPr sz="1100" u="none" strike="noStrike" cap="none"/>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Soil erodibility: soil susceptibility to erosion </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Biophysical table: land-use specfic erosion parameters</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Watersheds</a:t>
                      </a:r>
                      <a:endParaRPr sz="1100" u="none" strike="noStrike" cap="none"/>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Threshold flow accumulation</a:t>
                      </a:r>
                      <a:endParaRPr sz="1100" u="none" strike="noStrike" cap="none"/>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Borselli K parameter: parameter for sediment transport efficiency</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Maximum SDR value: upper boundary for sediment export</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Borselli IC0 parameter: Controls sediment connectivity </a:t>
                      </a:r>
                      <a:endParaRPr/>
                    </a:p>
                    <a:p>
                      <a:pPr marL="342900" marR="0" lvl="0" indent="-342900" algn="l" rtl="0">
                        <a:lnSpc>
                          <a:spcPct val="100000"/>
                        </a:lnSpc>
                        <a:spcBef>
                          <a:spcPts val="100"/>
                        </a:spcBef>
                        <a:spcAft>
                          <a:spcPts val="0"/>
                        </a:spcAft>
                        <a:buClr>
                          <a:schemeClr val="dk1"/>
                        </a:buClr>
                        <a:buSzPts val="1100"/>
                        <a:buFont typeface="Times New Roman"/>
                        <a:buChar char="-"/>
                      </a:pPr>
                      <a:r>
                        <a:rPr lang="de-CH" sz="1100" u="none" strike="noStrike" cap="none"/>
                        <a:t>Maximum L value: Max slope-length factor </a:t>
                      </a:r>
                      <a:endParaRPr sz="1100" u="none" strike="noStrike" cap="none">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4"/>
                  </a:ext>
                </a:extLst>
              </a:tr>
              <a:tr h="60800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NDR</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t>InVEST</a:t>
                      </a:r>
                      <a:endParaRPr sz="1200" u="none" strike="noStrike" cap="none">
                        <a:latin typeface="Calibri"/>
                        <a:ea typeface="Calibri"/>
                        <a:cs typeface="Calibri"/>
                        <a:sym typeface="Calibri"/>
                      </a:endParaRPr>
                    </a:p>
                  </a:txBody>
                  <a:tcPr marL="19500" marR="19500" marT="0" marB="0">
                    <a:solidFill>
                      <a:srgbClr val="F2F2F2"/>
                    </a:solidFill>
                  </a:tcPr>
                </a:tc>
                <a:tc>
                  <a:txBody>
                    <a:bodyPr/>
                    <a:lstStyle/>
                    <a:p>
                      <a:pPr marL="0" marR="0" lvl="0" indent="0" algn="l" rtl="0">
                        <a:lnSpc>
                          <a:spcPct val="107000"/>
                        </a:lnSpc>
                        <a:spcBef>
                          <a:spcPts val="0"/>
                        </a:spcBef>
                        <a:spcAft>
                          <a:spcPts val="0"/>
                        </a:spcAft>
                        <a:buClr>
                          <a:schemeClr val="dk1"/>
                        </a:buClr>
                        <a:buSzPts val="1100"/>
                        <a:buFont typeface="Arial"/>
                        <a:buNone/>
                      </a:pPr>
                      <a:r>
                        <a:rPr lang="de-CH" sz="1100" u="none" strike="noStrike" cap="none"/>
                        <a:t>LULC inputs assigned parameter values (look-up tables):</a:t>
                      </a:r>
                      <a:endParaRPr/>
                    </a:p>
                    <a:p>
                      <a:pPr marL="342900" marR="0" lvl="0" indent="-342900" algn="l" rtl="0">
                        <a:lnSpc>
                          <a:spcPct val="107000"/>
                        </a:lnSpc>
                        <a:spcBef>
                          <a:spcPts val="100"/>
                        </a:spcBef>
                        <a:spcAft>
                          <a:spcPts val="0"/>
                        </a:spcAft>
                        <a:buClr>
                          <a:schemeClr val="dk1"/>
                        </a:buClr>
                        <a:buSzPts val="1100"/>
                        <a:buFont typeface="Times New Roman"/>
                        <a:buChar char="-"/>
                      </a:pPr>
                      <a:r>
                        <a:rPr lang="de-CH" sz="1100" u="none" strike="noStrike" cap="none"/>
                        <a:t>Land use</a:t>
                      </a:r>
                      <a:endParaRPr sz="1100" u="none" strike="noStrike" cap="none"/>
                    </a:p>
                    <a:p>
                      <a:pPr marL="342900" marR="0" lvl="0" indent="-342900" algn="l" rtl="0">
                        <a:lnSpc>
                          <a:spcPct val="107000"/>
                        </a:lnSpc>
                        <a:spcBef>
                          <a:spcPts val="100"/>
                        </a:spcBef>
                        <a:spcAft>
                          <a:spcPts val="0"/>
                        </a:spcAft>
                        <a:buClr>
                          <a:schemeClr val="dk1"/>
                        </a:buClr>
                        <a:buSzPts val="1100"/>
                        <a:buFont typeface="Times New Roman"/>
                        <a:buChar char="-"/>
                      </a:pPr>
                      <a:r>
                        <a:rPr lang="de-CH" sz="1100" u="none" strike="noStrike" cap="none"/>
                        <a:t>DEM</a:t>
                      </a:r>
                      <a:endParaRPr sz="1100" u="none" strike="noStrike" cap="none"/>
                    </a:p>
                    <a:p>
                      <a:pPr marL="342900" marR="0" lvl="0" indent="-342900" algn="l" rtl="0">
                        <a:lnSpc>
                          <a:spcPct val="107000"/>
                        </a:lnSpc>
                        <a:spcBef>
                          <a:spcPts val="100"/>
                        </a:spcBef>
                        <a:spcAft>
                          <a:spcPts val="0"/>
                        </a:spcAft>
                        <a:buClr>
                          <a:schemeClr val="dk1"/>
                        </a:buClr>
                        <a:buSzPts val="1100"/>
                        <a:buFont typeface="Times New Roman"/>
                        <a:buChar char="-"/>
                      </a:pPr>
                      <a:r>
                        <a:rPr lang="de-CH" sz="1100" u="none" strike="noStrike" cap="none"/>
                        <a:t>Nutrient runoff proxy (precipitation-based)</a:t>
                      </a:r>
                      <a:endParaRPr/>
                    </a:p>
                    <a:p>
                      <a:pPr marL="342900" marR="0" lvl="0" indent="-342900" algn="l" rtl="0">
                        <a:lnSpc>
                          <a:spcPct val="107000"/>
                        </a:lnSpc>
                        <a:spcBef>
                          <a:spcPts val="100"/>
                        </a:spcBef>
                        <a:spcAft>
                          <a:spcPts val="0"/>
                        </a:spcAft>
                        <a:buClr>
                          <a:schemeClr val="dk1"/>
                        </a:buClr>
                        <a:buSzPts val="1100"/>
                        <a:buFont typeface="Times New Roman"/>
                        <a:buChar char="-"/>
                      </a:pPr>
                      <a:r>
                        <a:rPr lang="de-CH" sz="1100" u="none" strike="noStrike" cap="none"/>
                        <a:t>Watersheds</a:t>
                      </a:r>
                      <a:endParaRPr/>
                    </a:p>
                    <a:p>
                      <a:pPr marL="342900" marR="0" lvl="0" indent="-342900" algn="l" rtl="0">
                        <a:lnSpc>
                          <a:spcPct val="107000"/>
                        </a:lnSpc>
                        <a:spcBef>
                          <a:spcPts val="100"/>
                        </a:spcBef>
                        <a:spcAft>
                          <a:spcPts val="0"/>
                        </a:spcAft>
                        <a:buClr>
                          <a:schemeClr val="dk1"/>
                        </a:buClr>
                        <a:buSzPts val="1100"/>
                        <a:buFont typeface="Times New Roman"/>
                        <a:buChar char="-"/>
                      </a:pPr>
                      <a:r>
                        <a:rPr lang="de-CH" sz="1100" u="none" strike="noStrike" cap="none"/>
                        <a:t>Biophysical table: nutrient load and retention parameters</a:t>
                      </a:r>
                      <a:endParaRPr/>
                    </a:p>
                    <a:p>
                      <a:pPr marL="342900" marR="0" lvl="0" indent="-342900" algn="l" rtl="0">
                        <a:lnSpc>
                          <a:spcPct val="107000"/>
                        </a:lnSpc>
                        <a:spcBef>
                          <a:spcPts val="100"/>
                        </a:spcBef>
                        <a:spcAft>
                          <a:spcPts val="0"/>
                        </a:spcAft>
                        <a:buClr>
                          <a:schemeClr val="dk1"/>
                        </a:buClr>
                        <a:buSzPts val="1100"/>
                        <a:buFont typeface="Times New Roman"/>
                        <a:buChar char="-"/>
                      </a:pPr>
                      <a:r>
                        <a:rPr lang="de-CH" sz="1100" u="none" strike="noStrike" cap="none"/>
                        <a:t>Threshold flow accumulation: minimum number of upslope cells to generate a stream</a:t>
                      </a:r>
                      <a:endParaRPr/>
                    </a:p>
                    <a:p>
                      <a:pPr marL="342900" marR="0" lvl="0" indent="-342900" algn="l" rtl="0">
                        <a:lnSpc>
                          <a:spcPct val="107000"/>
                        </a:lnSpc>
                        <a:spcBef>
                          <a:spcPts val="100"/>
                        </a:spcBef>
                        <a:spcAft>
                          <a:spcPts val="0"/>
                        </a:spcAft>
                        <a:buClr>
                          <a:schemeClr val="dk1"/>
                        </a:buClr>
                        <a:buSzPts val="1100"/>
                        <a:buFont typeface="Times New Roman"/>
                        <a:buChar char="-"/>
                      </a:pPr>
                      <a:r>
                        <a:rPr lang="de-CH" sz="1100" u="none" strike="noStrike" cap="none"/>
                        <a:t>Borselli K parameter: calibration parameter for nutrient transport</a:t>
                      </a:r>
                      <a:endParaRPr sz="1100" u="none" strike="noStrike" cap="none">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7"/>
          <p:cNvSpPr txBox="1">
            <a:spLocks noGrp="1"/>
          </p:cNvSpPr>
          <p:nvPr>
            <p:ph type="ftr" idx="11"/>
          </p:nvPr>
        </p:nvSpPr>
        <p:spPr>
          <a:xfrm>
            <a:off x="2171700" y="6489649"/>
            <a:ext cx="5400000" cy="216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CH"/>
              <a:t>Planning of Landscape and Urban Systems – PLUS</a:t>
            </a:r>
            <a:endParaRPr/>
          </a:p>
        </p:txBody>
      </p:sp>
      <p:sp>
        <p:nvSpPr>
          <p:cNvPr id="445" name="Google Shape;445;p27"/>
          <p:cNvSpPr txBox="1">
            <a:spLocks noGrp="1"/>
          </p:cNvSpPr>
          <p:nvPr>
            <p:ph type="dt" idx="10"/>
          </p:nvPr>
        </p:nvSpPr>
        <p:spPr>
          <a:xfrm>
            <a:off x="10020300" y="6522444"/>
            <a:ext cx="1010693"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de-CH"/>
              <a:t>16.09.2025</a:t>
            </a:r>
            <a:endParaRPr/>
          </a:p>
        </p:txBody>
      </p:sp>
      <p:sp>
        <p:nvSpPr>
          <p:cNvPr id="446" name="Google Shape;446;p27"/>
          <p:cNvSpPr txBox="1">
            <a:spLocks noGrp="1"/>
          </p:cNvSpPr>
          <p:nvPr>
            <p:ph type="sldNum" idx="12"/>
          </p:nvPr>
        </p:nvSpPr>
        <p:spPr>
          <a:xfrm>
            <a:off x="11030993" y="6522444"/>
            <a:ext cx="429169" cy="216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de-CH"/>
              <a:t>19</a:t>
            </a:fld>
            <a:endParaRPr/>
          </a:p>
        </p:txBody>
      </p:sp>
      <p:graphicFrame>
        <p:nvGraphicFramePr>
          <p:cNvPr id="447" name="Google Shape;447;p27"/>
          <p:cNvGraphicFramePr/>
          <p:nvPr/>
        </p:nvGraphicFramePr>
        <p:xfrm>
          <a:off x="1391582" y="223156"/>
          <a:ext cx="3000000" cy="3000000"/>
        </p:xfrm>
        <a:graphic>
          <a:graphicData uri="http://schemas.openxmlformats.org/drawingml/2006/table">
            <a:tbl>
              <a:tblPr firstRow="1" firstCol="1" bandRow="1">
                <a:noFill/>
                <a:tableStyleId>{3F28E196-1AC7-4DC3-9589-6836F74E87FC}</a:tableStyleId>
              </a:tblPr>
              <a:tblGrid>
                <a:gridCol w="567625">
                  <a:extLst>
                    <a:ext uri="{9D8B030D-6E8A-4147-A177-3AD203B41FA5}">
                      <a16:colId xmlns:a16="http://schemas.microsoft.com/office/drawing/2014/main" val="20000"/>
                    </a:ext>
                  </a:extLst>
                </a:gridCol>
                <a:gridCol w="1399900">
                  <a:extLst>
                    <a:ext uri="{9D8B030D-6E8A-4147-A177-3AD203B41FA5}">
                      <a16:colId xmlns:a16="http://schemas.microsoft.com/office/drawing/2014/main" val="20001"/>
                    </a:ext>
                  </a:extLst>
                </a:gridCol>
                <a:gridCol w="8464150">
                  <a:extLst>
                    <a:ext uri="{9D8B030D-6E8A-4147-A177-3AD203B41FA5}">
                      <a16:colId xmlns:a16="http://schemas.microsoft.com/office/drawing/2014/main" val="20002"/>
                    </a:ext>
                  </a:extLst>
                </a:gridCol>
              </a:tblGrid>
              <a:tr h="4875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ES</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Model</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0000"/>
                        </a:lnSpc>
                        <a:spcBef>
                          <a:spcPts val="0"/>
                        </a:spcBef>
                        <a:spcAft>
                          <a:spcPts val="0"/>
                        </a:spcAft>
                        <a:buClr>
                          <a:schemeClr val="dk1"/>
                        </a:buClr>
                        <a:buSzPts val="1000"/>
                        <a:buFont typeface="Arial"/>
                        <a:buNone/>
                      </a:pPr>
                      <a:r>
                        <a:rPr lang="de-CH" sz="1000" u="none" strike="noStrike" cap="none">
                          <a:solidFill>
                            <a:schemeClr val="dk1"/>
                          </a:solidFill>
                        </a:rPr>
                        <a:t>Description of input parameters (see sources in D.2: Tabel D.1 from Black et al., 2025)</a:t>
                      </a:r>
                      <a:endParaRPr sz="1000" u="none" strike="noStrike" cap="none">
                        <a:solidFill>
                          <a:schemeClr val="dk1"/>
                        </a:solidFill>
                        <a:latin typeface="Calibri"/>
                        <a:ea typeface="Calibri"/>
                        <a:cs typeface="Calibri"/>
                        <a:sym typeface="Calibri"/>
                      </a:endParaRPr>
                    </a:p>
                  </a:txBody>
                  <a:tcPr marL="19500" marR="19500" marT="0" marB="0">
                    <a:solidFill>
                      <a:srgbClr val="E2F0D9"/>
                    </a:solidFill>
                  </a:tcPr>
                </a:tc>
                <a:extLst>
                  <a:ext uri="{0D108BD9-81ED-4DB2-BD59-A6C34878D82A}">
                    <a16:rowId xmlns:a16="http://schemas.microsoft.com/office/drawing/2014/main" val="10000"/>
                  </a:ext>
                </a:extLst>
              </a:tr>
              <a:tr h="4875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PC</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nSDM-based</a:t>
                      </a:r>
                      <a:endParaRPr sz="1200" u="none" strike="noStrike" cap="none">
                        <a:solidFill>
                          <a:schemeClr val="dk1"/>
                        </a:solidFill>
                        <a:latin typeface="Calibri"/>
                        <a:ea typeface="Calibri"/>
                        <a:cs typeface="Calibri"/>
                        <a:sym typeface="Calibri"/>
                      </a:endParaRPr>
                    </a:p>
                  </a:txBody>
                  <a:tcPr marL="19500" marR="19500" marT="0" marB="0">
                    <a:solidFill>
                      <a:srgbClr val="F2F2F2"/>
                    </a:solidFill>
                  </a:tcPr>
                </a:tc>
                <a:tc>
                  <a:txBody>
                    <a:bodyPr/>
                    <a:lstStyle/>
                    <a:p>
                      <a:pPr marL="0" marR="0" lvl="0" indent="0" algn="l" rtl="0">
                        <a:lnSpc>
                          <a:spcPct val="107000"/>
                        </a:lnSpc>
                        <a:spcBef>
                          <a:spcPts val="0"/>
                        </a:spcBef>
                        <a:spcAft>
                          <a:spcPts val="0"/>
                        </a:spcAft>
                        <a:buClr>
                          <a:schemeClr val="dk1"/>
                        </a:buClr>
                        <a:buSzPts val="1000"/>
                        <a:buFont typeface="Arial"/>
                        <a:buNone/>
                      </a:pPr>
                      <a:r>
                        <a:rPr lang="de-CH" sz="1000" u="none" strike="noStrike" cap="none">
                          <a:solidFill>
                            <a:schemeClr val="dk1"/>
                          </a:solidFill>
                        </a:rPr>
                        <a:t>Habitat suitability of 50 predator species of common agricultural pests </a:t>
                      </a:r>
                      <a:endParaRPr sz="1000" u="none" strike="noStrike" cap="none">
                        <a:solidFill>
                          <a:schemeClr val="dk1"/>
                        </a:solidFill>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1"/>
                  </a:ext>
                </a:extLst>
              </a:tr>
              <a:tr h="316425">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FF</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FAO’s Ecocrop model</a:t>
                      </a:r>
                      <a:endParaRPr sz="1200" u="none" strike="noStrike" cap="none">
                        <a:solidFill>
                          <a:schemeClr val="dk1"/>
                        </a:solidFill>
                        <a:latin typeface="Calibri"/>
                        <a:ea typeface="Calibri"/>
                        <a:cs typeface="Calibri"/>
                        <a:sym typeface="Calibri"/>
                      </a:endParaRPr>
                    </a:p>
                  </a:txBody>
                  <a:tcPr marL="19500" marR="19500" marT="0" marB="0">
                    <a:solidFill>
                      <a:srgbClr val="F2F2F2"/>
                    </a:solidFill>
                  </a:tcPr>
                </a:tc>
                <a:tc>
                  <a:txBody>
                    <a:bodyPr/>
                    <a:lstStyle/>
                    <a:p>
                      <a:pPr marL="342900" marR="0" lvl="0" indent="-342900" algn="l" rtl="0">
                        <a:lnSpc>
                          <a:spcPct val="107000"/>
                        </a:lnSpc>
                        <a:spcBef>
                          <a:spcPts val="0"/>
                        </a:spcBef>
                        <a:spcAft>
                          <a:spcPts val="0"/>
                        </a:spcAft>
                        <a:buClr>
                          <a:schemeClr val="dk1"/>
                        </a:buClr>
                        <a:buSzPts val="1000"/>
                        <a:buFont typeface="Times New Roman"/>
                        <a:buChar char="-"/>
                      </a:pPr>
                      <a:r>
                        <a:rPr lang="de-CH" sz="1000" u="none" strike="noStrike" cap="none">
                          <a:solidFill>
                            <a:schemeClr val="dk1"/>
                          </a:solidFill>
                        </a:rPr>
                        <a:t>Land use</a:t>
                      </a:r>
                      <a:endParaRPr sz="1000" u="none" strike="noStrike" cap="none">
                        <a:solidFill>
                          <a:schemeClr val="dk1"/>
                        </a:solidFill>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Monthly precipitation</a:t>
                      </a:r>
                      <a:endParaRPr sz="1000" u="none" strike="noStrike" cap="none">
                        <a:solidFill>
                          <a:schemeClr val="dk1"/>
                        </a:solidFill>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Monthly average temperature </a:t>
                      </a:r>
                      <a:endParaRPr sz="1000" u="none" strike="noStrike" cap="none">
                        <a:solidFill>
                          <a:schemeClr val="dk1"/>
                        </a:solidFill>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Soil pH </a:t>
                      </a:r>
                      <a:endParaRPr sz="1000" u="none" strike="noStrike" cap="none">
                        <a:solidFill>
                          <a:schemeClr val="dk1"/>
                        </a:solidFill>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2"/>
                  </a:ext>
                </a:extLst>
              </a:tr>
              <a:tr h="60800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WY</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InVEST</a:t>
                      </a:r>
                      <a:endParaRPr sz="1200" u="none" strike="noStrike" cap="none">
                        <a:solidFill>
                          <a:schemeClr val="dk1"/>
                        </a:solidFill>
                        <a:latin typeface="Calibri"/>
                        <a:ea typeface="Calibri"/>
                        <a:cs typeface="Calibri"/>
                        <a:sym typeface="Calibri"/>
                      </a:endParaRPr>
                    </a:p>
                  </a:txBody>
                  <a:tcPr marL="19500" marR="19500" marT="0" marB="0">
                    <a:solidFill>
                      <a:srgbClr val="F2F2F2"/>
                    </a:solidFill>
                  </a:tcPr>
                </a:tc>
                <a:tc>
                  <a:txBody>
                    <a:bodyPr/>
                    <a:lstStyle/>
                    <a:p>
                      <a:pPr marL="0" marR="0" lvl="0" indent="0" algn="l" rtl="0">
                        <a:lnSpc>
                          <a:spcPct val="107000"/>
                        </a:lnSpc>
                        <a:spcBef>
                          <a:spcPts val="0"/>
                        </a:spcBef>
                        <a:spcAft>
                          <a:spcPts val="0"/>
                        </a:spcAft>
                        <a:buClr>
                          <a:schemeClr val="dk1"/>
                        </a:buClr>
                        <a:buSzPts val="1000"/>
                        <a:buFont typeface="Arial"/>
                        <a:buNone/>
                      </a:pPr>
                      <a:r>
                        <a:rPr lang="de-CH" sz="1000" u="none" strike="noStrike" cap="none">
                          <a:solidFill>
                            <a:schemeClr val="dk1"/>
                          </a:solidFill>
                        </a:rPr>
                        <a:t>LULC inputs assigned parameter values (llok-up tables)</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Precipiation (annual)</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evapotranspiration (annual)</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root restricting layer depth: soil depth limits</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soil water available to plants</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biophysical table: water balance parameters</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Z parameter (for empirical calibration)</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watersheds (hydrological bonudaries)</a:t>
                      </a:r>
                      <a:endParaRPr sz="1000" u="none" strike="noStrike" cap="none">
                        <a:solidFill>
                          <a:schemeClr val="dk1"/>
                        </a:solidFill>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3"/>
                  </a:ext>
                </a:extLst>
              </a:tr>
              <a:tr h="15240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REC</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ESTIMAP recreation model </a:t>
                      </a:r>
                      <a:endParaRPr sz="1200" u="none" strike="noStrike" cap="none">
                        <a:solidFill>
                          <a:schemeClr val="dk1"/>
                        </a:solidFill>
                        <a:latin typeface="Calibri"/>
                        <a:ea typeface="Calibri"/>
                        <a:cs typeface="Calibri"/>
                        <a:sym typeface="Calibri"/>
                      </a:endParaRPr>
                    </a:p>
                  </a:txBody>
                  <a:tcPr marL="19500" marR="19500" marT="0" marB="0">
                    <a:solidFill>
                      <a:srgbClr val="F2F2F2"/>
                    </a:solidFill>
                  </a:tcPr>
                </a:tc>
                <a:tc>
                  <a:txBody>
                    <a:bodyPr/>
                    <a:lstStyle/>
                    <a:p>
                      <a:pPr marL="342900" marR="0" lvl="0" indent="-342900" algn="l" rtl="0">
                        <a:lnSpc>
                          <a:spcPct val="107000"/>
                        </a:lnSpc>
                        <a:spcBef>
                          <a:spcPts val="0"/>
                        </a:spcBef>
                        <a:spcAft>
                          <a:spcPts val="0"/>
                        </a:spcAft>
                        <a:buClr>
                          <a:schemeClr val="dk1"/>
                        </a:buClr>
                        <a:buSzPts val="1000"/>
                        <a:buFont typeface="Times New Roman"/>
                        <a:buChar char="-"/>
                      </a:pPr>
                      <a:r>
                        <a:rPr lang="de-CH" sz="1000" u="none" strike="noStrike" cap="none">
                          <a:solidFill>
                            <a:schemeClr val="dk1"/>
                          </a:solidFill>
                        </a:rPr>
                        <a:t>Land use </a:t>
                      </a:r>
                      <a:endParaRPr sz="1000" u="none" strike="noStrike" cap="none">
                        <a:solidFill>
                          <a:schemeClr val="dk1"/>
                        </a:solidFill>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Naturalness score </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Protected areas </a:t>
                      </a:r>
                      <a:endParaRPr/>
                    </a:p>
                    <a:p>
                      <a:pPr marL="342900" marR="0" lvl="0" indent="-342900" algn="l" rtl="0">
                        <a:lnSpc>
                          <a:spcPct val="107000"/>
                        </a:lnSpc>
                        <a:spcBef>
                          <a:spcPts val="100"/>
                        </a:spcBef>
                        <a:spcAft>
                          <a:spcPts val="0"/>
                        </a:spcAft>
                        <a:buClr>
                          <a:schemeClr val="dk1"/>
                        </a:buClr>
                        <a:buSzPts val="1000"/>
                        <a:buFont typeface="Times New Roman"/>
                        <a:buChar char="-"/>
                      </a:pPr>
                      <a:r>
                        <a:rPr lang="de-CH" sz="1000" u="none" strike="noStrike" cap="none">
                          <a:solidFill>
                            <a:schemeClr val="dk1"/>
                          </a:solidFill>
                        </a:rPr>
                        <a:t>Distance to lakes </a:t>
                      </a:r>
                      <a:endParaRPr sz="1000" u="none" strike="noStrike" cap="none">
                        <a:solidFill>
                          <a:schemeClr val="dk1"/>
                        </a:solidFill>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4"/>
                  </a:ext>
                </a:extLst>
              </a:tr>
              <a:tr h="48750">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ID</a:t>
                      </a:r>
                      <a:endParaRPr sz="1200" u="none" strike="noStrike" cap="none">
                        <a:solidFill>
                          <a:schemeClr val="dk1"/>
                        </a:solidFill>
                        <a:latin typeface="Calibri"/>
                        <a:ea typeface="Calibri"/>
                        <a:cs typeface="Calibri"/>
                        <a:sym typeface="Calibri"/>
                      </a:endParaRPr>
                    </a:p>
                  </a:txBody>
                  <a:tcPr marL="19500" marR="19500" marT="0" marB="0">
                    <a:solidFill>
                      <a:srgbClr val="E2F0D9"/>
                    </a:solidFill>
                  </a:tcPr>
                </a:tc>
                <a:tc>
                  <a:txBody>
                    <a:bodyPr/>
                    <a:lstStyle/>
                    <a:p>
                      <a:pPr marL="0" marR="0" lvl="0" indent="0" algn="l" rtl="0">
                        <a:lnSpc>
                          <a:spcPct val="107000"/>
                        </a:lnSpc>
                        <a:spcBef>
                          <a:spcPts val="0"/>
                        </a:spcBef>
                        <a:spcAft>
                          <a:spcPts val="0"/>
                        </a:spcAft>
                        <a:buClr>
                          <a:schemeClr val="dk1"/>
                        </a:buClr>
                        <a:buSzPts val="1200"/>
                        <a:buFont typeface="Arial"/>
                        <a:buNone/>
                      </a:pPr>
                      <a:r>
                        <a:rPr lang="de-CH" sz="1200" u="none" strike="noStrike" cap="none">
                          <a:solidFill>
                            <a:schemeClr val="dk1"/>
                          </a:solidFill>
                        </a:rPr>
                        <a:t>nSDM-based</a:t>
                      </a:r>
                      <a:endParaRPr sz="1200" u="none" strike="noStrike" cap="none">
                        <a:solidFill>
                          <a:schemeClr val="dk1"/>
                        </a:solidFill>
                        <a:latin typeface="Calibri"/>
                        <a:ea typeface="Calibri"/>
                        <a:cs typeface="Calibri"/>
                        <a:sym typeface="Calibri"/>
                      </a:endParaRPr>
                    </a:p>
                  </a:txBody>
                  <a:tcPr marL="19500" marR="19500" marT="0" marB="0">
                    <a:solidFill>
                      <a:srgbClr val="F2F2F2"/>
                    </a:solidFill>
                  </a:tcPr>
                </a:tc>
                <a:tc>
                  <a:txBody>
                    <a:bodyPr/>
                    <a:lstStyle/>
                    <a:p>
                      <a:pPr marL="0" marR="0" lvl="0" indent="0" algn="l" rtl="0">
                        <a:lnSpc>
                          <a:spcPct val="107000"/>
                        </a:lnSpc>
                        <a:spcBef>
                          <a:spcPts val="0"/>
                        </a:spcBef>
                        <a:spcAft>
                          <a:spcPts val="0"/>
                        </a:spcAft>
                        <a:buClr>
                          <a:schemeClr val="dk1"/>
                        </a:buClr>
                        <a:buSzPts val="1000"/>
                        <a:buFont typeface="Arial"/>
                        <a:buNone/>
                      </a:pPr>
                      <a:r>
                        <a:rPr lang="de-CH" sz="1000" u="none" strike="noStrike" cap="none">
                          <a:solidFill>
                            <a:schemeClr val="dk1"/>
                          </a:solidFill>
                        </a:rPr>
                        <a:t>Habitat suitability of 15 emblematic species (Schirpke et al., 2018)</a:t>
                      </a:r>
                      <a:endParaRPr sz="1000" u="none" strike="noStrike" cap="none">
                        <a:solidFill>
                          <a:schemeClr val="dk1"/>
                        </a:solidFill>
                        <a:latin typeface="Calibri"/>
                        <a:ea typeface="Calibri"/>
                        <a:cs typeface="Calibri"/>
                        <a:sym typeface="Calibri"/>
                      </a:endParaRPr>
                    </a:p>
                  </a:txBody>
                  <a:tcPr marL="19500" marR="19500" marT="0" marB="0">
                    <a:solidFill>
                      <a:srgbClr val="F2F2F2"/>
                    </a:solidFill>
                  </a:tcPr>
                </a:tc>
                <a:extLst>
                  <a:ext uri="{0D108BD9-81ED-4DB2-BD59-A6C34878D82A}">
                    <a16:rowId xmlns:a16="http://schemas.microsoft.com/office/drawing/2014/main" val="10005"/>
                  </a:ext>
                </a:extLst>
              </a:tr>
            </a:tbl>
          </a:graphicData>
        </a:graphic>
      </p:graphicFrame>
      <p:sp>
        <p:nvSpPr>
          <p:cNvPr id="448" name="Google Shape;448;p27"/>
          <p:cNvSpPr txBox="1"/>
          <p:nvPr/>
        </p:nvSpPr>
        <p:spPr>
          <a:xfrm>
            <a:off x="354627" y="167414"/>
            <a:ext cx="761158" cy="71808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1800"/>
              <a:buFont typeface="Arial"/>
              <a:buNone/>
            </a:pPr>
            <a:r>
              <a:rPr lang="de-CH" sz="1800" b="1">
                <a:solidFill>
                  <a:schemeClr val="dk1"/>
                </a:solidFill>
                <a:latin typeface="Arial"/>
                <a:ea typeface="Arial"/>
                <a:cs typeface="Arial"/>
                <a:sym typeface="Arial"/>
              </a:rPr>
              <a:t>ES</a:t>
            </a:r>
            <a:br>
              <a:rPr lang="de-CH" sz="1800" b="1">
                <a:solidFill>
                  <a:schemeClr val="dk1"/>
                </a:solidFill>
                <a:latin typeface="Arial"/>
                <a:ea typeface="Arial"/>
                <a:cs typeface="Arial"/>
                <a:sym typeface="Arial"/>
              </a:rPr>
            </a:br>
            <a:r>
              <a:rPr lang="de-CH" sz="1800" b="1">
                <a:solidFill>
                  <a:schemeClr val="dk1"/>
                </a:solidFill>
                <a:latin typeface="Arial"/>
                <a:ea typeface="Arial"/>
                <a:cs typeface="Arial"/>
                <a:sym typeface="Arial"/>
              </a:rPr>
              <a:t>data </a:t>
            </a:r>
            <a:endParaRPr sz="1800" b="1">
              <a:solidFill>
                <a:schemeClr val="dk1"/>
              </a:solidFill>
              <a:latin typeface="Arial"/>
              <a:ea typeface="Arial"/>
              <a:cs typeface="Arial"/>
              <a:sym typeface="Arial"/>
            </a:endParaRPr>
          </a:p>
        </p:txBody>
      </p:sp>
      <p:pic>
        <p:nvPicPr>
          <p:cNvPr id="449" name="Google Shape;449;p27" descr="Datenbank mit einfarbiger Füllung"/>
          <p:cNvPicPr preferRelativeResize="0"/>
          <p:nvPr/>
        </p:nvPicPr>
        <p:blipFill rotWithShape="1">
          <a:blip r:embed="rId3">
            <a:alphaModFix/>
          </a:blip>
          <a:srcRect/>
          <a:stretch/>
        </p:blipFill>
        <p:spPr>
          <a:xfrm>
            <a:off x="78830" y="223156"/>
            <a:ext cx="356598" cy="390572"/>
          </a:xfrm>
          <a:prstGeom prst="rect">
            <a:avLst/>
          </a:prstGeom>
          <a:noFill/>
          <a:ln>
            <a:noFill/>
          </a:ln>
        </p:spPr>
      </p:pic>
    </p:spTree>
  </p:cSld>
  <p:clrMapOvr>
    <a:masterClrMapping/>
  </p:clrMapOvr>
</p:sld>
</file>

<file path=ppt/theme/theme1.xml><?xml version="1.0" encoding="utf-8"?>
<a:theme xmlns:a="http://schemas.openxmlformats.org/drawingml/2006/main" name="ETH Zürich">
  <a:themeElements>
    <a:clrScheme name="ETH Zürich">
      <a:dk1>
        <a:srgbClr val="000000"/>
      </a:dk1>
      <a:lt1>
        <a:srgbClr val="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ETH Zürich">
      <a:dk1>
        <a:srgbClr val="000000"/>
      </a:dk1>
      <a:lt1>
        <a:srgbClr val="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2592</Words>
  <Application>Microsoft Office PowerPoint</Application>
  <PresentationFormat>Widescreen</PresentationFormat>
  <Paragraphs>325</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Roboto</vt:lpstr>
      <vt:lpstr>Times New Roman</vt:lpstr>
      <vt:lpstr>Arial Narrow</vt:lpstr>
      <vt:lpstr>Calibri</vt:lpstr>
      <vt:lpstr>Arial</vt:lpstr>
      <vt:lpstr>ETH Zürich</vt:lpstr>
      <vt:lpstr>Assessing uncertainties in ecosystem services impacts of solar energy systems in Switzerland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OUTLOOK Future changes   </vt:lpstr>
      <vt:lpstr>THANK YOU  FOR YOUR ATTENTION!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Black  Benjamin</dc:creator>
  <cp:lastModifiedBy>Black  Benjamin</cp:lastModifiedBy>
  <cp:revision>1</cp:revision>
  <dcterms:modified xsi:type="dcterms:W3CDTF">2025-09-29T13:26:00Z</dcterms:modified>
</cp:coreProperties>
</file>